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3" r:id="rId17"/>
    <p:sldId id="271" r:id="rId18"/>
    <p:sldId id="272" r:id="rId19"/>
  </p:sldIdLst>
  <p:sldSz cx="18288000" cy="10287000"/>
  <p:notesSz cx="6858000" cy="9144000"/>
  <p:embeddedFontLst>
    <p:embeddedFont>
      <p:font typeface="Calibri (MS)" panose="020B0604020202020204" charset="0"/>
      <p:regular r:id="rId20"/>
    </p:embeddedFont>
    <p:embeddedFont>
      <p:font typeface="Times New Roman Bold" panose="02020803070505020304" pitchFamily="18" charset="0"/>
      <p:regular r:id="rId21"/>
      <p:bold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jpeg"/><Relationship Id="rId7" Type="http://schemas.openxmlformats.org/officeDocument/2006/relationships/image" Target="../media/image6.svg"/><Relationship Id="rId12" Type="http://schemas.openxmlformats.org/officeDocument/2006/relationships/image" Target="../media/image11.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3.jpe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47775" y="450056"/>
            <a:ext cx="1598295" cy="1585912"/>
            <a:chOff x="0" y="0"/>
            <a:chExt cx="2131060" cy="2114550"/>
          </a:xfrm>
        </p:grpSpPr>
        <p:sp>
          <p:nvSpPr>
            <p:cNvPr id="3" name="Freeform 3"/>
            <p:cNvSpPr/>
            <p:nvPr/>
          </p:nvSpPr>
          <p:spPr>
            <a:xfrm>
              <a:off x="0" y="0"/>
              <a:ext cx="2131060" cy="2114550"/>
            </a:xfrm>
            <a:custGeom>
              <a:avLst/>
              <a:gdLst/>
              <a:ahLst/>
              <a:cxnLst/>
              <a:rect l="l" t="t" r="r" b="b"/>
              <a:pathLst>
                <a:path w="2131060" h="2114550">
                  <a:moveTo>
                    <a:pt x="0" y="0"/>
                  </a:moveTo>
                  <a:lnTo>
                    <a:pt x="2131060" y="0"/>
                  </a:lnTo>
                  <a:lnTo>
                    <a:pt x="2131060" y="2114550"/>
                  </a:lnTo>
                  <a:lnTo>
                    <a:pt x="0" y="2114550"/>
                  </a:lnTo>
                  <a:lnTo>
                    <a:pt x="0" y="0"/>
                  </a:lnTo>
                  <a:close/>
                </a:path>
              </a:pathLst>
            </a:custGeom>
            <a:blipFill>
              <a:blip r:embed="rId2"/>
              <a:stretch>
                <a:fillRect/>
              </a:stretch>
            </a:blipFill>
          </p:spPr>
        </p:sp>
      </p:grpSp>
      <p:grpSp>
        <p:nvGrpSpPr>
          <p:cNvPr id="4" name="Group 4"/>
          <p:cNvGrpSpPr/>
          <p:nvPr/>
        </p:nvGrpSpPr>
        <p:grpSpPr>
          <a:xfrm>
            <a:off x="15516225" y="390525"/>
            <a:ext cx="1826990" cy="1771650"/>
            <a:chOff x="0" y="0"/>
            <a:chExt cx="2435987" cy="2362200"/>
          </a:xfrm>
        </p:grpSpPr>
        <p:sp>
          <p:nvSpPr>
            <p:cNvPr id="5" name="Freeform 5" descr="KRCE Tiruchirappalli : Admission 2024, Courses, Fees, Placement, Cut Off"/>
            <p:cNvSpPr/>
            <p:nvPr/>
          </p:nvSpPr>
          <p:spPr>
            <a:xfrm>
              <a:off x="0" y="0"/>
              <a:ext cx="2435987" cy="2362200"/>
            </a:xfrm>
            <a:custGeom>
              <a:avLst/>
              <a:gdLst/>
              <a:ahLst/>
              <a:cxnLst/>
              <a:rect l="l" t="t" r="r" b="b"/>
              <a:pathLst>
                <a:path w="2435987" h="2362200">
                  <a:moveTo>
                    <a:pt x="0" y="0"/>
                  </a:moveTo>
                  <a:lnTo>
                    <a:pt x="2435987" y="0"/>
                  </a:lnTo>
                  <a:lnTo>
                    <a:pt x="2435987" y="2362200"/>
                  </a:lnTo>
                  <a:lnTo>
                    <a:pt x="0" y="2362200"/>
                  </a:lnTo>
                  <a:lnTo>
                    <a:pt x="0" y="0"/>
                  </a:lnTo>
                  <a:close/>
                </a:path>
              </a:pathLst>
            </a:custGeom>
            <a:blipFill>
              <a:blip r:embed="rId3"/>
              <a:stretch>
                <a:fillRect r="-1"/>
              </a:stretch>
            </a:blipFill>
          </p:spPr>
        </p:sp>
      </p:grpSp>
      <p:grpSp>
        <p:nvGrpSpPr>
          <p:cNvPr id="6" name="Group 6"/>
          <p:cNvGrpSpPr/>
          <p:nvPr/>
        </p:nvGrpSpPr>
        <p:grpSpPr>
          <a:xfrm>
            <a:off x="-63503" y="5754795"/>
            <a:ext cx="18414997" cy="4595698"/>
            <a:chOff x="0" y="0"/>
            <a:chExt cx="18415000" cy="4595698"/>
          </a:xfrm>
        </p:grpSpPr>
        <p:sp>
          <p:nvSpPr>
            <p:cNvPr id="7" name="Freeform 7"/>
            <p:cNvSpPr/>
            <p:nvPr/>
          </p:nvSpPr>
          <p:spPr>
            <a:xfrm>
              <a:off x="63500" y="63500"/>
              <a:ext cx="18288000" cy="4468745"/>
            </a:xfrm>
            <a:custGeom>
              <a:avLst/>
              <a:gdLst/>
              <a:ahLst/>
              <a:cxnLst/>
              <a:rect l="l" t="t" r="r" b="b"/>
              <a:pathLst>
                <a:path w="18288000" h="4468745">
                  <a:moveTo>
                    <a:pt x="0" y="0"/>
                  </a:moveTo>
                  <a:lnTo>
                    <a:pt x="0" y="4468745"/>
                  </a:lnTo>
                  <a:lnTo>
                    <a:pt x="18288000" y="4468745"/>
                  </a:lnTo>
                  <a:lnTo>
                    <a:pt x="18288000" y="0"/>
                  </a:lnTo>
                  <a:close/>
                </a:path>
              </a:pathLst>
            </a:custGeom>
            <a:solidFill>
              <a:srgbClr val="FFFFFF"/>
            </a:solidFill>
          </p:spPr>
        </p:sp>
        <p:sp>
          <p:nvSpPr>
            <p:cNvPr id="8" name="Freeform 8"/>
            <p:cNvSpPr/>
            <p:nvPr/>
          </p:nvSpPr>
          <p:spPr>
            <a:xfrm>
              <a:off x="63500" y="63500"/>
              <a:ext cx="18288000" cy="4468745"/>
            </a:xfrm>
            <a:custGeom>
              <a:avLst/>
              <a:gdLst/>
              <a:ahLst/>
              <a:cxnLst/>
              <a:rect l="l" t="t" r="r" b="b"/>
              <a:pathLst>
                <a:path w="18288000" h="4468745">
                  <a:moveTo>
                    <a:pt x="0" y="0"/>
                  </a:moveTo>
                  <a:lnTo>
                    <a:pt x="0" y="4468745"/>
                  </a:lnTo>
                  <a:lnTo>
                    <a:pt x="18288000" y="4468745"/>
                  </a:lnTo>
                  <a:lnTo>
                    <a:pt x="18288000" y="0"/>
                  </a:lnTo>
                  <a:close/>
                </a:path>
              </a:pathLst>
            </a:custGeom>
            <a:solidFill>
              <a:srgbClr val="000000">
                <a:alpha val="0"/>
              </a:srgbClr>
            </a:solidFill>
          </p:spPr>
        </p:sp>
      </p:grpSp>
      <p:sp>
        <p:nvSpPr>
          <p:cNvPr id="9" name="TextBox 9"/>
          <p:cNvSpPr txBox="1"/>
          <p:nvPr/>
        </p:nvSpPr>
        <p:spPr>
          <a:xfrm>
            <a:off x="4773782" y="423386"/>
            <a:ext cx="9176782" cy="542925"/>
          </a:xfrm>
          <a:prstGeom prst="rect">
            <a:avLst/>
          </a:prstGeom>
        </p:spPr>
        <p:txBody>
          <a:bodyPr lIns="0" tIns="0" rIns="0" bIns="0" rtlCol="0" anchor="t">
            <a:spAutoFit/>
          </a:bodyPr>
          <a:lstStyle/>
          <a:p>
            <a:pPr algn="l">
              <a:lnSpc>
                <a:spcPts val="4200"/>
              </a:lnSpc>
            </a:pPr>
            <a:r>
              <a:rPr lang="en-US" sz="3000" b="1">
                <a:solidFill>
                  <a:srgbClr val="FF0066"/>
                </a:solidFill>
                <a:latin typeface="Times New Roman Bold"/>
                <a:ea typeface="Times New Roman Bold"/>
                <a:cs typeface="Times New Roman Bold"/>
                <a:sym typeface="Times New Roman Bold"/>
              </a:rPr>
              <a:t>K. RAMAKRISHNAN COLLEGE OF ENGINEERING</a:t>
            </a:r>
          </a:p>
        </p:txBody>
      </p:sp>
      <p:sp>
        <p:nvSpPr>
          <p:cNvPr id="10" name="TextBox 10"/>
          <p:cNvSpPr txBox="1"/>
          <p:nvPr/>
        </p:nvSpPr>
        <p:spPr>
          <a:xfrm>
            <a:off x="5349592" y="962025"/>
            <a:ext cx="8190945" cy="542925"/>
          </a:xfrm>
          <a:prstGeom prst="rect">
            <a:avLst/>
          </a:prstGeom>
        </p:spPr>
        <p:txBody>
          <a:bodyPr lIns="0" tIns="0" rIns="0" bIns="0" rtlCol="0" anchor="t">
            <a:spAutoFit/>
          </a:bodyPr>
          <a:lstStyle/>
          <a:p>
            <a:pPr algn="l">
              <a:lnSpc>
                <a:spcPts val="4200"/>
              </a:lnSpc>
            </a:pPr>
            <a:r>
              <a:rPr lang="en-US" sz="3000" b="1">
                <a:solidFill>
                  <a:srgbClr val="FF0066"/>
                </a:solidFill>
                <a:latin typeface="Times New Roman Bold"/>
                <a:ea typeface="Times New Roman Bold"/>
                <a:cs typeface="Times New Roman Bold"/>
                <a:sym typeface="Times New Roman Bold"/>
              </a:rPr>
              <a:t>(AUTONOMOUS), SAMAYAPURAM - TRICHY</a:t>
            </a:r>
          </a:p>
        </p:txBody>
      </p:sp>
      <p:sp>
        <p:nvSpPr>
          <p:cNvPr id="11" name="TextBox 11"/>
          <p:cNvSpPr txBox="1"/>
          <p:nvPr/>
        </p:nvSpPr>
        <p:spPr>
          <a:xfrm>
            <a:off x="5132365" y="1493044"/>
            <a:ext cx="8848963" cy="542925"/>
          </a:xfrm>
          <a:prstGeom prst="rect">
            <a:avLst/>
          </a:prstGeom>
        </p:spPr>
        <p:txBody>
          <a:bodyPr lIns="0" tIns="0" rIns="0" bIns="0" rtlCol="0" anchor="t">
            <a:spAutoFit/>
          </a:bodyPr>
          <a:lstStyle/>
          <a:p>
            <a:pPr algn="l">
              <a:lnSpc>
                <a:spcPts val="4200"/>
              </a:lnSpc>
            </a:pPr>
            <a:r>
              <a:rPr lang="en-US" sz="3000" b="1">
                <a:solidFill>
                  <a:srgbClr val="FF0066"/>
                </a:solidFill>
                <a:latin typeface="Times New Roman Bold"/>
                <a:ea typeface="Times New Roman Bold"/>
                <a:cs typeface="Times New Roman Bold"/>
                <a:sym typeface="Times New Roman Bold"/>
              </a:rPr>
              <a:t>DEPARTMENT OF ARTIFICIAL INTELLIGENCE </a:t>
            </a:r>
          </a:p>
        </p:txBody>
      </p:sp>
      <p:sp>
        <p:nvSpPr>
          <p:cNvPr id="12" name="TextBox 12"/>
          <p:cNvSpPr txBox="1"/>
          <p:nvPr/>
        </p:nvSpPr>
        <p:spPr>
          <a:xfrm>
            <a:off x="6932306" y="2026444"/>
            <a:ext cx="3789363" cy="542925"/>
          </a:xfrm>
          <a:prstGeom prst="rect">
            <a:avLst/>
          </a:prstGeom>
        </p:spPr>
        <p:txBody>
          <a:bodyPr lIns="0" tIns="0" rIns="0" bIns="0" rtlCol="0" anchor="t">
            <a:spAutoFit/>
          </a:bodyPr>
          <a:lstStyle/>
          <a:p>
            <a:pPr algn="l">
              <a:lnSpc>
                <a:spcPts val="4200"/>
              </a:lnSpc>
            </a:pPr>
            <a:r>
              <a:rPr lang="en-US" sz="3000" b="1">
                <a:solidFill>
                  <a:srgbClr val="FF0066"/>
                </a:solidFill>
                <a:latin typeface="Times New Roman Bold"/>
                <a:ea typeface="Times New Roman Bold"/>
                <a:cs typeface="Times New Roman Bold"/>
                <a:sym typeface="Times New Roman Bold"/>
              </a:rPr>
              <a:t>AND DATA SCIENCE</a:t>
            </a:r>
          </a:p>
        </p:txBody>
      </p:sp>
      <p:sp>
        <p:nvSpPr>
          <p:cNvPr id="13" name="TextBox 13"/>
          <p:cNvSpPr txBox="1"/>
          <p:nvPr/>
        </p:nvSpPr>
        <p:spPr>
          <a:xfrm>
            <a:off x="4395942" y="2559844"/>
            <a:ext cx="10098246" cy="542925"/>
          </a:xfrm>
          <a:prstGeom prst="rect">
            <a:avLst/>
          </a:prstGeom>
        </p:spPr>
        <p:txBody>
          <a:bodyPr lIns="0" tIns="0" rIns="0" bIns="0" rtlCol="0" anchor="t">
            <a:spAutoFit/>
          </a:bodyPr>
          <a:lstStyle/>
          <a:p>
            <a:pPr algn="l">
              <a:lnSpc>
                <a:spcPts val="4200"/>
              </a:lnSpc>
            </a:pPr>
            <a:r>
              <a:rPr lang="en-US" sz="3000" b="1" dirty="0">
                <a:solidFill>
                  <a:srgbClr val="FF0066"/>
                </a:solidFill>
                <a:latin typeface="Times New Roman Bold"/>
                <a:ea typeface="Times New Roman Bold"/>
                <a:cs typeface="Times New Roman Bold"/>
                <a:sym typeface="Times New Roman Bold"/>
              </a:rPr>
              <a:t>ADI1221– PRINCIPLES OF ARTIFICIAL INTELLIGENCE</a:t>
            </a:r>
          </a:p>
        </p:txBody>
      </p:sp>
      <p:sp>
        <p:nvSpPr>
          <p:cNvPr id="14" name="TextBox 14"/>
          <p:cNvSpPr txBox="1"/>
          <p:nvPr/>
        </p:nvSpPr>
        <p:spPr>
          <a:xfrm>
            <a:off x="3216878" y="3457594"/>
            <a:ext cx="12679937" cy="2193788"/>
          </a:xfrm>
          <a:prstGeom prst="rect">
            <a:avLst/>
          </a:prstGeom>
        </p:spPr>
        <p:txBody>
          <a:bodyPr lIns="0" tIns="0" rIns="0" bIns="0" rtlCol="0" anchor="t">
            <a:spAutoFit/>
          </a:bodyPr>
          <a:lstStyle/>
          <a:p>
            <a:pPr algn="ctr">
              <a:lnSpc>
                <a:spcPts val="5702"/>
              </a:lnSpc>
            </a:pPr>
            <a:r>
              <a:rPr lang="en-US" sz="4800" b="1">
                <a:solidFill>
                  <a:srgbClr val="0000FF"/>
                </a:solidFill>
                <a:latin typeface="Times New Roman Bold"/>
                <a:ea typeface="Times New Roman Bold"/>
                <a:cs typeface="Times New Roman Bold"/>
                <a:sym typeface="Times New Roman Bold"/>
              </a:rPr>
              <a:t>Loan/Credit Eligibility Reasoning Engine Using FQL-Based Rule Inference on Live Application Data</a:t>
            </a:r>
          </a:p>
        </p:txBody>
      </p:sp>
      <p:sp>
        <p:nvSpPr>
          <p:cNvPr id="15" name="TextBox 15"/>
          <p:cNvSpPr txBox="1"/>
          <p:nvPr/>
        </p:nvSpPr>
        <p:spPr>
          <a:xfrm>
            <a:off x="912019" y="9623727"/>
            <a:ext cx="889197" cy="339090"/>
          </a:xfrm>
          <a:prstGeom prst="rect">
            <a:avLst/>
          </a:prstGeom>
        </p:spPr>
        <p:txBody>
          <a:bodyPr lIns="0" tIns="0" rIns="0" bIns="0" rtlCol="0" anchor="t">
            <a:spAutoFit/>
          </a:bodyPr>
          <a:lstStyle/>
          <a:p>
            <a:pPr algn="l">
              <a:lnSpc>
                <a:spcPts val="2520"/>
              </a:lnSpc>
            </a:pPr>
            <a:r>
              <a:rPr lang="en-US" sz="1800">
                <a:solidFill>
                  <a:srgbClr val="8B8B8B"/>
                </a:solidFill>
                <a:latin typeface="Calibri (MS)"/>
                <a:ea typeface="Calibri (MS)"/>
                <a:cs typeface="Calibri (MS)"/>
                <a:sym typeface="Calibri (MS)"/>
              </a:rPr>
              <a:t>9/6/2025</a:t>
            </a:r>
          </a:p>
        </p:txBody>
      </p:sp>
      <p:sp>
        <p:nvSpPr>
          <p:cNvPr id="16" name="TextBox 16"/>
          <p:cNvSpPr txBox="1"/>
          <p:nvPr/>
        </p:nvSpPr>
        <p:spPr>
          <a:xfrm>
            <a:off x="1524000" y="5940285"/>
            <a:ext cx="3563160" cy="633308"/>
          </a:xfrm>
          <a:prstGeom prst="rect">
            <a:avLst/>
          </a:prstGeom>
        </p:spPr>
        <p:txBody>
          <a:bodyPr lIns="0" tIns="0" rIns="0" bIns="0" rtlCol="0" anchor="t">
            <a:spAutoFit/>
          </a:bodyPr>
          <a:lstStyle/>
          <a:p>
            <a:pPr algn="l">
              <a:lnSpc>
                <a:spcPts val="5040"/>
              </a:lnSpc>
            </a:pPr>
            <a:r>
              <a:rPr lang="en-US" sz="3600" b="1">
                <a:solidFill>
                  <a:srgbClr val="000000"/>
                </a:solidFill>
                <a:latin typeface="Times New Roman Bold"/>
                <a:ea typeface="Times New Roman Bold"/>
                <a:cs typeface="Times New Roman Bold"/>
                <a:sym typeface="Times New Roman Bold"/>
              </a:rPr>
              <a:t>PRESENTED BY</a:t>
            </a:r>
          </a:p>
        </p:txBody>
      </p:sp>
      <p:sp>
        <p:nvSpPr>
          <p:cNvPr id="17" name="TextBox 17"/>
          <p:cNvSpPr txBox="1"/>
          <p:nvPr/>
        </p:nvSpPr>
        <p:spPr>
          <a:xfrm>
            <a:off x="12230548" y="6118108"/>
            <a:ext cx="2822864" cy="618949"/>
          </a:xfrm>
          <a:prstGeom prst="rect">
            <a:avLst/>
          </a:prstGeom>
        </p:spPr>
        <p:txBody>
          <a:bodyPr lIns="0" tIns="0" rIns="0" bIns="0" rtlCol="0" anchor="t">
            <a:spAutoFit/>
          </a:bodyPr>
          <a:lstStyle/>
          <a:p>
            <a:pPr algn="l">
              <a:lnSpc>
                <a:spcPts val="4827"/>
              </a:lnSpc>
            </a:pPr>
            <a:r>
              <a:rPr lang="en-US" sz="3448" b="1">
                <a:solidFill>
                  <a:srgbClr val="000000"/>
                </a:solidFill>
                <a:latin typeface="Times New Roman Bold"/>
                <a:ea typeface="Times New Roman Bold"/>
                <a:cs typeface="Times New Roman Bold"/>
                <a:sym typeface="Times New Roman Bold"/>
              </a:rPr>
              <a:t>SUPERVISOR</a:t>
            </a:r>
          </a:p>
        </p:txBody>
      </p:sp>
      <p:sp>
        <p:nvSpPr>
          <p:cNvPr id="18" name="TextBox 18"/>
          <p:cNvSpPr txBox="1"/>
          <p:nvPr/>
        </p:nvSpPr>
        <p:spPr>
          <a:xfrm>
            <a:off x="1562100" y="6624485"/>
            <a:ext cx="2493578" cy="2020005"/>
          </a:xfrm>
          <a:prstGeom prst="rect">
            <a:avLst/>
          </a:prstGeom>
        </p:spPr>
        <p:txBody>
          <a:bodyPr lIns="0" tIns="0" rIns="0" bIns="0" rtlCol="0" anchor="t">
            <a:spAutoFit/>
          </a:bodyPr>
          <a:lstStyle/>
          <a:p>
            <a:pPr algn="l">
              <a:lnSpc>
                <a:spcPts val="5400"/>
              </a:lnSpc>
            </a:pPr>
            <a:r>
              <a:rPr lang="en-US" sz="3000" b="1">
                <a:solidFill>
                  <a:srgbClr val="000000"/>
                </a:solidFill>
                <a:latin typeface="Times New Roman Bold"/>
                <a:ea typeface="Times New Roman Bold"/>
                <a:cs typeface="Times New Roman Bold"/>
                <a:sym typeface="Times New Roman Bold"/>
              </a:rPr>
              <a:t>NITHYASR R PRADEEPA D YAZHINI G </a:t>
            </a:r>
          </a:p>
        </p:txBody>
      </p:sp>
      <p:sp>
        <p:nvSpPr>
          <p:cNvPr id="19" name="TextBox 19"/>
          <p:cNvSpPr txBox="1"/>
          <p:nvPr/>
        </p:nvSpPr>
        <p:spPr>
          <a:xfrm>
            <a:off x="12230548" y="6738785"/>
            <a:ext cx="3440033" cy="2143125"/>
          </a:xfrm>
          <a:prstGeom prst="rect">
            <a:avLst/>
          </a:prstGeom>
        </p:spPr>
        <p:txBody>
          <a:bodyPr lIns="0" tIns="0" rIns="0" bIns="0" rtlCol="0" anchor="t">
            <a:spAutoFit/>
          </a:bodyPr>
          <a:lstStyle/>
          <a:p>
            <a:pPr algn="l">
              <a:lnSpc>
                <a:spcPts val="4200"/>
              </a:lnSpc>
            </a:pPr>
            <a:r>
              <a:rPr lang="en-US" sz="3000" b="1">
                <a:solidFill>
                  <a:srgbClr val="000000"/>
                </a:solidFill>
                <a:latin typeface="Times New Roman Bold"/>
                <a:ea typeface="Times New Roman Bold"/>
                <a:cs typeface="Times New Roman Bold"/>
                <a:sym typeface="Times New Roman Bold"/>
              </a:rPr>
              <a:t>Mrs.R.KIRTHIGA</a:t>
            </a:r>
          </a:p>
          <a:p>
            <a:pPr algn="l">
              <a:lnSpc>
                <a:spcPts val="4200"/>
              </a:lnSpc>
            </a:pPr>
            <a:r>
              <a:rPr lang="en-US" sz="3000" b="1">
                <a:solidFill>
                  <a:srgbClr val="000000"/>
                </a:solidFill>
                <a:latin typeface="Times New Roman Bold"/>
                <a:ea typeface="Times New Roman Bold"/>
                <a:cs typeface="Times New Roman Bold"/>
                <a:sym typeface="Times New Roman Bold"/>
              </a:rPr>
              <a:t>IBM TRAINER</a:t>
            </a:r>
          </a:p>
          <a:p>
            <a:pPr algn="l">
              <a:lnSpc>
                <a:spcPts val="4200"/>
              </a:lnSpc>
            </a:pPr>
            <a:r>
              <a:rPr lang="en-US" sz="3000" b="1">
                <a:solidFill>
                  <a:srgbClr val="000000"/>
                </a:solidFill>
                <a:latin typeface="Times New Roman Bold"/>
                <a:ea typeface="Times New Roman Bold"/>
                <a:cs typeface="Times New Roman Bold"/>
                <a:sym typeface="Times New Roman Bold"/>
              </a:rPr>
              <a:t>Ms.VIGNESHWARI</a:t>
            </a:r>
          </a:p>
          <a:p>
            <a:pPr algn="l">
              <a:lnSpc>
                <a:spcPts val="4200"/>
              </a:lnSpc>
            </a:pPr>
            <a:endParaRPr lang="en-US" sz="3000" b="1">
              <a:solidFill>
                <a:srgbClr val="000000"/>
              </a:solidFill>
              <a:latin typeface="Times New Roman Bold"/>
              <a:ea typeface="Times New Roman Bold"/>
              <a:cs typeface="Times New Roman Bold"/>
              <a:sym typeface="Times New Roman 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47775" y="321469"/>
            <a:ext cx="1598295" cy="1585912"/>
            <a:chOff x="0" y="0"/>
            <a:chExt cx="2131060" cy="2114550"/>
          </a:xfrm>
        </p:grpSpPr>
        <p:sp>
          <p:nvSpPr>
            <p:cNvPr id="3" name="Freeform 3"/>
            <p:cNvSpPr/>
            <p:nvPr/>
          </p:nvSpPr>
          <p:spPr>
            <a:xfrm>
              <a:off x="0" y="0"/>
              <a:ext cx="2131060" cy="2114550"/>
            </a:xfrm>
            <a:custGeom>
              <a:avLst/>
              <a:gdLst/>
              <a:ahLst/>
              <a:cxnLst/>
              <a:rect l="l" t="t" r="r" b="b"/>
              <a:pathLst>
                <a:path w="2131060" h="2114550">
                  <a:moveTo>
                    <a:pt x="0" y="0"/>
                  </a:moveTo>
                  <a:lnTo>
                    <a:pt x="2131060" y="0"/>
                  </a:lnTo>
                  <a:lnTo>
                    <a:pt x="2131060" y="2114550"/>
                  </a:lnTo>
                  <a:lnTo>
                    <a:pt x="0" y="2114550"/>
                  </a:lnTo>
                  <a:lnTo>
                    <a:pt x="0" y="0"/>
                  </a:lnTo>
                  <a:close/>
                </a:path>
              </a:pathLst>
            </a:custGeom>
            <a:blipFill>
              <a:blip r:embed="rId2"/>
              <a:stretch>
                <a:fillRect/>
              </a:stretch>
            </a:blipFill>
          </p:spPr>
        </p:sp>
      </p:grpSp>
      <p:grpSp>
        <p:nvGrpSpPr>
          <p:cNvPr id="4" name="Group 4"/>
          <p:cNvGrpSpPr/>
          <p:nvPr/>
        </p:nvGrpSpPr>
        <p:grpSpPr>
          <a:xfrm>
            <a:off x="15085219" y="500062"/>
            <a:ext cx="1826990" cy="1771650"/>
            <a:chOff x="0" y="0"/>
            <a:chExt cx="2435987" cy="2362200"/>
          </a:xfrm>
        </p:grpSpPr>
        <p:sp>
          <p:nvSpPr>
            <p:cNvPr id="5" name="Freeform 5" descr="KRCE Tiruchirappalli : Admission 2024, Courses, Fees, Placement, Cut Off"/>
            <p:cNvSpPr/>
            <p:nvPr/>
          </p:nvSpPr>
          <p:spPr>
            <a:xfrm>
              <a:off x="0" y="0"/>
              <a:ext cx="2435987" cy="2362200"/>
            </a:xfrm>
            <a:custGeom>
              <a:avLst/>
              <a:gdLst/>
              <a:ahLst/>
              <a:cxnLst/>
              <a:rect l="l" t="t" r="r" b="b"/>
              <a:pathLst>
                <a:path w="2435987" h="2362200">
                  <a:moveTo>
                    <a:pt x="0" y="0"/>
                  </a:moveTo>
                  <a:lnTo>
                    <a:pt x="2435987" y="0"/>
                  </a:lnTo>
                  <a:lnTo>
                    <a:pt x="2435987" y="2362200"/>
                  </a:lnTo>
                  <a:lnTo>
                    <a:pt x="0" y="2362200"/>
                  </a:lnTo>
                  <a:lnTo>
                    <a:pt x="0" y="0"/>
                  </a:lnTo>
                  <a:close/>
                </a:path>
              </a:pathLst>
            </a:custGeom>
            <a:blipFill>
              <a:blip r:embed="rId3"/>
              <a:stretch>
                <a:fillRect r="-1"/>
              </a:stretch>
            </a:blipFill>
          </p:spPr>
        </p:sp>
      </p:grpSp>
      <p:sp>
        <p:nvSpPr>
          <p:cNvPr id="6" name="TextBox 6"/>
          <p:cNvSpPr txBox="1"/>
          <p:nvPr/>
        </p:nvSpPr>
        <p:spPr>
          <a:xfrm>
            <a:off x="5198269" y="958301"/>
            <a:ext cx="7013496" cy="698506"/>
          </a:xfrm>
          <a:prstGeom prst="rect">
            <a:avLst/>
          </a:prstGeom>
        </p:spPr>
        <p:txBody>
          <a:bodyPr lIns="0" tIns="0" rIns="0" bIns="0" rtlCol="0" anchor="t">
            <a:spAutoFit/>
          </a:bodyPr>
          <a:lstStyle/>
          <a:p>
            <a:pPr algn="l">
              <a:lnSpc>
                <a:spcPts val="5599"/>
              </a:lnSpc>
            </a:pPr>
            <a:r>
              <a:rPr lang="en-US" sz="3999" b="1">
                <a:solidFill>
                  <a:srgbClr val="000000"/>
                </a:solidFill>
                <a:latin typeface="Times New Roman Bold"/>
                <a:ea typeface="Times New Roman Bold"/>
                <a:cs typeface="Times New Roman Bold"/>
                <a:sym typeface="Times New Roman Bold"/>
              </a:rPr>
              <a:t>PRESENTATION OVERVIEW</a:t>
            </a:r>
          </a:p>
        </p:txBody>
      </p:sp>
      <p:sp>
        <p:nvSpPr>
          <p:cNvPr id="7" name="TextBox 7"/>
          <p:cNvSpPr txBox="1"/>
          <p:nvPr/>
        </p:nvSpPr>
        <p:spPr>
          <a:xfrm>
            <a:off x="5980357" y="2279018"/>
            <a:ext cx="7729166" cy="6276137"/>
          </a:xfrm>
          <a:prstGeom prst="rect">
            <a:avLst/>
          </a:prstGeom>
        </p:spPr>
        <p:txBody>
          <a:bodyPr lIns="0" tIns="0" rIns="0" bIns="0" rtlCol="0" anchor="t">
            <a:spAutoFit/>
          </a:bodyPr>
          <a:lstStyle/>
          <a:p>
            <a:pPr algn="l">
              <a:lnSpc>
                <a:spcPts val="6225"/>
              </a:lnSpc>
            </a:pPr>
            <a:r>
              <a:rPr lang="en-US" sz="3499">
                <a:solidFill>
                  <a:srgbClr val="000000"/>
                </a:solidFill>
                <a:latin typeface="Times New Roman"/>
                <a:ea typeface="Times New Roman"/>
                <a:cs typeface="Times New Roman"/>
                <a:sym typeface="Times New Roman"/>
              </a:rPr>
              <a:t>1. Problem Statement</a:t>
            </a:r>
          </a:p>
          <a:p>
            <a:pPr algn="l">
              <a:lnSpc>
                <a:spcPts val="6225"/>
              </a:lnSpc>
            </a:pPr>
            <a:r>
              <a:rPr lang="en-US" sz="3499">
                <a:solidFill>
                  <a:srgbClr val="000000"/>
                </a:solidFill>
                <a:latin typeface="Times New Roman"/>
                <a:ea typeface="Times New Roman"/>
                <a:cs typeface="Times New Roman"/>
                <a:sym typeface="Times New Roman"/>
              </a:rPr>
              <a:t>2. Objectives</a:t>
            </a:r>
          </a:p>
          <a:p>
            <a:pPr algn="l">
              <a:lnSpc>
                <a:spcPts val="6225"/>
              </a:lnSpc>
            </a:pPr>
            <a:r>
              <a:rPr lang="en-US" sz="3499">
                <a:solidFill>
                  <a:srgbClr val="000000"/>
                </a:solidFill>
                <a:latin typeface="Times New Roman"/>
                <a:ea typeface="Times New Roman"/>
                <a:cs typeface="Times New Roman"/>
                <a:sym typeface="Times New Roman"/>
              </a:rPr>
              <a:t>3. Literature Survey</a:t>
            </a:r>
          </a:p>
          <a:p>
            <a:pPr algn="l">
              <a:lnSpc>
                <a:spcPts val="6225"/>
              </a:lnSpc>
            </a:pPr>
            <a:r>
              <a:rPr lang="en-US" sz="3499">
                <a:solidFill>
                  <a:srgbClr val="000000"/>
                </a:solidFill>
                <a:latin typeface="Times New Roman"/>
                <a:ea typeface="Times New Roman"/>
                <a:cs typeface="Times New Roman"/>
                <a:sym typeface="Times New Roman"/>
              </a:rPr>
              <a:t>4. AI technique selection with justification 5. System Architecture</a:t>
            </a:r>
          </a:p>
          <a:p>
            <a:pPr algn="l">
              <a:lnSpc>
                <a:spcPts val="6225"/>
              </a:lnSpc>
            </a:pPr>
            <a:r>
              <a:rPr lang="en-US" sz="3499">
                <a:solidFill>
                  <a:srgbClr val="000000"/>
                </a:solidFill>
                <a:latin typeface="Times New Roman"/>
                <a:ea typeface="Times New Roman"/>
                <a:cs typeface="Times New Roman"/>
                <a:sym typeface="Times New Roman"/>
              </a:rPr>
              <a:t>6. Dataset and API identification</a:t>
            </a:r>
          </a:p>
          <a:p>
            <a:pPr algn="l">
              <a:lnSpc>
                <a:spcPts val="6225"/>
              </a:lnSpc>
            </a:pPr>
            <a:r>
              <a:rPr lang="en-US" sz="3499">
                <a:solidFill>
                  <a:srgbClr val="000000"/>
                </a:solidFill>
                <a:latin typeface="Times New Roman"/>
                <a:ea typeface="Times New Roman"/>
                <a:cs typeface="Times New Roman"/>
                <a:sym typeface="Times New Roman"/>
              </a:rPr>
              <a:t>7. Project Planning</a:t>
            </a:r>
          </a:p>
          <a:p>
            <a:pPr algn="l">
              <a:lnSpc>
                <a:spcPts val="6225"/>
              </a:lnSpc>
            </a:pPr>
            <a:r>
              <a:rPr lang="en-US" sz="3499">
                <a:solidFill>
                  <a:srgbClr val="000000"/>
                </a:solidFill>
                <a:latin typeface="Times New Roman"/>
                <a:ea typeface="Times New Roman"/>
                <a:cs typeface="Times New Roman"/>
                <a:sym typeface="Times New Roman"/>
              </a:rPr>
              <a:t>8. Closing Statement</a:t>
            </a:r>
          </a:p>
        </p:txBody>
      </p:sp>
      <p:sp>
        <p:nvSpPr>
          <p:cNvPr id="8" name="TextBox 8"/>
          <p:cNvSpPr txBox="1"/>
          <p:nvPr/>
        </p:nvSpPr>
        <p:spPr>
          <a:xfrm>
            <a:off x="914400" y="9629775"/>
            <a:ext cx="889197" cy="339090"/>
          </a:xfrm>
          <a:prstGeom prst="rect">
            <a:avLst/>
          </a:prstGeom>
        </p:spPr>
        <p:txBody>
          <a:bodyPr lIns="0" tIns="0" rIns="0" bIns="0" rtlCol="0" anchor="t">
            <a:spAutoFit/>
          </a:bodyPr>
          <a:lstStyle/>
          <a:p>
            <a:pPr algn="l">
              <a:lnSpc>
                <a:spcPts val="2520"/>
              </a:lnSpc>
            </a:pPr>
            <a:r>
              <a:rPr lang="en-US" sz="1800">
                <a:solidFill>
                  <a:srgbClr val="8B8B8B"/>
                </a:solidFill>
                <a:latin typeface="Calibri (MS)"/>
                <a:ea typeface="Calibri (MS)"/>
                <a:cs typeface="Calibri (MS)"/>
                <a:sym typeface="Calibri (MS)"/>
              </a:rPr>
              <a:t>9/6/2025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47775" y="321469"/>
            <a:ext cx="1598295" cy="1585912"/>
            <a:chOff x="0" y="0"/>
            <a:chExt cx="2131060" cy="2114550"/>
          </a:xfrm>
        </p:grpSpPr>
        <p:sp>
          <p:nvSpPr>
            <p:cNvPr id="3" name="Freeform 3"/>
            <p:cNvSpPr/>
            <p:nvPr/>
          </p:nvSpPr>
          <p:spPr>
            <a:xfrm>
              <a:off x="0" y="0"/>
              <a:ext cx="2131060" cy="2114550"/>
            </a:xfrm>
            <a:custGeom>
              <a:avLst/>
              <a:gdLst/>
              <a:ahLst/>
              <a:cxnLst/>
              <a:rect l="l" t="t" r="r" b="b"/>
              <a:pathLst>
                <a:path w="2131060" h="2114550">
                  <a:moveTo>
                    <a:pt x="0" y="0"/>
                  </a:moveTo>
                  <a:lnTo>
                    <a:pt x="2131060" y="0"/>
                  </a:lnTo>
                  <a:lnTo>
                    <a:pt x="2131060" y="2114550"/>
                  </a:lnTo>
                  <a:lnTo>
                    <a:pt x="0" y="2114550"/>
                  </a:lnTo>
                  <a:lnTo>
                    <a:pt x="0" y="0"/>
                  </a:lnTo>
                  <a:close/>
                </a:path>
              </a:pathLst>
            </a:custGeom>
            <a:blipFill>
              <a:blip r:embed="rId2"/>
              <a:stretch>
                <a:fillRect/>
              </a:stretch>
            </a:blipFill>
          </p:spPr>
        </p:sp>
      </p:grpSp>
      <p:grpSp>
        <p:nvGrpSpPr>
          <p:cNvPr id="4" name="Group 4"/>
          <p:cNvGrpSpPr/>
          <p:nvPr/>
        </p:nvGrpSpPr>
        <p:grpSpPr>
          <a:xfrm>
            <a:off x="15085219" y="500062"/>
            <a:ext cx="1826990" cy="1771650"/>
            <a:chOff x="0" y="0"/>
            <a:chExt cx="2435987" cy="2362200"/>
          </a:xfrm>
        </p:grpSpPr>
        <p:sp>
          <p:nvSpPr>
            <p:cNvPr id="5" name="Freeform 5" descr="KRCE Tiruchirappalli : Admission 2024, Courses, Fees, Placement, Cut Off"/>
            <p:cNvSpPr/>
            <p:nvPr/>
          </p:nvSpPr>
          <p:spPr>
            <a:xfrm>
              <a:off x="0" y="0"/>
              <a:ext cx="2435987" cy="2362200"/>
            </a:xfrm>
            <a:custGeom>
              <a:avLst/>
              <a:gdLst/>
              <a:ahLst/>
              <a:cxnLst/>
              <a:rect l="l" t="t" r="r" b="b"/>
              <a:pathLst>
                <a:path w="2435987" h="2362200">
                  <a:moveTo>
                    <a:pt x="0" y="0"/>
                  </a:moveTo>
                  <a:lnTo>
                    <a:pt x="2435987" y="0"/>
                  </a:lnTo>
                  <a:lnTo>
                    <a:pt x="2435987" y="2362200"/>
                  </a:lnTo>
                  <a:lnTo>
                    <a:pt x="0" y="2362200"/>
                  </a:lnTo>
                  <a:lnTo>
                    <a:pt x="0" y="0"/>
                  </a:lnTo>
                  <a:close/>
                </a:path>
              </a:pathLst>
            </a:custGeom>
            <a:blipFill>
              <a:blip r:embed="rId3"/>
              <a:stretch>
                <a:fillRect r="-1"/>
              </a:stretch>
            </a:blipFill>
          </p:spPr>
        </p:sp>
      </p:grpSp>
      <p:sp>
        <p:nvSpPr>
          <p:cNvPr id="6" name="TextBox 6"/>
          <p:cNvSpPr txBox="1"/>
          <p:nvPr/>
        </p:nvSpPr>
        <p:spPr>
          <a:xfrm>
            <a:off x="5626060" y="1019175"/>
            <a:ext cx="6679168" cy="698500"/>
          </a:xfrm>
          <a:prstGeom prst="rect">
            <a:avLst/>
          </a:prstGeom>
        </p:spPr>
        <p:txBody>
          <a:bodyPr lIns="0" tIns="0" rIns="0" bIns="0" rtlCol="0" anchor="t">
            <a:spAutoFit/>
          </a:bodyPr>
          <a:lstStyle/>
          <a:p>
            <a:pPr algn="ctr">
              <a:lnSpc>
                <a:spcPts val="5599"/>
              </a:lnSpc>
              <a:spcBef>
                <a:spcPct val="0"/>
              </a:spcBef>
            </a:pPr>
            <a:r>
              <a:rPr lang="en-US" sz="3999" b="1">
                <a:solidFill>
                  <a:srgbClr val="000000"/>
                </a:solidFill>
                <a:latin typeface="Times New Roman Bold"/>
                <a:ea typeface="Times New Roman Bold"/>
                <a:cs typeface="Times New Roman Bold"/>
                <a:sym typeface="Times New Roman Bold"/>
              </a:rPr>
              <a:t>PROJECT INTRODUCTION </a:t>
            </a:r>
          </a:p>
        </p:txBody>
      </p:sp>
      <p:sp>
        <p:nvSpPr>
          <p:cNvPr id="7" name="TextBox 7"/>
          <p:cNvSpPr txBox="1"/>
          <p:nvPr/>
        </p:nvSpPr>
        <p:spPr>
          <a:xfrm>
            <a:off x="498060" y="2925762"/>
            <a:ext cx="17789940" cy="4959350"/>
          </a:xfrm>
          <a:prstGeom prst="rect">
            <a:avLst/>
          </a:prstGeom>
        </p:spPr>
        <p:txBody>
          <a:bodyPr lIns="0" tIns="0" rIns="0" bIns="0" rtlCol="0" anchor="t">
            <a:spAutoFit/>
          </a:bodyPr>
          <a:lstStyle/>
          <a:p>
            <a:pPr algn="l">
              <a:lnSpc>
                <a:spcPts val="4900"/>
              </a:lnSpc>
              <a:spcBef>
                <a:spcPct val="0"/>
              </a:spcBef>
            </a:pPr>
            <a:r>
              <a:rPr lang="en-US" sz="3500" dirty="0">
                <a:solidFill>
                  <a:srgbClr val="000000"/>
                </a:solidFill>
                <a:latin typeface="Times New Roman"/>
                <a:ea typeface="Times New Roman"/>
                <a:cs typeface="Times New Roman"/>
                <a:sym typeface="Times New Roman"/>
              </a:rPr>
              <a:t>Loan/Credit Eligibility Reasoning Engine Using FQL-Based Rule Inference on Live </a:t>
            </a:r>
          </a:p>
          <a:p>
            <a:pPr algn="l">
              <a:lnSpc>
                <a:spcPts val="4900"/>
              </a:lnSpc>
              <a:spcBef>
                <a:spcPct val="0"/>
              </a:spcBef>
            </a:pPr>
            <a:r>
              <a:rPr lang="en-US" sz="3500" dirty="0">
                <a:solidFill>
                  <a:srgbClr val="000000"/>
                </a:solidFill>
                <a:latin typeface="Times New Roman"/>
                <a:ea typeface="Times New Roman"/>
                <a:cs typeface="Times New Roman"/>
                <a:sym typeface="Times New Roman"/>
              </a:rPr>
              <a:t>Application Data is an intelligent decision-support system designed to evaluate an applicant’s eligibility and financial risk for loans or credit. Traditional systems mainly depend on fixed</a:t>
            </a:r>
          </a:p>
          <a:p>
            <a:pPr algn="l">
              <a:lnSpc>
                <a:spcPts val="4900"/>
              </a:lnSpc>
              <a:spcBef>
                <a:spcPct val="0"/>
              </a:spcBef>
            </a:pPr>
            <a:r>
              <a:rPr lang="en-US" sz="3500" dirty="0">
                <a:solidFill>
                  <a:srgbClr val="000000"/>
                </a:solidFill>
                <a:latin typeface="Times New Roman"/>
                <a:ea typeface="Times New Roman"/>
                <a:cs typeface="Times New Roman"/>
                <a:sym typeface="Times New Roman"/>
              </a:rPr>
              <a:t> rules and current financial information such as income, credit score, existing loans, and expenses.</a:t>
            </a:r>
          </a:p>
          <a:p>
            <a:pPr algn="l">
              <a:lnSpc>
                <a:spcPts val="4900"/>
              </a:lnSpc>
              <a:spcBef>
                <a:spcPct val="0"/>
              </a:spcBef>
            </a:pPr>
            <a:endParaRPr lang="en-US" sz="3500" dirty="0">
              <a:solidFill>
                <a:srgbClr val="000000"/>
              </a:solidFill>
              <a:latin typeface="Times New Roman"/>
              <a:ea typeface="Times New Roman"/>
              <a:cs typeface="Times New Roman"/>
              <a:sym typeface="Times New Roman"/>
            </a:endParaRPr>
          </a:p>
          <a:p>
            <a:pPr algn="l">
              <a:lnSpc>
                <a:spcPts val="4900"/>
              </a:lnSpc>
              <a:spcBef>
                <a:spcPct val="0"/>
              </a:spcBef>
            </a:pPr>
            <a:r>
              <a:rPr lang="en-US" sz="3500" dirty="0">
                <a:solidFill>
                  <a:srgbClr val="000000"/>
                </a:solidFill>
                <a:latin typeface="Times New Roman"/>
                <a:ea typeface="Times New Roman"/>
                <a:cs typeface="Times New Roman"/>
                <a:sym typeface="Times New Roman"/>
              </a:rPr>
              <a:t>The proposed system uses FQL (Fuzzy Query Language) based rule inference to analyze live application data and provide a more flexible and explainable assessment. It considers multiple financial factors and classifies the applicant into Low, Medium, or High Risk categories.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47775" y="321469"/>
            <a:ext cx="1598295" cy="1585912"/>
            <a:chOff x="0" y="0"/>
            <a:chExt cx="2131060" cy="2114550"/>
          </a:xfrm>
        </p:grpSpPr>
        <p:sp>
          <p:nvSpPr>
            <p:cNvPr id="3" name="Freeform 3"/>
            <p:cNvSpPr/>
            <p:nvPr/>
          </p:nvSpPr>
          <p:spPr>
            <a:xfrm>
              <a:off x="0" y="0"/>
              <a:ext cx="2131060" cy="2114550"/>
            </a:xfrm>
            <a:custGeom>
              <a:avLst/>
              <a:gdLst/>
              <a:ahLst/>
              <a:cxnLst/>
              <a:rect l="l" t="t" r="r" b="b"/>
              <a:pathLst>
                <a:path w="2131060" h="2114550">
                  <a:moveTo>
                    <a:pt x="0" y="0"/>
                  </a:moveTo>
                  <a:lnTo>
                    <a:pt x="2131060" y="0"/>
                  </a:lnTo>
                  <a:lnTo>
                    <a:pt x="2131060" y="2114550"/>
                  </a:lnTo>
                  <a:lnTo>
                    <a:pt x="0" y="2114550"/>
                  </a:lnTo>
                  <a:lnTo>
                    <a:pt x="0" y="0"/>
                  </a:lnTo>
                  <a:close/>
                </a:path>
              </a:pathLst>
            </a:custGeom>
            <a:blipFill>
              <a:blip r:embed="rId2"/>
              <a:stretch>
                <a:fillRect/>
              </a:stretch>
            </a:blipFill>
          </p:spPr>
        </p:sp>
      </p:grpSp>
      <p:grpSp>
        <p:nvGrpSpPr>
          <p:cNvPr id="4" name="Group 4"/>
          <p:cNvGrpSpPr/>
          <p:nvPr/>
        </p:nvGrpSpPr>
        <p:grpSpPr>
          <a:xfrm>
            <a:off x="15085219" y="500062"/>
            <a:ext cx="1826990" cy="1771650"/>
            <a:chOff x="0" y="0"/>
            <a:chExt cx="2435987" cy="2362200"/>
          </a:xfrm>
        </p:grpSpPr>
        <p:sp>
          <p:nvSpPr>
            <p:cNvPr id="5" name="Freeform 5" descr="KRCE Tiruchirappalli : Admission 2024, Courses, Fees, Placement, Cut Off"/>
            <p:cNvSpPr/>
            <p:nvPr/>
          </p:nvSpPr>
          <p:spPr>
            <a:xfrm>
              <a:off x="0" y="0"/>
              <a:ext cx="2435987" cy="2362200"/>
            </a:xfrm>
            <a:custGeom>
              <a:avLst/>
              <a:gdLst/>
              <a:ahLst/>
              <a:cxnLst/>
              <a:rect l="l" t="t" r="r" b="b"/>
              <a:pathLst>
                <a:path w="2435987" h="2362200">
                  <a:moveTo>
                    <a:pt x="0" y="0"/>
                  </a:moveTo>
                  <a:lnTo>
                    <a:pt x="2435987" y="0"/>
                  </a:lnTo>
                  <a:lnTo>
                    <a:pt x="2435987" y="2362200"/>
                  </a:lnTo>
                  <a:lnTo>
                    <a:pt x="0" y="2362200"/>
                  </a:lnTo>
                  <a:lnTo>
                    <a:pt x="0" y="0"/>
                  </a:lnTo>
                  <a:close/>
                </a:path>
              </a:pathLst>
            </a:custGeom>
            <a:blipFill>
              <a:blip r:embed="rId3"/>
              <a:stretch>
                <a:fillRect r="-1"/>
              </a:stretch>
            </a:blipFill>
          </p:spPr>
        </p:sp>
      </p:grpSp>
      <p:sp>
        <p:nvSpPr>
          <p:cNvPr id="6" name="Freeform 6"/>
          <p:cNvSpPr/>
          <p:nvPr/>
        </p:nvSpPr>
        <p:spPr>
          <a:xfrm>
            <a:off x="2412997" y="2960684"/>
            <a:ext cx="260347" cy="260347"/>
          </a:xfrm>
          <a:custGeom>
            <a:avLst/>
            <a:gdLst/>
            <a:ahLst/>
            <a:cxnLst/>
            <a:rect l="l" t="t" r="r" b="b"/>
            <a:pathLst>
              <a:path w="260347" h="260347">
                <a:moveTo>
                  <a:pt x="0" y="0"/>
                </a:moveTo>
                <a:lnTo>
                  <a:pt x="260347" y="0"/>
                </a:lnTo>
                <a:lnTo>
                  <a:pt x="260347" y="260347"/>
                </a:lnTo>
                <a:lnTo>
                  <a:pt x="0" y="260347"/>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a:off x="2412997" y="5094284"/>
            <a:ext cx="260347" cy="260347"/>
          </a:xfrm>
          <a:custGeom>
            <a:avLst/>
            <a:gdLst/>
            <a:ahLst/>
            <a:cxnLst/>
            <a:rect l="l" t="t" r="r" b="b"/>
            <a:pathLst>
              <a:path w="260347" h="260347">
                <a:moveTo>
                  <a:pt x="0" y="0"/>
                </a:moveTo>
                <a:lnTo>
                  <a:pt x="260347" y="0"/>
                </a:lnTo>
                <a:lnTo>
                  <a:pt x="260347" y="260347"/>
                </a:lnTo>
                <a:lnTo>
                  <a:pt x="0" y="260347"/>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Freeform 8"/>
          <p:cNvSpPr/>
          <p:nvPr/>
        </p:nvSpPr>
        <p:spPr>
          <a:xfrm>
            <a:off x="2412997" y="5627684"/>
            <a:ext cx="260347" cy="260347"/>
          </a:xfrm>
          <a:custGeom>
            <a:avLst/>
            <a:gdLst/>
            <a:ahLst/>
            <a:cxnLst/>
            <a:rect l="l" t="t" r="r" b="b"/>
            <a:pathLst>
              <a:path w="260347" h="260347">
                <a:moveTo>
                  <a:pt x="0" y="0"/>
                </a:moveTo>
                <a:lnTo>
                  <a:pt x="260347" y="0"/>
                </a:lnTo>
                <a:lnTo>
                  <a:pt x="260347" y="260347"/>
                </a:lnTo>
                <a:lnTo>
                  <a:pt x="0" y="260347"/>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9" name="Freeform 9"/>
          <p:cNvSpPr/>
          <p:nvPr/>
        </p:nvSpPr>
        <p:spPr>
          <a:xfrm>
            <a:off x="2412997" y="6161084"/>
            <a:ext cx="260347" cy="260347"/>
          </a:xfrm>
          <a:custGeom>
            <a:avLst/>
            <a:gdLst/>
            <a:ahLst/>
            <a:cxnLst/>
            <a:rect l="l" t="t" r="r" b="b"/>
            <a:pathLst>
              <a:path w="260347" h="260347">
                <a:moveTo>
                  <a:pt x="0" y="0"/>
                </a:moveTo>
                <a:lnTo>
                  <a:pt x="260347" y="0"/>
                </a:lnTo>
                <a:lnTo>
                  <a:pt x="260347" y="260347"/>
                </a:lnTo>
                <a:lnTo>
                  <a:pt x="0" y="260347"/>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0" name="Freeform 10"/>
          <p:cNvSpPr/>
          <p:nvPr/>
        </p:nvSpPr>
        <p:spPr>
          <a:xfrm>
            <a:off x="2412997" y="6694484"/>
            <a:ext cx="260347" cy="260347"/>
          </a:xfrm>
          <a:custGeom>
            <a:avLst/>
            <a:gdLst/>
            <a:ahLst/>
            <a:cxnLst/>
            <a:rect l="l" t="t" r="r" b="b"/>
            <a:pathLst>
              <a:path w="260347" h="260347">
                <a:moveTo>
                  <a:pt x="0" y="0"/>
                </a:moveTo>
                <a:lnTo>
                  <a:pt x="260347" y="0"/>
                </a:lnTo>
                <a:lnTo>
                  <a:pt x="260347" y="260347"/>
                </a:lnTo>
                <a:lnTo>
                  <a:pt x="0" y="260347"/>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1" name="Freeform 11"/>
          <p:cNvSpPr/>
          <p:nvPr/>
        </p:nvSpPr>
        <p:spPr>
          <a:xfrm>
            <a:off x="2412997" y="7227884"/>
            <a:ext cx="260347" cy="260347"/>
          </a:xfrm>
          <a:custGeom>
            <a:avLst/>
            <a:gdLst/>
            <a:ahLst/>
            <a:cxnLst/>
            <a:rect l="l" t="t" r="r" b="b"/>
            <a:pathLst>
              <a:path w="260347" h="260347">
                <a:moveTo>
                  <a:pt x="0" y="0"/>
                </a:moveTo>
                <a:lnTo>
                  <a:pt x="260347" y="0"/>
                </a:lnTo>
                <a:lnTo>
                  <a:pt x="260347" y="260347"/>
                </a:lnTo>
                <a:lnTo>
                  <a:pt x="0" y="260347"/>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12" name="Freeform 12"/>
          <p:cNvSpPr/>
          <p:nvPr/>
        </p:nvSpPr>
        <p:spPr>
          <a:xfrm>
            <a:off x="2412997" y="7761284"/>
            <a:ext cx="260347" cy="260347"/>
          </a:xfrm>
          <a:custGeom>
            <a:avLst/>
            <a:gdLst/>
            <a:ahLst/>
            <a:cxnLst/>
            <a:rect l="l" t="t" r="r" b="b"/>
            <a:pathLst>
              <a:path w="260347" h="260347">
                <a:moveTo>
                  <a:pt x="0" y="0"/>
                </a:moveTo>
                <a:lnTo>
                  <a:pt x="260347" y="0"/>
                </a:lnTo>
                <a:lnTo>
                  <a:pt x="260347" y="260347"/>
                </a:lnTo>
                <a:lnTo>
                  <a:pt x="0" y="260347"/>
                </a:lnTo>
                <a:lnTo>
                  <a:pt x="0" y="0"/>
                </a:lnTo>
                <a:close/>
              </a:path>
            </a:pathLst>
          </a:custGeom>
          <a:blipFill>
            <a:blip>
              <a:extLst>
                <a:ext uri="{96DAC541-7B7A-43D3-8B79-37D633B846F1}">
                  <asvg:svgBlip xmlns:asvg="http://schemas.microsoft.com/office/drawing/2016/SVG/main" r:embed="rId10"/>
                </a:ext>
              </a:extLst>
            </a:blip>
            <a:stretch>
              <a:fillRect/>
            </a:stretch>
          </a:blipFill>
        </p:spPr>
      </p:sp>
      <p:sp>
        <p:nvSpPr>
          <p:cNvPr id="13" name="Freeform 13"/>
          <p:cNvSpPr/>
          <p:nvPr/>
        </p:nvSpPr>
        <p:spPr>
          <a:xfrm>
            <a:off x="2412997" y="8294684"/>
            <a:ext cx="260347" cy="260347"/>
          </a:xfrm>
          <a:custGeom>
            <a:avLst/>
            <a:gdLst/>
            <a:ahLst/>
            <a:cxnLst/>
            <a:rect l="l" t="t" r="r" b="b"/>
            <a:pathLst>
              <a:path w="260347" h="260347">
                <a:moveTo>
                  <a:pt x="0" y="0"/>
                </a:moveTo>
                <a:lnTo>
                  <a:pt x="260347" y="0"/>
                </a:lnTo>
                <a:lnTo>
                  <a:pt x="260347" y="260347"/>
                </a:lnTo>
                <a:lnTo>
                  <a:pt x="0" y="260347"/>
                </a:lnTo>
                <a:lnTo>
                  <a:pt x="0" y="0"/>
                </a:lnTo>
                <a:close/>
              </a:path>
            </a:pathLst>
          </a:custGeom>
          <a:blipFill>
            <a:blip>
              <a:extLst>
                <a:ext uri="{96DAC541-7B7A-43D3-8B79-37D633B846F1}">
                  <asvg:svgBlip xmlns:asvg="http://schemas.microsoft.com/office/drawing/2016/SVG/main" r:embed="rId11"/>
                </a:ext>
              </a:extLst>
            </a:blip>
            <a:stretch>
              <a:fillRect/>
            </a:stretch>
          </a:blipFill>
        </p:spPr>
      </p:sp>
      <p:sp>
        <p:nvSpPr>
          <p:cNvPr id="14" name="Freeform 14"/>
          <p:cNvSpPr/>
          <p:nvPr/>
        </p:nvSpPr>
        <p:spPr>
          <a:xfrm>
            <a:off x="2412997" y="8828084"/>
            <a:ext cx="260347" cy="260347"/>
          </a:xfrm>
          <a:custGeom>
            <a:avLst/>
            <a:gdLst/>
            <a:ahLst/>
            <a:cxnLst/>
            <a:rect l="l" t="t" r="r" b="b"/>
            <a:pathLst>
              <a:path w="260347" h="260347">
                <a:moveTo>
                  <a:pt x="0" y="0"/>
                </a:moveTo>
                <a:lnTo>
                  <a:pt x="260347" y="0"/>
                </a:lnTo>
                <a:lnTo>
                  <a:pt x="260347" y="260347"/>
                </a:lnTo>
                <a:lnTo>
                  <a:pt x="0" y="260347"/>
                </a:lnTo>
                <a:lnTo>
                  <a:pt x="0" y="0"/>
                </a:lnTo>
                <a:close/>
              </a:path>
            </a:pathLst>
          </a:custGeom>
          <a:blipFill>
            <a:blip>
              <a:extLst>
                <a:ext uri="{96DAC541-7B7A-43D3-8B79-37D633B846F1}">
                  <asvg:svgBlip xmlns:asvg="http://schemas.microsoft.com/office/drawing/2016/SVG/main" r:embed="rId12"/>
                </a:ext>
              </a:extLst>
            </a:blip>
            <a:stretch>
              <a:fillRect/>
            </a:stretch>
          </a:blipFill>
        </p:spPr>
      </p:sp>
      <p:sp>
        <p:nvSpPr>
          <p:cNvPr id="15" name="TextBox 15"/>
          <p:cNvSpPr txBox="1"/>
          <p:nvPr/>
        </p:nvSpPr>
        <p:spPr>
          <a:xfrm>
            <a:off x="6200480" y="981485"/>
            <a:ext cx="6002293" cy="693058"/>
          </a:xfrm>
          <a:prstGeom prst="rect">
            <a:avLst/>
          </a:prstGeom>
        </p:spPr>
        <p:txBody>
          <a:bodyPr lIns="0" tIns="0" rIns="0" bIns="0" rtlCol="0" anchor="t">
            <a:spAutoFit/>
          </a:bodyPr>
          <a:lstStyle/>
          <a:p>
            <a:pPr algn="l">
              <a:lnSpc>
                <a:spcPts val="5599"/>
              </a:lnSpc>
            </a:pPr>
            <a:r>
              <a:rPr lang="en-US" sz="3999" b="1">
                <a:solidFill>
                  <a:srgbClr val="000000"/>
                </a:solidFill>
                <a:latin typeface="Times New Roman Bold"/>
                <a:ea typeface="Times New Roman Bold"/>
                <a:cs typeface="Times New Roman Bold"/>
                <a:sym typeface="Times New Roman Bold"/>
              </a:rPr>
              <a:t>PROBLEM STATEMENT</a:t>
            </a:r>
          </a:p>
        </p:txBody>
      </p:sp>
      <p:sp>
        <p:nvSpPr>
          <p:cNvPr id="16" name="TextBox 16"/>
          <p:cNvSpPr txBox="1"/>
          <p:nvPr/>
        </p:nvSpPr>
        <p:spPr>
          <a:xfrm>
            <a:off x="914400" y="9629775"/>
            <a:ext cx="889197" cy="339090"/>
          </a:xfrm>
          <a:prstGeom prst="rect">
            <a:avLst/>
          </a:prstGeom>
        </p:spPr>
        <p:txBody>
          <a:bodyPr lIns="0" tIns="0" rIns="0" bIns="0" rtlCol="0" anchor="t">
            <a:spAutoFit/>
          </a:bodyPr>
          <a:lstStyle/>
          <a:p>
            <a:pPr algn="l">
              <a:lnSpc>
                <a:spcPts val="2520"/>
              </a:lnSpc>
            </a:pPr>
            <a:r>
              <a:rPr lang="en-US" sz="1800">
                <a:solidFill>
                  <a:srgbClr val="8B8B8B"/>
                </a:solidFill>
                <a:latin typeface="Calibri (MS)"/>
                <a:ea typeface="Calibri (MS)"/>
                <a:cs typeface="Calibri (MS)"/>
                <a:sym typeface="Calibri (MS)"/>
              </a:rPr>
              <a:t>9/6/2025</a:t>
            </a:r>
          </a:p>
        </p:txBody>
      </p:sp>
      <p:sp>
        <p:nvSpPr>
          <p:cNvPr id="17" name="TextBox 17"/>
          <p:cNvSpPr txBox="1"/>
          <p:nvPr/>
        </p:nvSpPr>
        <p:spPr>
          <a:xfrm>
            <a:off x="2047875" y="2274799"/>
            <a:ext cx="2345849" cy="1235088"/>
          </a:xfrm>
          <a:prstGeom prst="rect">
            <a:avLst/>
          </a:prstGeom>
        </p:spPr>
        <p:txBody>
          <a:bodyPr lIns="0" tIns="0" rIns="0" bIns="0" rtlCol="0" anchor="t">
            <a:spAutoFit/>
          </a:bodyPr>
          <a:lstStyle/>
          <a:p>
            <a:pPr algn="l">
              <a:lnSpc>
                <a:spcPts val="4899"/>
              </a:lnSpc>
            </a:pPr>
            <a:r>
              <a:rPr lang="en-US" sz="3499" b="1">
                <a:solidFill>
                  <a:srgbClr val="000000"/>
                </a:solidFill>
                <a:latin typeface="Times New Roman Bold"/>
                <a:ea typeface="Times New Roman Bold"/>
                <a:cs typeface="Times New Roman Bold"/>
                <a:sym typeface="Times New Roman Bold"/>
              </a:rPr>
              <a:t>Background</a:t>
            </a:r>
          </a:p>
          <a:p>
            <a:pPr algn="l">
              <a:lnSpc>
                <a:spcPts val="4899"/>
              </a:lnSpc>
            </a:pPr>
            <a:endParaRPr lang="en-US" sz="3499" b="1">
              <a:solidFill>
                <a:srgbClr val="000000"/>
              </a:solidFill>
              <a:latin typeface="Times New Roman Bold"/>
              <a:ea typeface="Times New Roman Bold"/>
              <a:cs typeface="Times New Roman Bold"/>
              <a:sym typeface="Times New Roman Bold"/>
            </a:endParaRPr>
          </a:p>
        </p:txBody>
      </p:sp>
      <p:sp>
        <p:nvSpPr>
          <p:cNvPr id="18" name="TextBox 18"/>
          <p:cNvSpPr txBox="1"/>
          <p:nvPr/>
        </p:nvSpPr>
        <p:spPr>
          <a:xfrm>
            <a:off x="2047875" y="4408399"/>
            <a:ext cx="3814896" cy="608762"/>
          </a:xfrm>
          <a:prstGeom prst="rect">
            <a:avLst/>
          </a:prstGeom>
        </p:spPr>
        <p:txBody>
          <a:bodyPr lIns="0" tIns="0" rIns="0" bIns="0" rtlCol="0" anchor="t">
            <a:spAutoFit/>
          </a:bodyPr>
          <a:lstStyle/>
          <a:p>
            <a:pPr algn="l">
              <a:lnSpc>
                <a:spcPts val="4899"/>
              </a:lnSpc>
            </a:pPr>
            <a:r>
              <a:rPr lang="en-US" sz="3499" b="1">
                <a:solidFill>
                  <a:srgbClr val="000000"/>
                </a:solidFill>
                <a:latin typeface="Times New Roman Bold"/>
                <a:ea typeface="Times New Roman Bold"/>
                <a:cs typeface="Times New Roman Bold"/>
                <a:sym typeface="Times New Roman Bold"/>
              </a:rPr>
              <a:t>Current Challenges</a:t>
            </a:r>
          </a:p>
        </p:txBody>
      </p:sp>
      <p:sp>
        <p:nvSpPr>
          <p:cNvPr id="19" name="TextBox 19"/>
          <p:cNvSpPr txBox="1"/>
          <p:nvPr/>
        </p:nvSpPr>
        <p:spPr>
          <a:xfrm>
            <a:off x="3692281" y="4923149"/>
            <a:ext cx="113328" cy="608762"/>
          </a:xfrm>
          <a:prstGeom prst="rect">
            <a:avLst/>
          </a:prstGeom>
        </p:spPr>
        <p:txBody>
          <a:bodyPr lIns="0" tIns="0" rIns="0" bIns="0" rtlCol="0" anchor="t">
            <a:spAutoFit/>
          </a:bodyPr>
          <a:lstStyle/>
          <a:p>
            <a:pPr algn="l">
              <a:lnSpc>
                <a:spcPts val="4899"/>
              </a:lnSpc>
            </a:pPr>
            <a:r>
              <a:rPr lang="en-US" sz="3499">
                <a:solidFill>
                  <a:srgbClr val="000000"/>
                </a:solidFill>
                <a:latin typeface="Times New Roman"/>
                <a:ea typeface="Times New Roman"/>
                <a:cs typeface="Times New Roman"/>
                <a:sym typeface="Times New Roman"/>
              </a:rPr>
              <a:t> </a:t>
            </a:r>
          </a:p>
        </p:txBody>
      </p:sp>
      <p:sp>
        <p:nvSpPr>
          <p:cNvPr id="20" name="TextBox 20"/>
          <p:cNvSpPr txBox="1"/>
          <p:nvPr/>
        </p:nvSpPr>
        <p:spPr>
          <a:xfrm>
            <a:off x="2803474" y="2853042"/>
            <a:ext cx="14727031" cy="1076133"/>
          </a:xfrm>
          <a:prstGeom prst="rect">
            <a:avLst/>
          </a:prstGeom>
        </p:spPr>
        <p:txBody>
          <a:bodyPr lIns="0" tIns="0" rIns="0" bIns="0" rtlCol="0" anchor="t">
            <a:spAutoFit/>
          </a:bodyPr>
          <a:lstStyle/>
          <a:p>
            <a:pPr algn="l">
              <a:lnSpc>
                <a:spcPts val="4125"/>
              </a:lnSpc>
            </a:pPr>
            <a:r>
              <a:rPr lang="en-US" sz="3499">
                <a:solidFill>
                  <a:srgbClr val="000000"/>
                </a:solidFill>
                <a:latin typeface="Times New Roman"/>
                <a:ea typeface="Times New Roman"/>
                <a:cs typeface="Times New Roman"/>
                <a:sym typeface="Times New Roman"/>
              </a:rPr>
              <a:t>Traditional loan approval systems rely on manual verification or fixed rule-based methods, making decisions slow, inconsistent, and prone to human errors.</a:t>
            </a:r>
          </a:p>
        </p:txBody>
      </p:sp>
      <p:sp>
        <p:nvSpPr>
          <p:cNvPr id="21" name="TextBox 21"/>
          <p:cNvSpPr txBox="1"/>
          <p:nvPr/>
        </p:nvSpPr>
        <p:spPr>
          <a:xfrm>
            <a:off x="2803474" y="4923149"/>
            <a:ext cx="3877542" cy="608762"/>
          </a:xfrm>
          <a:prstGeom prst="rect">
            <a:avLst/>
          </a:prstGeom>
        </p:spPr>
        <p:txBody>
          <a:bodyPr lIns="0" tIns="0" rIns="0" bIns="0" rtlCol="0" anchor="t">
            <a:spAutoFit/>
          </a:bodyPr>
          <a:lstStyle/>
          <a:p>
            <a:pPr algn="l">
              <a:lnSpc>
                <a:spcPts val="4899"/>
              </a:lnSpc>
            </a:pPr>
            <a:r>
              <a:rPr lang="en-US" sz="3499">
                <a:solidFill>
                  <a:srgbClr val="000000"/>
                </a:solidFill>
                <a:latin typeface="Times New Roman"/>
                <a:ea typeface="Times New Roman"/>
                <a:cs typeface="Times New Roman"/>
                <a:sym typeface="Times New Roman"/>
              </a:rPr>
              <a:t>High processing time</a:t>
            </a:r>
          </a:p>
        </p:txBody>
      </p:sp>
      <p:sp>
        <p:nvSpPr>
          <p:cNvPr id="22" name="TextBox 22"/>
          <p:cNvSpPr txBox="1"/>
          <p:nvPr/>
        </p:nvSpPr>
        <p:spPr>
          <a:xfrm>
            <a:off x="2803474" y="5520042"/>
            <a:ext cx="15671016" cy="4209212"/>
          </a:xfrm>
          <a:prstGeom prst="rect">
            <a:avLst/>
          </a:prstGeom>
        </p:spPr>
        <p:txBody>
          <a:bodyPr lIns="0" tIns="0" rIns="0" bIns="0" rtlCol="0" anchor="t">
            <a:spAutoFit/>
          </a:bodyPr>
          <a:lstStyle/>
          <a:p>
            <a:pPr algn="l">
              <a:lnSpc>
                <a:spcPts val="4125"/>
              </a:lnSpc>
            </a:pPr>
            <a:r>
              <a:rPr lang="en-US" sz="3499">
                <a:solidFill>
                  <a:srgbClr val="000000"/>
                </a:solidFill>
                <a:latin typeface="Times New Roman"/>
                <a:ea typeface="Times New Roman"/>
                <a:cs typeface="Times New Roman"/>
                <a:sym typeface="Times New Roman"/>
              </a:rPr>
              <a:t>Manual document verification</a:t>
            </a:r>
          </a:p>
          <a:p>
            <a:pPr algn="l">
              <a:lnSpc>
                <a:spcPts val="4125"/>
              </a:lnSpc>
            </a:pPr>
            <a:r>
              <a:rPr lang="en-US" sz="3499">
                <a:solidFill>
                  <a:srgbClr val="000000"/>
                </a:solidFill>
                <a:latin typeface="Times New Roman"/>
                <a:ea typeface="Times New Roman"/>
                <a:cs typeface="Times New Roman"/>
                <a:sym typeface="Times New Roman"/>
              </a:rPr>
              <a:t>Inconsistent decision-making</a:t>
            </a:r>
          </a:p>
          <a:p>
            <a:pPr algn="l">
              <a:lnSpc>
                <a:spcPts val="4125"/>
              </a:lnSpc>
            </a:pPr>
            <a:r>
              <a:rPr lang="en-US" sz="3499">
                <a:solidFill>
                  <a:srgbClr val="000000"/>
                </a:solidFill>
                <a:latin typeface="Times New Roman"/>
                <a:ea typeface="Times New Roman"/>
                <a:cs typeface="Times New Roman"/>
                <a:sym typeface="Times New Roman"/>
              </a:rPr>
              <a:t>Fraudulent applications</a:t>
            </a:r>
          </a:p>
          <a:p>
            <a:pPr algn="l">
              <a:lnSpc>
                <a:spcPts val="4125"/>
              </a:lnSpc>
            </a:pPr>
            <a:r>
              <a:rPr lang="en-US" sz="3499">
                <a:solidFill>
                  <a:srgbClr val="000000"/>
                </a:solidFill>
                <a:latin typeface="Times New Roman"/>
                <a:ea typeface="Times New Roman"/>
                <a:cs typeface="Times New Roman"/>
                <a:sym typeface="Times New Roman"/>
              </a:rPr>
              <a:t>Limited explainability</a:t>
            </a:r>
          </a:p>
          <a:p>
            <a:pPr algn="l">
              <a:lnSpc>
                <a:spcPts val="4125"/>
              </a:lnSpc>
            </a:pPr>
            <a:r>
              <a:rPr lang="en-US" sz="3499">
                <a:solidFill>
                  <a:srgbClr val="000000"/>
                </a:solidFill>
                <a:latin typeface="Times New Roman"/>
                <a:ea typeface="Times New Roman"/>
                <a:cs typeface="Times New Roman"/>
                <a:sym typeface="Times New Roman"/>
              </a:rPr>
              <a:t>Increasing loan defaults</a:t>
            </a:r>
          </a:p>
          <a:p>
            <a:pPr algn="l">
              <a:lnSpc>
                <a:spcPts val="4125"/>
              </a:lnSpc>
            </a:pPr>
            <a:r>
              <a:rPr lang="en-US" sz="3499">
                <a:solidFill>
                  <a:srgbClr val="000000"/>
                </a:solidFill>
                <a:latin typeface="Times New Roman"/>
                <a:ea typeface="Times New Roman"/>
                <a:cs typeface="Times New Roman"/>
                <a:sym typeface="Times New Roman"/>
              </a:rPr>
              <a:t>Need</a:t>
            </a:r>
          </a:p>
          <a:p>
            <a:pPr algn="l">
              <a:lnSpc>
                <a:spcPts val="4125"/>
              </a:lnSpc>
            </a:pPr>
            <a:r>
              <a:rPr lang="en-US" sz="3499">
                <a:solidFill>
                  <a:srgbClr val="000000"/>
                </a:solidFill>
                <a:latin typeface="Times New Roman"/>
                <a:ea typeface="Times New Roman"/>
                <a:cs typeface="Times New Roman"/>
                <a:sym typeface="Times New Roman"/>
              </a:rPr>
              <a:t>Develop an AI-powered reasoning engine that evaluates live applicant data using FQL rules.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47775" y="321469"/>
            <a:ext cx="1598295" cy="1585912"/>
            <a:chOff x="0" y="0"/>
            <a:chExt cx="2131060" cy="2114550"/>
          </a:xfrm>
        </p:grpSpPr>
        <p:sp>
          <p:nvSpPr>
            <p:cNvPr id="3" name="Freeform 3"/>
            <p:cNvSpPr/>
            <p:nvPr/>
          </p:nvSpPr>
          <p:spPr>
            <a:xfrm>
              <a:off x="0" y="0"/>
              <a:ext cx="2131060" cy="2114550"/>
            </a:xfrm>
            <a:custGeom>
              <a:avLst/>
              <a:gdLst/>
              <a:ahLst/>
              <a:cxnLst/>
              <a:rect l="l" t="t" r="r" b="b"/>
              <a:pathLst>
                <a:path w="2131060" h="2114550">
                  <a:moveTo>
                    <a:pt x="0" y="0"/>
                  </a:moveTo>
                  <a:lnTo>
                    <a:pt x="2131060" y="0"/>
                  </a:lnTo>
                  <a:lnTo>
                    <a:pt x="2131060" y="2114550"/>
                  </a:lnTo>
                  <a:lnTo>
                    <a:pt x="0" y="2114550"/>
                  </a:lnTo>
                  <a:lnTo>
                    <a:pt x="0" y="0"/>
                  </a:lnTo>
                  <a:close/>
                </a:path>
              </a:pathLst>
            </a:custGeom>
            <a:blipFill>
              <a:blip r:embed="rId2"/>
              <a:stretch>
                <a:fillRect/>
              </a:stretch>
            </a:blipFill>
          </p:spPr>
        </p:sp>
      </p:grpSp>
      <p:grpSp>
        <p:nvGrpSpPr>
          <p:cNvPr id="4" name="Group 4"/>
          <p:cNvGrpSpPr/>
          <p:nvPr/>
        </p:nvGrpSpPr>
        <p:grpSpPr>
          <a:xfrm>
            <a:off x="15085219" y="500062"/>
            <a:ext cx="1826990" cy="1771650"/>
            <a:chOff x="0" y="0"/>
            <a:chExt cx="2435987" cy="2362200"/>
          </a:xfrm>
        </p:grpSpPr>
        <p:sp>
          <p:nvSpPr>
            <p:cNvPr id="5" name="Freeform 5" descr="KRCE Tiruchirappalli : Admission 2024, Courses, Fees, Placement, Cut Off"/>
            <p:cNvSpPr/>
            <p:nvPr/>
          </p:nvSpPr>
          <p:spPr>
            <a:xfrm>
              <a:off x="0" y="0"/>
              <a:ext cx="2435987" cy="2362200"/>
            </a:xfrm>
            <a:custGeom>
              <a:avLst/>
              <a:gdLst/>
              <a:ahLst/>
              <a:cxnLst/>
              <a:rect l="l" t="t" r="r" b="b"/>
              <a:pathLst>
                <a:path w="2435987" h="2362200">
                  <a:moveTo>
                    <a:pt x="0" y="0"/>
                  </a:moveTo>
                  <a:lnTo>
                    <a:pt x="2435987" y="0"/>
                  </a:lnTo>
                  <a:lnTo>
                    <a:pt x="2435987" y="2362200"/>
                  </a:lnTo>
                  <a:lnTo>
                    <a:pt x="0" y="2362200"/>
                  </a:lnTo>
                  <a:lnTo>
                    <a:pt x="0" y="0"/>
                  </a:lnTo>
                  <a:close/>
                </a:path>
              </a:pathLst>
            </a:custGeom>
            <a:blipFill>
              <a:blip r:embed="rId3"/>
              <a:stretch>
                <a:fillRect r="-1"/>
              </a:stretch>
            </a:blipFill>
          </p:spPr>
        </p:sp>
      </p:grpSp>
      <p:grpSp>
        <p:nvGrpSpPr>
          <p:cNvPr id="6" name="Group 6"/>
          <p:cNvGrpSpPr/>
          <p:nvPr/>
        </p:nvGrpSpPr>
        <p:grpSpPr>
          <a:xfrm>
            <a:off x="967378" y="3233738"/>
            <a:ext cx="133350" cy="133350"/>
            <a:chOff x="0" y="0"/>
            <a:chExt cx="133350" cy="133350"/>
          </a:xfrm>
        </p:grpSpPr>
        <p:sp>
          <p:nvSpPr>
            <p:cNvPr id="7" name="Freeform 7"/>
            <p:cNvSpPr/>
            <p:nvPr/>
          </p:nvSpPr>
          <p:spPr>
            <a:xfrm>
              <a:off x="0" y="0"/>
              <a:ext cx="133350" cy="133350"/>
            </a:xfrm>
            <a:custGeom>
              <a:avLst/>
              <a:gdLst/>
              <a:ahLst/>
              <a:cxnLst/>
              <a:rect l="l" t="t" r="r" b="b"/>
              <a:pathLst>
                <a:path w="133350" h="133350">
                  <a:moveTo>
                    <a:pt x="133350" y="66675"/>
                  </a:moveTo>
                  <a:cubicBezTo>
                    <a:pt x="133350" y="70993"/>
                    <a:pt x="132969" y="75438"/>
                    <a:pt x="132080" y="79629"/>
                  </a:cubicBezTo>
                  <a:cubicBezTo>
                    <a:pt x="131191" y="83820"/>
                    <a:pt x="129921" y="88138"/>
                    <a:pt x="128270" y="92075"/>
                  </a:cubicBezTo>
                  <a:cubicBezTo>
                    <a:pt x="126619" y="96012"/>
                    <a:pt x="124587" y="99949"/>
                    <a:pt x="122047" y="103632"/>
                  </a:cubicBezTo>
                  <a:cubicBezTo>
                    <a:pt x="119507" y="107315"/>
                    <a:pt x="116840" y="110617"/>
                    <a:pt x="113792" y="113792"/>
                  </a:cubicBezTo>
                  <a:cubicBezTo>
                    <a:pt x="110744" y="116967"/>
                    <a:pt x="107315" y="119634"/>
                    <a:pt x="103632" y="122047"/>
                  </a:cubicBezTo>
                  <a:cubicBezTo>
                    <a:pt x="99949" y="124460"/>
                    <a:pt x="96139" y="126492"/>
                    <a:pt x="92075" y="128270"/>
                  </a:cubicBezTo>
                  <a:cubicBezTo>
                    <a:pt x="88011" y="130048"/>
                    <a:pt x="83820" y="131191"/>
                    <a:pt x="79629" y="132080"/>
                  </a:cubicBezTo>
                  <a:cubicBezTo>
                    <a:pt x="75438" y="132969"/>
                    <a:pt x="70993" y="133350"/>
                    <a:pt x="66675" y="133350"/>
                  </a:cubicBezTo>
                  <a:cubicBezTo>
                    <a:pt x="62357" y="133350"/>
                    <a:pt x="57912" y="132969"/>
                    <a:pt x="53721" y="132080"/>
                  </a:cubicBezTo>
                  <a:cubicBezTo>
                    <a:pt x="49530" y="131191"/>
                    <a:pt x="45212" y="129921"/>
                    <a:pt x="41275" y="128270"/>
                  </a:cubicBezTo>
                  <a:cubicBezTo>
                    <a:pt x="37338" y="126619"/>
                    <a:pt x="33401" y="124587"/>
                    <a:pt x="29718" y="122047"/>
                  </a:cubicBezTo>
                  <a:cubicBezTo>
                    <a:pt x="26035" y="119507"/>
                    <a:pt x="22733" y="116840"/>
                    <a:pt x="19558" y="113792"/>
                  </a:cubicBezTo>
                  <a:cubicBezTo>
                    <a:pt x="16383" y="110744"/>
                    <a:pt x="13716" y="107315"/>
                    <a:pt x="11303" y="103632"/>
                  </a:cubicBezTo>
                  <a:cubicBezTo>
                    <a:pt x="8890" y="99949"/>
                    <a:pt x="6731" y="96266"/>
                    <a:pt x="5080" y="92202"/>
                  </a:cubicBezTo>
                  <a:cubicBezTo>
                    <a:pt x="3429" y="88138"/>
                    <a:pt x="2159" y="83947"/>
                    <a:pt x="1270" y="79629"/>
                  </a:cubicBezTo>
                  <a:cubicBezTo>
                    <a:pt x="381" y="75311"/>
                    <a:pt x="0" y="70993"/>
                    <a:pt x="0" y="66675"/>
                  </a:cubicBezTo>
                  <a:cubicBezTo>
                    <a:pt x="0" y="62357"/>
                    <a:pt x="381" y="57912"/>
                    <a:pt x="1270" y="53721"/>
                  </a:cubicBezTo>
                  <a:cubicBezTo>
                    <a:pt x="2159" y="49530"/>
                    <a:pt x="3429" y="45212"/>
                    <a:pt x="5080" y="41275"/>
                  </a:cubicBezTo>
                  <a:cubicBezTo>
                    <a:pt x="6731" y="37338"/>
                    <a:pt x="8763" y="33401"/>
                    <a:pt x="11303" y="29718"/>
                  </a:cubicBezTo>
                  <a:cubicBezTo>
                    <a:pt x="13843" y="26035"/>
                    <a:pt x="16510" y="22733"/>
                    <a:pt x="19558" y="19558"/>
                  </a:cubicBezTo>
                  <a:cubicBezTo>
                    <a:pt x="22606" y="16383"/>
                    <a:pt x="26035" y="13716"/>
                    <a:pt x="29718" y="11303"/>
                  </a:cubicBezTo>
                  <a:cubicBezTo>
                    <a:pt x="33401" y="8890"/>
                    <a:pt x="37211" y="6858"/>
                    <a:pt x="41275" y="5080"/>
                  </a:cubicBezTo>
                  <a:cubicBezTo>
                    <a:pt x="45339" y="3302"/>
                    <a:pt x="49530" y="2159"/>
                    <a:pt x="53721" y="1270"/>
                  </a:cubicBezTo>
                  <a:cubicBezTo>
                    <a:pt x="57912" y="381"/>
                    <a:pt x="62357" y="0"/>
                    <a:pt x="66675" y="0"/>
                  </a:cubicBezTo>
                  <a:cubicBezTo>
                    <a:pt x="70993" y="0"/>
                    <a:pt x="75438" y="381"/>
                    <a:pt x="79629" y="1270"/>
                  </a:cubicBezTo>
                  <a:cubicBezTo>
                    <a:pt x="83820" y="2159"/>
                    <a:pt x="88138" y="3429"/>
                    <a:pt x="92075" y="5080"/>
                  </a:cubicBezTo>
                  <a:cubicBezTo>
                    <a:pt x="96012" y="6731"/>
                    <a:pt x="99949" y="8763"/>
                    <a:pt x="103632" y="11303"/>
                  </a:cubicBezTo>
                  <a:cubicBezTo>
                    <a:pt x="107315" y="13843"/>
                    <a:pt x="110617" y="16510"/>
                    <a:pt x="113792" y="19558"/>
                  </a:cubicBezTo>
                  <a:cubicBezTo>
                    <a:pt x="116967" y="22606"/>
                    <a:pt x="119634" y="26035"/>
                    <a:pt x="122047" y="29718"/>
                  </a:cubicBezTo>
                  <a:cubicBezTo>
                    <a:pt x="124460" y="33401"/>
                    <a:pt x="126492" y="37211"/>
                    <a:pt x="128270" y="41275"/>
                  </a:cubicBezTo>
                  <a:cubicBezTo>
                    <a:pt x="130048" y="45339"/>
                    <a:pt x="131191" y="49530"/>
                    <a:pt x="132080" y="53721"/>
                  </a:cubicBezTo>
                  <a:cubicBezTo>
                    <a:pt x="132969" y="57912"/>
                    <a:pt x="133350" y="62357"/>
                    <a:pt x="133350" y="66675"/>
                  </a:cubicBezTo>
                  <a:close/>
                </a:path>
              </a:pathLst>
            </a:custGeom>
            <a:solidFill>
              <a:srgbClr val="000000"/>
            </a:solidFill>
          </p:spPr>
        </p:sp>
      </p:grpSp>
      <p:grpSp>
        <p:nvGrpSpPr>
          <p:cNvPr id="8" name="Group 8"/>
          <p:cNvGrpSpPr/>
          <p:nvPr/>
        </p:nvGrpSpPr>
        <p:grpSpPr>
          <a:xfrm>
            <a:off x="967378" y="3852862"/>
            <a:ext cx="133350" cy="133350"/>
            <a:chOff x="0" y="0"/>
            <a:chExt cx="133350" cy="133350"/>
          </a:xfrm>
        </p:grpSpPr>
        <p:sp>
          <p:nvSpPr>
            <p:cNvPr id="9" name="Freeform 9"/>
            <p:cNvSpPr/>
            <p:nvPr/>
          </p:nvSpPr>
          <p:spPr>
            <a:xfrm>
              <a:off x="0" y="0"/>
              <a:ext cx="133350" cy="133350"/>
            </a:xfrm>
            <a:custGeom>
              <a:avLst/>
              <a:gdLst/>
              <a:ahLst/>
              <a:cxnLst/>
              <a:rect l="l" t="t" r="r" b="b"/>
              <a:pathLst>
                <a:path w="133350" h="133350">
                  <a:moveTo>
                    <a:pt x="133350" y="66675"/>
                  </a:moveTo>
                  <a:cubicBezTo>
                    <a:pt x="133350" y="70993"/>
                    <a:pt x="132969" y="75438"/>
                    <a:pt x="132080" y="79629"/>
                  </a:cubicBezTo>
                  <a:cubicBezTo>
                    <a:pt x="131191" y="83820"/>
                    <a:pt x="129921" y="88138"/>
                    <a:pt x="128270" y="92075"/>
                  </a:cubicBezTo>
                  <a:cubicBezTo>
                    <a:pt x="126619" y="96012"/>
                    <a:pt x="124587" y="99949"/>
                    <a:pt x="122047" y="103632"/>
                  </a:cubicBezTo>
                  <a:cubicBezTo>
                    <a:pt x="119507" y="107315"/>
                    <a:pt x="116840" y="110617"/>
                    <a:pt x="113792" y="113792"/>
                  </a:cubicBezTo>
                  <a:cubicBezTo>
                    <a:pt x="110744" y="116967"/>
                    <a:pt x="107315" y="119634"/>
                    <a:pt x="103632" y="122047"/>
                  </a:cubicBezTo>
                  <a:cubicBezTo>
                    <a:pt x="99949" y="124460"/>
                    <a:pt x="96139" y="126492"/>
                    <a:pt x="92075" y="128270"/>
                  </a:cubicBezTo>
                  <a:cubicBezTo>
                    <a:pt x="88011" y="130048"/>
                    <a:pt x="83820" y="131191"/>
                    <a:pt x="79629" y="132080"/>
                  </a:cubicBezTo>
                  <a:cubicBezTo>
                    <a:pt x="75438" y="132969"/>
                    <a:pt x="70993" y="133350"/>
                    <a:pt x="66675" y="133350"/>
                  </a:cubicBezTo>
                  <a:cubicBezTo>
                    <a:pt x="62357" y="133350"/>
                    <a:pt x="57912" y="132969"/>
                    <a:pt x="53721" y="132080"/>
                  </a:cubicBezTo>
                  <a:cubicBezTo>
                    <a:pt x="49530" y="131191"/>
                    <a:pt x="45212" y="129921"/>
                    <a:pt x="41275" y="128270"/>
                  </a:cubicBezTo>
                  <a:cubicBezTo>
                    <a:pt x="37338" y="126619"/>
                    <a:pt x="33401" y="124587"/>
                    <a:pt x="29718" y="122047"/>
                  </a:cubicBezTo>
                  <a:cubicBezTo>
                    <a:pt x="26035" y="119507"/>
                    <a:pt x="22733" y="116840"/>
                    <a:pt x="19558" y="113792"/>
                  </a:cubicBezTo>
                  <a:cubicBezTo>
                    <a:pt x="16383" y="110744"/>
                    <a:pt x="13716" y="107315"/>
                    <a:pt x="11303" y="103632"/>
                  </a:cubicBezTo>
                  <a:cubicBezTo>
                    <a:pt x="8890" y="99949"/>
                    <a:pt x="6731" y="96266"/>
                    <a:pt x="5080" y="92202"/>
                  </a:cubicBezTo>
                  <a:cubicBezTo>
                    <a:pt x="3429" y="88138"/>
                    <a:pt x="2159" y="83947"/>
                    <a:pt x="1270" y="79629"/>
                  </a:cubicBezTo>
                  <a:cubicBezTo>
                    <a:pt x="381" y="75311"/>
                    <a:pt x="0" y="70993"/>
                    <a:pt x="0" y="66675"/>
                  </a:cubicBezTo>
                  <a:cubicBezTo>
                    <a:pt x="0" y="62357"/>
                    <a:pt x="381" y="57912"/>
                    <a:pt x="1270" y="53721"/>
                  </a:cubicBezTo>
                  <a:cubicBezTo>
                    <a:pt x="2159" y="49530"/>
                    <a:pt x="3429" y="45212"/>
                    <a:pt x="5080" y="41275"/>
                  </a:cubicBezTo>
                  <a:cubicBezTo>
                    <a:pt x="6731" y="37338"/>
                    <a:pt x="8763" y="33401"/>
                    <a:pt x="11303" y="29718"/>
                  </a:cubicBezTo>
                  <a:cubicBezTo>
                    <a:pt x="13843" y="26035"/>
                    <a:pt x="16510" y="22733"/>
                    <a:pt x="19558" y="19558"/>
                  </a:cubicBezTo>
                  <a:cubicBezTo>
                    <a:pt x="22606" y="16383"/>
                    <a:pt x="26035" y="13716"/>
                    <a:pt x="29718" y="11303"/>
                  </a:cubicBezTo>
                  <a:cubicBezTo>
                    <a:pt x="33401" y="8890"/>
                    <a:pt x="37211" y="6858"/>
                    <a:pt x="41275" y="5080"/>
                  </a:cubicBezTo>
                  <a:cubicBezTo>
                    <a:pt x="45339" y="3302"/>
                    <a:pt x="49530" y="2159"/>
                    <a:pt x="53721" y="1270"/>
                  </a:cubicBezTo>
                  <a:cubicBezTo>
                    <a:pt x="57912" y="381"/>
                    <a:pt x="62357" y="0"/>
                    <a:pt x="66675" y="0"/>
                  </a:cubicBezTo>
                  <a:cubicBezTo>
                    <a:pt x="70993" y="0"/>
                    <a:pt x="75438" y="381"/>
                    <a:pt x="79629" y="1270"/>
                  </a:cubicBezTo>
                  <a:cubicBezTo>
                    <a:pt x="83820" y="2159"/>
                    <a:pt x="88138" y="3429"/>
                    <a:pt x="92075" y="5080"/>
                  </a:cubicBezTo>
                  <a:cubicBezTo>
                    <a:pt x="96012" y="6731"/>
                    <a:pt x="99949" y="8763"/>
                    <a:pt x="103632" y="11303"/>
                  </a:cubicBezTo>
                  <a:cubicBezTo>
                    <a:pt x="107315" y="13843"/>
                    <a:pt x="110617" y="16510"/>
                    <a:pt x="113792" y="19558"/>
                  </a:cubicBezTo>
                  <a:cubicBezTo>
                    <a:pt x="116967" y="22606"/>
                    <a:pt x="119634" y="26035"/>
                    <a:pt x="122047" y="29718"/>
                  </a:cubicBezTo>
                  <a:cubicBezTo>
                    <a:pt x="124460" y="33401"/>
                    <a:pt x="126492" y="37211"/>
                    <a:pt x="128270" y="41275"/>
                  </a:cubicBezTo>
                  <a:cubicBezTo>
                    <a:pt x="130048" y="45339"/>
                    <a:pt x="131191" y="49530"/>
                    <a:pt x="132080" y="53721"/>
                  </a:cubicBezTo>
                  <a:cubicBezTo>
                    <a:pt x="132969" y="57912"/>
                    <a:pt x="133350" y="62357"/>
                    <a:pt x="133350" y="66675"/>
                  </a:cubicBezTo>
                  <a:close/>
                </a:path>
              </a:pathLst>
            </a:custGeom>
            <a:solidFill>
              <a:srgbClr val="000000"/>
            </a:solidFill>
          </p:spPr>
        </p:sp>
      </p:grpSp>
      <p:grpSp>
        <p:nvGrpSpPr>
          <p:cNvPr id="10" name="Group 10"/>
          <p:cNvGrpSpPr/>
          <p:nvPr/>
        </p:nvGrpSpPr>
        <p:grpSpPr>
          <a:xfrm>
            <a:off x="967378" y="4471988"/>
            <a:ext cx="133350" cy="133350"/>
            <a:chOff x="0" y="0"/>
            <a:chExt cx="133350" cy="133350"/>
          </a:xfrm>
        </p:grpSpPr>
        <p:sp>
          <p:nvSpPr>
            <p:cNvPr id="11" name="Freeform 11"/>
            <p:cNvSpPr/>
            <p:nvPr/>
          </p:nvSpPr>
          <p:spPr>
            <a:xfrm>
              <a:off x="0" y="0"/>
              <a:ext cx="133350" cy="133350"/>
            </a:xfrm>
            <a:custGeom>
              <a:avLst/>
              <a:gdLst/>
              <a:ahLst/>
              <a:cxnLst/>
              <a:rect l="l" t="t" r="r" b="b"/>
              <a:pathLst>
                <a:path w="133350" h="133350">
                  <a:moveTo>
                    <a:pt x="133350" y="66675"/>
                  </a:moveTo>
                  <a:cubicBezTo>
                    <a:pt x="133350" y="70993"/>
                    <a:pt x="132969" y="75438"/>
                    <a:pt x="132080" y="79629"/>
                  </a:cubicBezTo>
                  <a:cubicBezTo>
                    <a:pt x="131191" y="83820"/>
                    <a:pt x="129921" y="88138"/>
                    <a:pt x="128270" y="92075"/>
                  </a:cubicBezTo>
                  <a:cubicBezTo>
                    <a:pt x="126619" y="96012"/>
                    <a:pt x="124587" y="99949"/>
                    <a:pt x="122047" y="103632"/>
                  </a:cubicBezTo>
                  <a:cubicBezTo>
                    <a:pt x="119507" y="107315"/>
                    <a:pt x="116840" y="110617"/>
                    <a:pt x="113792" y="113792"/>
                  </a:cubicBezTo>
                  <a:cubicBezTo>
                    <a:pt x="110744" y="116967"/>
                    <a:pt x="107315" y="119634"/>
                    <a:pt x="103632" y="122047"/>
                  </a:cubicBezTo>
                  <a:cubicBezTo>
                    <a:pt x="99949" y="124460"/>
                    <a:pt x="96139" y="126492"/>
                    <a:pt x="92075" y="128270"/>
                  </a:cubicBezTo>
                  <a:cubicBezTo>
                    <a:pt x="88011" y="130048"/>
                    <a:pt x="83820" y="131191"/>
                    <a:pt x="79629" y="132080"/>
                  </a:cubicBezTo>
                  <a:cubicBezTo>
                    <a:pt x="75438" y="132969"/>
                    <a:pt x="70993" y="133350"/>
                    <a:pt x="66675" y="133350"/>
                  </a:cubicBezTo>
                  <a:cubicBezTo>
                    <a:pt x="62357" y="133350"/>
                    <a:pt x="57912" y="132969"/>
                    <a:pt x="53721" y="132080"/>
                  </a:cubicBezTo>
                  <a:cubicBezTo>
                    <a:pt x="49530" y="131191"/>
                    <a:pt x="45212" y="129921"/>
                    <a:pt x="41275" y="128270"/>
                  </a:cubicBezTo>
                  <a:cubicBezTo>
                    <a:pt x="37338" y="126619"/>
                    <a:pt x="33401" y="124587"/>
                    <a:pt x="29718" y="122047"/>
                  </a:cubicBezTo>
                  <a:cubicBezTo>
                    <a:pt x="26035" y="119507"/>
                    <a:pt x="22733" y="116840"/>
                    <a:pt x="19558" y="113792"/>
                  </a:cubicBezTo>
                  <a:cubicBezTo>
                    <a:pt x="16383" y="110744"/>
                    <a:pt x="13716" y="107315"/>
                    <a:pt x="11303" y="103632"/>
                  </a:cubicBezTo>
                  <a:cubicBezTo>
                    <a:pt x="8890" y="99949"/>
                    <a:pt x="6731" y="96266"/>
                    <a:pt x="5080" y="92202"/>
                  </a:cubicBezTo>
                  <a:cubicBezTo>
                    <a:pt x="3429" y="88138"/>
                    <a:pt x="2159" y="83947"/>
                    <a:pt x="1270" y="79629"/>
                  </a:cubicBezTo>
                  <a:cubicBezTo>
                    <a:pt x="381" y="75311"/>
                    <a:pt x="0" y="70993"/>
                    <a:pt x="0" y="66675"/>
                  </a:cubicBezTo>
                  <a:cubicBezTo>
                    <a:pt x="0" y="62357"/>
                    <a:pt x="381" y="57912"/>
                    <a:pt x="1270" y="53721"/>
                  </a:cubicBezTo>
                  <a:cubicBezTo>
                    <a:pt x="2159" y="49530"/>
                    <a:pt x="3429" y="45212"/>
                    <a:pt x="5080" y="41275"/>
                  </a:cubicBezTo>
                  <a:cubicBezTo>
                    <a:pt x="6731" y="37338"/>
                    <a:pt x="8763" y="33401"/>
                    <a:pt x="11303" y="29718"/>
                  </a:cubicBezTo>
                  <a:cubicBezTo>
                    <a:pt x="13843" y="26035"/>
                    <a:pt x="16510" y="22733"/>
                    <a:pt x="19558" y="19558"/>
                  </a:cubicBezTo>
                  <a:cubicBezTo>
                    <a:pt x="22606" y="16383"/>
                    <a:pt x="26035" y="13716"/>
                    <a:pt x="29718" y="11303"/>
                  </a:cubicBezTo>
                  <a:cubicBezTo>
                    <a:pt x="33401" y="8890"/>
                    <a:pt x="37211" y="6858"/>
                    <a:pt x="41275" y="5080"/>
                  </a:cubicBezTo>
                  <a:cubicBezTo>
                    <a:pt x="45339" y="3302"/>
                    <a:pt x="49530" y="2159"/>
                    <a:pt x="53721" y="1270"/>
                  </a:cubicBezTo>
                  <a:cubicBezTo>
                    <a:pt x="57912" y="381"/>
                    <a:pt x="62357" y="0"/>
                    <a:pt x="66675" y="0"/>
                  </a:cubicBezTo>
                  <a:cubicBezTo>
                    <a:pt x="70993" y="0"/>
                    <a:pt x="75438" y="381"/>
                    <a:pt x="79629" y="1270"/>
                  </a:cubicBezTo>
                  <a:cubicBezTo>
                    <a:pt x="83820" y="2159"/>
                    <a:pt x="88138" y="3429"/>
                    <a:pt x="92075" y="5080"/>
                  </a:cubicBezTo>
                  <a:cubicBezTo>
                    <a:pt x="96012" y="6731"/>
                    <a:pt x="99949" y="8763"/>
                    <a:pt x="103632" y="11303"/>
                  </a:cubicBezTo>
                  <a:cubicBezTo>
                    <a:pt x="107315" y="13843"/>
                    <a:pt x="110617" y="16510"/>
                    <a:pt x="113792" y="19558"/>
                  </a:cubicBezTo>
                  <a:cubicBezTo>
                    <a:pt x="116967" y="22606"/>
                    <a:pt x="119634" y="26035"/>
                    <a:pt x="122047" y="29718"/>
                  </a:cubicBezTo>
                  <a:cubicBezTo>
                    <a:pt x="124460" y="33401"/>
                    <a:pt x="126492" y="37211"/>
                    <a:pt x="128270" y="41275"/>
                  </a:cubicBezTo>
                  <a:cubicBezTo>
                    <a:pt x="130048" y="45339"/>
                    <a:pt x="131191" y="49530"/>
                    <a:pt x="132080" y="53721"/>
                  </a:cubicBezTo>
                  <a:cubicBezTo>
                    <a:pt x="132969" y="57912"/>
                    <a:pt x="133350" y="62357"/>
                    <a:pt x="133350" y="66675"/>
                  </a:cubicBezTo>
                  <a:close/>
                </a:path>
              </a:pathLst>
            </a:custGeom>
            <a:solidFill>
              <a:srgbClr val="000000"/>
            </a:solidFill>
          </p:spPr>
        </p:sp>
      </p:grpSp>
      <p:grpSp>
        <p:nvGrpSpPr>
          <p:cNvPr id="12" name="Group 12"/>
          <p:cNvGrpSpPr/>
          <p:nvPr/>
        </p:nvGrpSpPr>
        <p:grpSpPr>
          <a:xfrm>
            <a:off x="967378" y="5091112"/>
            <a:ext cx="133350" cy="133350"/>
            <a:chOff x="0" y="0"/>
            <a:chExt cx="133350" cy="133350"/>
          </a:xfrm>
        </p:grpSpPr>
        <p:sp>
          <p:nvSpPr>
            <p:cNvPr id="13" name="Freeform 13"/>
            <p:cNvSpPr/>
            <p:nvPr/>
          </p:nvSpPr>
          <p:spPr>
            <a:xfrm>
              <a:off x="0" y="0"/>
              <a:ext cx="133350" cy="133350"/>
            </a:xfrm>
            <a:custGeom>
              <a:avLst/>
              <a:gdLst/>
              <a:ahLst/>
              <a:cxnLst/>
              <a:rect l="l" t="t" r="r" b="b"/>
              <a:pathLst>
                <a:path w="133350" h="133350">
                  <a:moveTo>
                    <a:pt x="133350" y="66675"/>
                  </a:moveTo>
                  <a:cubicBezTo>
                    <a:pt x="133350" y="70993"/>
                    <a:pt x="132969" y="75438"/>
                    <a:pt x="132080" y="79629"/>
                  </a:cubicBezTo>
                  <a:cubicBezTo>
                    <a:pt x="131191" y="83820"/>
                    <a:pt x="129921" y="88138"/>
                    <a:pt x="128270" y="92075"/>
                  </a:cubicBezTo>
                  <a:cubicBezTo>
                    <a:pt x="126619" y="96012"/>
                    <a:pt x="124587" y="99949"/>
                    <a:pt x="122047" y="103632"/>
                  </a:cubicBezTo>
                  <a:cubicBezTo>
                    <a:pt x="119507" y="107315"/>
                    <a:pt x="116840" y="110617"/>
                    <a:pt x="113792" y="113792"/>
                  </a:cubicBezTo>
                  <a:cubicBezTo>
                    <a:pt x="110744" y="116967"/>
                    <a:pt x="107315" y="119634"/>
                    <a:pt x="103632" y="122047"/>
                  </a:cubicBezTo>
                  <a:cubicBezTo>
                    <a:pt x="99949" y="124460"/>
                    <a:pt x="96139" y="126492"/>
                    <a:pt x="92075" y="128270"/>
                  </a:cubicBezTo>
                  <a:cubicBezTo>
                    <a:pt x="88011" y="130048"/>
                    <a:pt x="83820" y="131191"/>
                    <a:pt x="79629" y="132080"/>
                  </a:cubicBezTo>
                  <a:cubicBezTo>
                    <a:pt x="75438" y="132969"/>
                    <a:pt x="70993" y="133350"/>
                    <a:pt x="66675" y="133350"/>
                  </a:cubicBezTo>
                  <a:cubicBezTo>
                    <a:pt x="62357" y="133350"/>
                    <a:pt x="57912" y="132969"/>
                    <a:pt x="53721" y="132080"/>
                  </a:cubicBezTo>
                  <a:cubicBezTo>
                    <a:pt x="49530" y="131191"/>
                    <a:pt x="45212" y="129921"/>
                    <a:pt x="41275" y="128270"/>
                  </a:cubicBezTo>
                  <a:cubicBezTo>
                    <a:pt x="37338" y="126619"/>
                    <a:pt x="33401" y="124587"/>
                    <a:pt x="29718" y="122047"/>
                  </a:cubicBezTo>
                  <a:cubicBezTo>
                    <a:pt x="26035" y="119507"/>
                    <a:pt x="22733" y="116840"/>
                    <a:pt x="19558" y="113792"/>
                  </a:cubicBezTo>
                  <a:cubicBezTo>
                    <a:pt x="16383" y="110744"/>
                    <a:pt x="13716" y="107315"/>
                    <a:pt x="11303" y="103632"/>
                  </a:cubicBezTo>
                  <a:cubicBezTo>
                    <a:pt x="8890" y="99949"/>
                    <a:pt x="6731" y="96266"/>
                    <a:pt x="5080" y="92202"/>
                  </a:cubicBezTo>
                  <a:cubicBezTo>
                    <a:pt x="3429" y="88138"/>
                    <a:pt x="2159" y="83947"/>
                    <a:pt x="1270" y="79629"/>
                  </a:cubicBezTo>
                  <a:cubicBezTo>
                    <a:pt x="381" y="75311"/>
                    <a:pt x="0" y="70993"/>
                    <a:pt x="0" y="66675"/>
                  </a:cubicBezTo>
                  <a:cubicBezTo>
                    <a:pt x="0" y="62357"/>
                    <a:pt x="381" y="57912"/>
                    <a:pt x="1270" y="53721"/>
                  </a:cubicBezTo>
                  <a:cubicBezTo>
                    <a:pt x="2159" y="49530"/>
                    <a:pt x="3429" y="45212"/>
                    <a:pt x="5080" y="41275"/>
                  </a:cubicBezTo>
                  <a:cubicBezTo>
                    <a:pt x="6731" y="37338"/>
                    <a:pt x="8763" y="33401"/>
                    <a:pt x="11303" y="29718"/>
                  </a:cubicBezTo>
                  <a:cubicBezTo>
                    <a:pt x="13843" y="26035"/>
                    <a:pt x="16510" y="22733"/>
                    <a:pt x="19558" y="19558"/>
                  </a:cubicBezTo>
                  <a:cubicBezTo>
                    <a:pt x="22606" y="16383"/>
                    <a:pt x="26035" y="13716"/>
                    <a:pt x="29718" y="11303"/>
                  </a:cubicBezTo>
                  <a:cubicBezTo>
                    <a:pt x="33401" y="8890"/>
                    <a:pt x="37211" y="6858"/>
                    <a:pt x="41275" y="5080"/>
                  </a:cubicBezTo>
                  <a:cubicBezTo>
                    <a:pt x="45339" y="3302"/>
                    <a:pt x="49530" y="2159"/>
                    <a:pt x="53721" y="1270"/>
                  </a:cubicBezTo>
                  <a:cubicBezTo>
                    <a:pt x="57912" y="381"/>
                    <a:pt x="62357" y="0"/>
                    <a:pt x="66675" y="0"/>
                  </a:cubicBezTo>
                  <a:cubicBezTo>
                    <a:pt x="70993" y="0"/>
                    <a:pt x="75438" y="381"/>
                    <a:pt x="79629" y="1270"/>
                  </a:cubicBezTo>
                  <a:cubicBezTo>
                    <a:pt x="83820" y="2159"/>
                    <a:pt x="88138" y="3429"/>
                    <a:pt x="92075" y="5080"/>
                  </a:cubicBezTo>
                  <a:cubicBezTo>
                    <a:pt x="96012" y="6731"/>
                    <a:pt x="99949" y="8763"/>
                    <a:pt x="103632" y="11303"/>
                  </a:cubicBezTo>
                  <a:cubicBezTo>
                    <a:pt x="107315" y="13843"/>
                    <a:pt x="110617" y="16510"/>
                    <a:pt x="113792" y="19558"/>
                  </a:cubicBezTo>
                  <a:cubicBezTo>
                    <a:pt x="116967" y="22606"/>
                    <a:pt x="119634" y="26035"/>
                    <a:pt x="122047" y="29718"/>
                  </a:cubicBezTo>
                  <a:cubicBezTo>
                    <a:pt x="124460" y="33401"/>
                    <a:pt x="126492" y="37211"/>
                    <a:pt x="128270" y="41275"/>
                  </a:cubicBezTo>
                  <a:cubicBezTo>
                    <a:pt x="130048" y="45339"/>
                    <a:pt x="131191" y="49530"/>
                    <a:pt x="132080" y="53721"/>
                  </a:cubicBezTo>
                  <a:cubicBezTo>
                    <a:pt x="132969" y="57912"/>
                    <a:pt x="133350" y="62357"/>
                    <a:pt x="133350" y="66675"/>
                  </a:cubicBezTo>
                  <a:close/>
                </a:path>
              </a:pathLst>
            </a:custGeom>
            <a:solidFill>
              <a:srgbClr val="000000"/>
            </a:solidFill>
          </p:spPr>
        </p:sp>
      </p:grpSp>
      <p:grpSp>
        <p:nvGrpSpPr>
          <p:cNvPr id="14" name="Group 14"/>
          <p:cNvGrpSpPr/>
          <p:nvPr/>
        </p:nvGrpSpPr>
        <p:grpSpPr>
          <a:xfrm>
            <a:off x="967378" y="5710238"/>
            <a:ext cx="133350" cy="133350"/>
            <a:chOff x="0" y="0"/>
            <a:chExt cx="133350" cy="133350"/>
          </a:xfrm>
        </p:grpSpPr>
        <p:sp>
          <p:nvSpPr>
            <p:cNvPr id="15" name="Freeform 15"/>
            <p:cNvSpPr/>
            <p:nvPr/>
          </p:nvSpPr>
          <p:spPr>
            <a:xfrm>
              <a:off x="0" y="0"/>
              <a:ext cx="133350" cy="133350"/>
            </a:xfrm>
            <a:custGeom>
              <a:avLst/>
              <a:gdLst/>
              <a:ahLst/>
              <a:cxnLst/>
              <a:rect l="l" t="t" r="r" b="b"/>
              <a:pathLst>
                <a:path w="133350" h="133350">
                  <a:moveTo>
                    <a:pt x="133350" y="66675"/>
                  </a:moveTo>
                  <a:cubicBezTo>
                    <a:pt x="133350" y="70993"/>
                    <a:pt x="132969" y="75438"/>
                    <a:pt x="132080" y="79629"/>
                  </a:cubicBezTo>
                  <a:cubicBezTo>
                    <a:pt x="131191" y="83820"/>
                    <a:pt x="129921" y="88138"/>
                    <a:pt x="128270" y="92075"/>
                  </a:cubicBezTo>
                  <a:cubicBezTo>
                    <a:pt x="126619" y="96012"/>
                    <a:pt x="124587" y="99949"/>
                    <a:pt x="122047" y="103632"/>
                  </a:cubicBezTo>
                  <a:cubicBezTo>
                    <a:pt x="119507" y="107315"/>
                    <a:pt x="116840" y="110617"/>
                    <a:pt x="113792" y="113792"/>
                  </a:cubicBezTo>
                  <a:cubicBezTo>
                    <a:pt x="110744" y="116967"/>
                    <a:pt x="107315" y="119634"/>
                    <a:pt x="103632" y="122047"/>
                  </a:cubicBezTo>
                  <a:cubicBezTo>
                    <a:pt x="99949" y="124460"/>
                    <a:pt x="96139" y="126492"/>
                    <a:pt x="92075" y="128270"/>
                  </a:cubicBezTo>
                  <a:cubicBezTo>
                    <a:pt x="88011" y="130048"/>
                    <a:pt x="83820" y="131191"/>
                    <a:pt x="79629" y="132080"/>
                  </a:cubicBezTo>
                  <a:cubicBezTo>
                    <a:pt x="75438" y="132969"/>
                    <a:pt x="70993" y="133350"/>
                    <a:pt x="66675" y="133350"/>
                  </a:cubicBezTo>
                  <a:cubicBezTo>
                    <a:pt x="62357" y="133350"/>
                    <a:pt x="57912" y="132969"/>
                    <a:pt x="53721" y="132080"/>
                  </a:cubicBezTo>
                  <a:cubicBezTo>
                    <a:pt x="49530" y="131191"/>
                    <a:pt x="45212" y="129921"/>
                    <a:pt x="41275" y="128270"/>
                  </a:cubicBezTo>
                  <a:cubicBezTo>
                    <a:pt x="37338" y="126619"/>
                    <a:pt x="33401" y="124587"/>
                    <a:pt x="29718" y="122047"/>
                  </a:cubicBezTo>
                  <a:cubicBezTo>
                    <a:pt x="26035" y="119507"/>
                    <a:pt x="22733" y="116840"/>
                    <a:pt x="19558" y="113792"/>
                  </a:cubicBezTo>
                  <a:cubicBezTo>
                    <a:pt x="16383" y="110744"/>
                    <a:pt x="13716" y="107315"/>
                    <a:pt x="11303" y="103632"/>
                  </a:cubicBezTo>
                  <a:cubicBezTo>
                    <a:pt x="8890" y="99949"/>
                    <a:pt x="6731" y="96266"/>
                    <a:pt x="5080" y="92202"/>
                  </a:cubicBezTo>
                  <a:cubicBezTo>
                    <a:pt x="3429" y="88138"/>
                    <a:pt x="2159" y="83947"/>
                    <a:pt x="1270" y="79629"/>
                  </a:cubicBezTo>
                  <a:cubicBezTo>
                    <a:pt x="381" y="75311"/>
                    <a:pt x="0" y="70993"/>
                    <a:pt x="0" y="66675"/>
                  </a:cubicBezTo>
                  <a:cubicBezTo>
                    <a:pt x="0" y="62357"/>
                    <a:pt x="381" y="57912"/>
                    <a:pt x="1270" y="53721"/>
                  </a:cubicBezTo>
                  <a:cubicBezTo>
                    <a:pt x="2159" y="49530"/>
                    <a:pt x="3429" y="45212"/>
                    <a:pt x="5080" y="41275"/>
                  </a:cubicBezTo>
                  <a:cubicBezTo>
                    <a:pt x="6731" y="37338"/>
                    <a:pt x="8763" y="33401"/>
                    <a:pt x="11303" y="29718"/>
                  </a:cubicBezTo>
                  <a:cubicBezTo>
                    <a:pt x="13843" y="26035"/>
                    <a:pt x="16510" y="22733"/>
                    <a:pt x="19558" y="19558"/>
                  </a:cubicBezTo>
                  <a:cubicBezTo>
                    <a:pt x="22606" y="16383"/>
                    <a:pt x="26035" y="13716"/>
                    <a:pt x="29718" y="11303"/>
                  </a:cubicBezTo>
                  <a:cubicBezTo>
                    <a:pt x="33401" y="8890"/>
                    <a:pt x="37211" y="6858"/>
                    <a:pt x="41275" y="5080"/>
                  </a:cubicBezTo>
                  <a:cubicBezTo>
                    <a:pt x="45339" y="3302"/>
                    <a:pt x="49530" y="2159"/>
                    <a:pt x="53721" y="1270"/>
                  </a:cubicBezTo>
                  <a:cubicBezTo>
                    <a:pt x="57912" y="381"/>
                    <a:pt x="62357" y="0"/>
                    <a:pt x="66675" y="0"/>
                  </a:cubicBezTo>
                  <a:cubicBezTo>
                    <a:pt x="70993" y="0"/>
                    <a:pt x="75438" y="381"/>
                    <a:pt x="79629" y="1270"/>
                  </a:cubicBezTo>
                  <a:cubicBezTo>
                    <a:pt x="83820" y="2159"/>
                    <a:pt x="88138" y="3429"/>
                    <a:pt x="92075" y="5080"/>
                  </a:cubicBezTo>
                  <a:cubicBezTo>
                    <a:pt x="96012" y="6731"/>
                    <a:pt x="99949" y="8763"/>
                    <a:pt x="103632" y="11303"/>
                  </a:cubicBezTo>
                  <a:cubicBezTo>
                    <a:pt x="107315" y="13843"/>
                    <a:pt x="110617" y="16510"/>
                    <a:pt x="113792" y="19558"/>
                  </a:cubicBezTo>
                  <a:cubicBezTo>
                    <a:pt x="116967" y="22606"/>
                    <a:pt x="119634" y="26035"/>
                    <a:pt x="122047" y="29718"/>
                  </a:cubicBezTo>
                  <a:cubicBezTo>
                    <a:pt x="124460" y="33401"/>
                    <a:pt x="126492" y="37211"/>
                    <a:pt x="128270" y="41275"/>
                  </a:cubicBezTo>
                  <a:cubicBezTo>
                    <a:pt x="130048" y="45339"/>
                    <a:pt x="131191" y="49530"/>
                    <a:pt x="132080" y="53721"/>
                  </a:cubicBezTo>
                  <a:cubicBezTo>
                    <a:pt x="132969" y="57912"/>
                    <a:pt x="133350" y="62357"/>
                    <a:pt x="133350" y="66675"/>
                  </a:cubicBezTo>
                  <a:close/>
                </a:path>
              </a:pathLst>
            </a:custGeom>
            <a:solidFill>
              <a:srgbClr val="000000"/>
            </a:solidFill>
          </p:spPr>
        </p:sp>
      </p:grpSp>
      <p:grpSp>
        <p:nvGrpSpPr>
          <p:cNvPr id="16" name="Group 16"/>
          <p:cNvGrpSpPr/>
          <p:nvPr/>
        </p:nvGrpSpPr>
        <p:grpSpPr>
          <a:xfrm>
            <a:off x="967378" y="6329362"/>
            <a:ext cx="133350" cy="133350"/>
            <a:chOff x="0" y="0"/>
            <a:chExt cx="133350" cy="133350"/>
          </a:xfrm>
        </p:grpSpPr>
        <p:sp>
          <p:nvSpPr>
            <p:cNvPr id="17" name="Freeform 17"/>
            <p:cNvSpPr/>
            <p:nvPr/>
          </p:nvSpPr>
          <p:spPr>
            <a:xfrm>
              <a:off x="0" y="0"/>
              <a:ext cx="133350" cy="133350"/>
            </a:xfrm>
            <a:custGeom>
              <a:avLst/>
              <a:gdLst/>
              <a:ahLst/>
              <a:cxnLst/>
              <a:rect l="l" t="t" r="r" b="b"/>
              <a:pathLst>
                <a:path w="133350" h="133350">
                  <a:moveTo>
                    <a:pt x="133350" y="66675"/>
                  </a:moveTo>
                  <a:cubicBezTo>
                    <a:pt x="133350" y="70993"/>
                    <a:pt x="132969" y="75438"/>
                    <a:pt x="132080" y="79629"/>
                  </a:cubicBezTo>
                  <a:cubicBezTo>
                    <a:pt x="131191" y="83820"/>
                    <a:pt x="129921" y="88138"/>
                    <a:pt x="128270" y="92075"/>
                  </a:cubicBezTo>
                  <a:cubicBezTo>
                    <a:pt x="126619" y="96012"/>
                    <a:pt x="124587" y="99949"/>
                    <a:pt x="122047" y="103632"/>
                  </a:cubicBezTo>
                  <a:cubicBezTo>
                    <a:pt x="119507" y="107315"/>
                    <a:pt x="116840" y="110617"/>
                    <a:pt x="113792" y="113792"/>
                  </a:cubicBezTo>
                  <a:cubicBezTo>
                    <a:pt x="110744" y="116967"/>
                    <a:pt x="107315" y="119634"/>
                    <a:pt x="103632" y="122047"/>
                  </a:cubicBezTo>
                  <a:cubicBezTo>
                    <a:pt x="99949" y="124460"/>
                    <a:pt x="96139" y="126492"/>
                    <a:pt x="92075" y="128270"/>
                  </a:cubicBezTo>
                  <a:cubicBezTo>
                    <a:pt x="88011" y="130048"/>
                    <a:pt x="83820" y="131191"/>
                    <a:pt x="79629" y="132080"/>
                  </a:cubicBezTo>
                  <a:cubicBezTo>
                    <a:pt x="75438" y="132969"/>
                    <a:pt x="70993" y="133350"/>
                    <a:pt x="66675" y="133350"/>
                  </a:cubicBezTo>
                  <a:cubicBezTo>
                    <a:pt x="62357" y="133350"/>
                    <a:pt x="57912" y="132969"/>
                    <a:pt x="53721" y="132080"/>
                  </a:cubicBezTo>
                  <a:cubicBezTo>
                    <a:pt x="49530" y="131191"/>
                    <a:pt x="45212" y="129921"/>
                    <a:pt x="41275" y="128270"/>
                  </a:cubicBezTo>
                  <a:cubicBezTo>
                    <a:pt x="37338" y="126619"/>
                    <a:pt x="33401" y="124587"/>
                    <a:pt x="29718" y="122047"/>
                  </a:cubicBezTo>
                  <a:cubicBezTo>
                    <a:pt x="26035" y="119507"/>
                    <a:pt x="22733" y="116840"/>
                    <a:pt x="19558" y="113792"/>
                  </a:cubicBezTo>
                  <a:cubicBezTo>
                    <a:pt x="16383" y="110744"/>
                    <a:pt x="13716" y="107315"/>
                    <a:pt x="11303" y="103632"/>
                  </a:cubicBezTo>
                  <a:cubicBezTo>
                    <a:pt x="8890" y="99949"/>
                    <a:pt x="6731" y="96266"/>
                    <a:pt x="5080" y="92202"/>
                  </a:cubicBezTo>
                  <a:cubicBezTo>
                    <a:pt x="3429" y="88138"/>
                    <a:pt x="2159" y="83947"/>
                    <a:pt x="1270" y="79629"/>
                  </a:cubicBezTo>
                  <a:cubicBezTo>
                    <a:pt x="381" y="75311"/>
                    <a:pt x="0" y="70993"/>
                    <a:pt x="0" y="66675"/>
                  </a:cubicBezTo>
                  <a:cubicBezTo>
                    <a:pt x="0" y="62357"/>
                    <a:pt x="381" y="57912"/>
                    <a:pt x="1270" y="53721"/>
                  </a:cubicBezTo>
                  <a:cubicBezTo>
                    <a:pt x="2159" y="49530"/>
                    <a:pt x="3429" y="45212"/>
                    <a:pt x="5080" y="41275"/>
                  </a:cubicBezTo>
                  <a:cubicBezTo>
                    <a:pt x="6731" y="37338"/>
                    <a:pt x="8763" y="33401"/>
                    <a:pt x="11303" y="29718"/>
                  </a:cubicBezTo>
                  <a:cubicBezTo>
                    <a:pt x="13843" y="26035"/>
                    <a:pt x="16510" y="22733"/>
                    <a:pt x="19558" y="19558"/>
                  </a:cubicBezTo>
                  <a:cubicBezTo>
                    <a:pt x="22606" y="16383"/>
                    <a:pt x="26035" y="13716"/>
                    <a:pt x="29718" y="11303"/>
                  </a:cubicBezTo>
                  <a:cubicBezTo>
                    <a:pt x="33401" y="8890"/>
                    <a:pt x="37211" y="6858"/>
                    <a:pt x="41275" y="5080"/>
                  </a:cubicBezTo>
                  <a:cubicBezTo>
                    <a:pt x="45339" y="3302"/>
                    <a:pt x="49530" y="2159"/>
                    <a:pt x="53721" y="1270"/>
                  </a:cubicBezTo>
                  <a:cubicBezTo>
                    <a:pt x="57912" y="381"/>
                    <a:pt x="62357" y="0"/>
                    <a:pt x="66675" y="0"/>
                  </a:cubicBezTo>
                  <a:cubicBezTo>
                    <a:pt x="70993" y="0"/>
                    <a:pt x="75438" y="381"/>
                    <a:pt x="79629" y="1270"/>
                  </a:cubicBezTo>
                  <a:cubicBezTo>
                    <a:pt x="83820" y="2159"/>
                    <a:pt x="88138" y="3429"/>
                    <a:pt x="92075" y="5080"/>
                  </a:cubicBezTo>
                  <a:cubicBezTo>
                    <a:pt x="96012" y="6731"/>
                    <a:pt x="99949" y="8763"/>
                    <a:pt x="103632" y="11303"/>
                  </a:cubicBezTo>
                  <a:cubicBezTo>
                    <a:pt x="107315" y="13843"/>
                    <a:pt x="110617" y="16510"/>
                    <a:pt x="113792" y="19558"/>
                  </a:cubicBezTo>
                  <a:cubicBezTo>
                    <a:pt x="116967" y="22606"/>
                    <a:pt x="119634" y="26035"/>
                    <a:pt x="122047" y="29718"/>
                  </a:cubicBezTo>
                  <a:cubicBezTo>
                    <a:pt x="124460" y="33401"/>
                    <a:pt x="126492" y="37211"/>
                    <a:pt x="128270" y="41275"/>
                  </a:cubicBezTo>
                  <a:cubicBezTo>
                    <a:pt x="130048" y="45339"/>
                    <a:pt x="131191" y="49530"/>
                    <a:pt x="132080" y="53721"/>
                  </a:cubicBezTo>
                  <a:cubicBezTo>
                    <a:pt x="132969" y="57912"/>
                    <a:pt x="133350" y="62357"/>
                    <a:pt x="133350" y="66675"/>
                  </a:cubicBezTo>
                  <a:close/>
                </a:path>
              </a:pathLst>
            </a:custGeom>
            <a:solidFill>
              <a:srgbClr val="000000"/>
            </a:solidFill>
          </p:spPr>
        </p:sp>
      </p:grpSp>
      <p:grpSp>
        <p:nvGrpSpPr>
          <p:cNvPr id="18" name="Group 18"/>
          <p:cNvGrpSpPr/>
          <p:nvPr/>
        </p:nvGrpSpPr>
        <p:grpSpPr>
          <a:xfrm>
            <a:off x="967378" y="6948488"/>
            <a:ext cx="133350" cy="133350"/>
            <a:chOff x="0" y="0"/>
            <a:chExt cx="133350" cy="133350"/>
          </a:xfrm>
        </p:grpSpPr>
        <p:sp>
          <p:nvSpPr>
            <p:cNvPr id="19" name="Freeform 19"/>
            <p:cNvSpPr/>
            <p:nvPr/>
          </p:nvSpPr>
          <p:spPr>
            <a:xfrm>
              <a:off x="0" y="0"/>
              <a:ext cx="133350" cy="133350"/>
            </a:xfrm>
            <a:custGeom>
              <a:avLst/>
              <a:gdLst/>
              <a:ahLst/>
              <a:cxnLst/>
              <a:rect l="l" t="t" r="r" b="b"/>
              <a:pathLst>
                <a:path w="133350" h="133350">
                  <a:moveTo>
                    <a:pt x="133350" y="66675"/>
                  </a:moveTo>
                  <a:cubicBezTo>
                    <a:pt x="133350" y="70993"/>
                    <a:pt x="132969" y="75438"/>
                    <a:pt x="132080" y="79629"/>
                  </a:cubicBezTo>
                  <a:cubicBezTo>
                    <a:pt x="131191" y="83820"/>
                    <a:pt x="129921" y="88138"/>
                    <a:pt x="128270" y="92075"/>
                  </a:cubicBezTo>
                  <a:cubicBezTo>
                    <a:pt x="126619" y="96012"/>
                    <a:pt x="124587" y="99949"/>
                    <a:pt x="122047" y="103632"/>
                  </a:cubicBezTo>
                  <a:cubicBezTo>
                    <a:pt x="119507" y="107315"/>
                    <a:pt x="116840" y="110617"/>
                    <a:pt x="113792" y="113792"/>
                  </a:cubicBezTo>
                  <a:cubicBezTo>
                    <a:pt x="110744" y="116967"/>
                    <a:pt x="107315" y="119634"/>
                    <a:pt x="103632" y="122047"/>
                  </a:cubicBezTo>
                  <a:cubicBezTo>
                    <a:pt x="99949" y="124460"/>
                    <a:pt x="96139" y="126492"/>
                    <a:pt x="92075" y="128270"/>
                  </a:cubicBezTo>
                  <a:cubicBezTo>
                    <a:pt x="88011" y="130048"/>
                    <a:pt x="83820" y="131191"/>
                    <a:pt x="79629" y="132080"/>
                  </a:cubicBezTo>
                  <a:cubicBezTo>
                    <a:pt x="75438" y="132969"/>
                    <a:pt x="70993" y="133350"/>
                    <a:pt x="66675" y="133350"/>
                  </a:cubicBezTo>
                  <a:cubicBezTo>
                    <a:pt x="62357" y="133350"/>
                    <a:pt x="57912" y="132969"/>
                    <a:pt x="53721" y="132080"/>
                  </a:cubicBezTo>
                  <a:cubicBezTo>
                    <a:pt x="49530" y="131191"/>
                    <a:pt x="45212" y="129921"/>
                    <a:pt x="41275" y="128270"/>
                  </a:cubicBezTo>
                  <a:cubicBezTo>
                    <a:pt x="37338" y="126619"/>
                    <a:pt x="33401" y="124587"/>
                    <a:pt x="29718" y="122047"/>
                  </a:cubicBezTo>
                  <a:cubicBezTo>
                    <a:pt x="26035" y="119507"/>
                    <a:pt x="22733" y="116840"/>
                    <a:pt x="19558" y="113792"/>
                  </a:cubicBezTo>
                  <a:cubicBezTo>
                    <a:pt x="16383" y="110744"/>
                    <a:pt x="13716" y="107315"/>
                    <a:pt x="11303" y="103632"/>
                  </a:cubicBezTo>
                  <a:cubicBezTo>
                    <a:pt x="8890" y="99949"/>
                    <a:pt x="6731" y="96266"/>
                    <a:pt x="5080" y="92202"/>
                  </a:cubicBezTo>
                  <a:cubicBezTo>
                    <a:pt x="3429" y="88138"/>
                    <a:pt x="2159" y="83947"/>
                    <a:pt x="1270" y="79629"/>
                  </a:cubicBezTo>
                  <a:cubicBezTo>
                    <a:pt x="381" y="75311"/>
                    <a:pt x="0" y="70993"/>
                    <a:pt x="0" y="66675"/>
                  </a:cubicBezTo>
                  <a:cubicBezTo>
                    <a:pt x="0" y="62357"/>
                    <a:pt x="381" y="57912"/>
                    <a:pt x="1270" y="53721"/>
                  </a:cubicBezTo>
                  <a:cubicBezTo>
                    <a:pt x="2159" y="49530"/>
                    <a:pt x="3429" y="45212"/>
                    <a:pt x="5080" y="41275"/>
                  </a:cubicBezTo>
                  <a:cubicBezTo>
                    <a:pt x="6731" y="37338"/>
                    <a:pt x="8763" y="33401"/>
                    <a:pt x="11303" y="29718"/>
                  </a:cubicBezTo>
                  <a:cubicBezTo>
                    <a:pt x="13843" y="26035"/>
                    <a:pt x="16510" y="22733"/>
                    <a:pt x="19558" y="19558"/>
                  </a:cubicBezTo>
                  <a:cubicBezTo>
                    <a:pt x="22606" y="16383"/>
                    <a:pt x="26035" y="13716"/>
                    <a:pt x="29718" y="11303"/>
                  </a:cubicBezTo>
                  <a:cubicBezTo>
                    <a:pt x="33401" y="8890"/>
                    <a:pt x="37211" y="6858"/>
                    <a:pt x="41275" y="5080"/>
                  </a:cubicBezTo>
                  <a:cubicBezTo>
                    <a:pt x="45339" y="3302"/>
                    <a:pt x="49530" y="2159"/>
                    <a:pt x="53721" y="1270"/>
                  </a:cubicBezTo>
                  <a:cubicBezTo>
                    <a:pt x="57912" y="381"/>
                    <a:pt x="62357" y="0"/>
                    <a:pt x="66675" y="0"/>
                  </a:cubicBezTo>
                  <a:cubicBezTo>
                    <a:pt x="70993" y="0"/>
                    <a:pt x="75438" y="381"/>
                    <a:pt x="79629" y="1270"/>
                  </a:cubicBezTo>
                  <a:cubicBezTo>
                    <a:pt x="83820" y="2159"/>
                    <a:pt x="88138" y="3429"/>
                    <a:pt x="92075" y="5080"/>
                  </a:cubicBezTo>
                  <a:cubicBezTo>
                    <a:pt x="96012" y="6731"/>
                    <a:pt x="99949" y="8763"/>
                    <a:pt x="103632" y="11303"/>
                  </a:cubicBezTo>
                  <a:cubicBezTo>
                    <a:pt x="107315" y="13843"/>
                    <a:pt x="110617" y="16510"/>
                    <a:pt x="113792" y="19558"/>
                  </a:cubicBezTo>
                  <a:cubicBezTo>
                    <a:pt x="116967" y="22606"/>
                    <a:pt x="119634" y="26035"/>
                    <a:pt x="122047" y="29718"/>
                  </a:cubicBezTo>
                  <a:cubicBezTo>
                    <a:pt x="124460" y="33401"/>
                    <a:pt x="126492" y="37211"/>
                    <a:pt x="128270" y="41275"/>
                  </a:cubicBezTo>
                  <a:cubicBezTo>
                    <a:pt x="130048" y="45339"/>
                    <a:pt x="131191" y="49530"/>
                    <a:pt x="132080" y="53721"/>
                  </a:cubicBezTo>
                  <a:cubicBezTo>
                    <a:pt x="132969" y="57912"/>
                    <a:pt x="133350" y="62357"/>
                    <a:pt x="133350" y="66675"/>
                  </a:cubicBezTo>
                  <a:close/>
                </a:path>
              </a:pathLst>
            </a:custGeom>
            <a:solidFill>
              <a:srgbClr val="000000"/>
            </a:solidFill>
          </p:spPr>
        </p:sp>
      </p:grpSp>
      <p:sp>
        <p:nvSpPr>
          <p:cNvPr id="20" name="TextBox 20"/>
          <p:cNvSpPr txBox="1"/>
          <p:nvPr/>
        </p:nvSpPr>
        <p:spPr>
          <a:xfrm>
            <a:off x="7064626" y="1048674"/>
            <a:ext cx="3282467" cy="693058"/>
          </a:xfrm>
          <a:prstGeom prst="rect">
            <a:avLst/>
          </a:prstGeom>
        </p:spPr>
        <p:txBody>
          <a:bodyPr lIns="0" tIns="0" rIns="0" bIns="0" rtlCol="0" anchor="t">
            <a:spAutoFit/>
          </a:bodyPr>
          <a:lstStyle/>
          <a:p>
            <a:pPr algn="l">
              <a:lnSpc>
                <a:spcPts val="5599"/>
              </a:lnSpc>
            </a:pPr>
            <a:r>
              <a:rPr lang="en-US" sz="3999" b="1">
                <a:solidFill>
                  <a:srgbClr val="000000"/>
                </a:solidFill>
                <a:latin typeface="Times New Roman Bold"/>
                <a:ea typeface="Times New Roman Bold"/>
                <a:cs typeface="Times New Roman Bold"/>
                <a:sym typeface="Times New Roman Bold"/>
              </a:rPr>
              <a:t>OBJECTIVES</a:t>
            </a:r>
          </a:p>
        </p:txBody>
      </p:sp>
      <p:sp>
        <p:nvSpPr>
          <p:cNvPr id="21" name="TextBox 21"/>
          <p:cNvSpPr txBox="1"/>
          <p:nvPr/>
        </p:nvSpPr>
        <p:spPr>
          <a:xfrm>
            <a:off x="1294209" y="2967190"/>
            <a:ext cx="16786298" cy="4323512"/>
          </a:xfrm>
          <a:prstGeom prst="rect">
            <a:avLst/>
          </a:prstGeom>
        </p:spPr>
        <p:txBody>
          <a:bodyPr lIns="0" tIns="0" rIns="0" bIns="0" rtlCol="0" anchor="t">
            <a:spAutoFit/>
          </a:bodyPr>
          <a:lstStyle/>
          <a:p>
            <a:pPr algn="l">
              <a:lnSpc>
                <a:spcPts val="4874"/>
              </a:lnSpc>
            </a:pPr>
            <a:r>
              <a:rPr lang="en-US" sz="3499">
                <a:solidFill>
                  <a:srgbClr val="000000"/>
                </a:solidFill>
                <a:latin typeface="Times New Roman"/>
                <a:ea typeface="Times New Roman"/>
                <a:cs typeface="Times New Roman"/>
                <a:sym typeface="Times New Roman"/>
              </a:rPr>
              <a:t>To study the existing FQL-based loan eligibility concepts as a reference.</a:t>
            </a:r>
          </a:p>
          <a:p>
            <a:pPr algn="l">
              <a:lnSpc>
                <a:spcPts val="4874"/>
              </a:lnSpc>
            </a:pPr>
            <a:r>
              <a:rPr lang="en-US" sz="3499">
                <a:solidFill>
                  <a:srgbClr val="000000"/>
                </a:solidFill>
                <a:latin typeface="Times New Roman"/>
                <a:ea typeface="Times New Roman"/>
                <a:cs typeface="Times New Roman"/>
                <a:sym typeface="Times New Roman"/>
              </a:rPr>
              <a:t>To understand how Fuzzy Logic and IF–THEN rules are used in credit assessment.</a:t>
            </a:r>
          </a:p>
          <a:p>
            <a:pPr algn="l">
              <a:lnSpc>
                <a:spcPts val="4874"/>
              </a:lnSpc>
            </a:pPr>
            <a:r>
              <a:rPr lang="en-US" sz="3499">
                <a:solidFill>
                  <a:srgbClr val="000000"/>
                </a:solidFill>
                <a:latin typeface="Times New Roman"/>
                <a:ea typeface="Times New Roman"/>
                <a:cs typeface="Times New Roman"/>
                <a:sym typeface="Times New Roman"/>
              </a:rPr>
              <a:t>To refer existing methods for analyzing income, credit score, debt, and loan amount.</a:t>
            </a:r>
          </a:p>
          <a:p>
            <a:pPr algn="l">
              <a:lnSpc>
                <a:spcPts val="4874"/>
              </a:lnSpc>
            </a:pPr>
            <a:r>
              <a:rPr lang="en-US" sz="3499">
                <a:solidFill>
                  <a:srgbClr val="000000"/>
                </a:solidFill>
                <a:latin typeface="Times New Roman"/>
                <a:ea typeface="Times New Roman"/>
                <a:cs typeface="Times New Roman"/>
                <a:sym typeface="Times New Roman"/>
              </a:rPr>
              <a:t>To use Low, Medium, and High fuzzy conditions for handling uncertain data.</a:t>
            </a:r>
          </a:p>
          <a:p>
            <a:pPr algn="l">
              <a:lnSpc>
                <a:spcPts val="4874"/>
              </a:lnSpc>
            </a:pPr>
            <a:r>
              <a:rPr lang="en-US" sz="3499">
                <a:solidFill>
                  <a:srgbClr val="000000"/>
                </a:solidFill>
                <a:latin typeface="Times New Roman"/>
                <a:ea typeface="Times New Roman"/>
                <a:cs typeface="Times New Roman"/>
                <a:sym typeface="Times New Roman"/>
              </a:rPr>
              <a:t>To develop a loan eligibility reasoning system based on the studied reference concepts.</a:t>
            </a:r>
          </a:p>
          <a:p>
            <a:pPr algn="l">
              <a:lnSpc>
                <a:spcPts val="4874"/>
              </a:lnSpc>
            </a:pPr>
            <a:r>
              <a:rPr lang="en-US" sz="3499">
                <a:solidFill>
                  <a:srgbClr val="000000"/>
                </a:solidFill>
                <a:latin typeface="Times New Roman"/>
                <a:ea typeface="Times New Roman"/>
                <a:cs typeface="Times New Roman"/>
                <a:sym typeface="Times New Roman"/>
              </a:rPr>
              <a:t>To integrate live application data through APIs for real-time evaluation.</a:t>
            </a:r>
          </a:p>
          <a:p>
            <a:pPr algn="l">
              <a:lnSpc>
                <a:spcPts val="4874"/>
              </a:lnSpc>
            </a:pPr>
            <a:r>
              <a:rPr lang="en-US" sz="3499">
                <a:solidFill>
                  <a:srgbClr val="000000"/>
                </a:solidFill>
                <a:latin typeface="Times New Roman"/>
                <a:ea typeface="Times New Roman"/>
                <a:cs typeface="Times New Roman"/>
                <a:sym typeface="Times New Roman"/>
              </a:rPr>
              <a:t>To improve the existing approach by providing flexible and explainable eligibility decisions.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47775" y="321469"/>
            <a:ext cx="1598295" cy="1585912"/>
            <a:chOff x="0" y="0"/>
            <a:chExt cx="2131060" cy="2114550"/>
          </a:xfrm>
        </p:grpSpPr>
        <p:sp>
          <p:nvSpPr>
            <p:cNvPr id="3" name="Freeform 3"/>
            <p:cNvSpPr/>
            <p:nvPr/>
          </p:nvSpPr>
          <p:spPr>
            <a:xfrm>
              <a:off x="0" y="0"/>
              <a:ext cx="2131060" cy="2114550"/>
            </a:xfrm>
            <a:custGeom>
              <a:avLst/>
              <a:gdLst/>
              <a:ahLst/>
              <a:cxnLst/>
              <a:rect l="l" t="t" r="r" b="b"/>
              <a:pathLst>
                <a:path w="2131060" h="2114550">
                  <a:moveTo>
                    <a:pt x="0" y="0"/>
                  </a:moveTo>
                  <a:lnTo>
                    <a:pt x="2131060" y="0"/>
                  </a:lnTo>
                  <a:lnTo>
                    <a:pt x="2131060" y="2114550"/>
                  </a:lnTo>
                  <a:lnTo>
                    <a:pt x="0" y="2114550"/>
                  </a:lnTo>
                  <a:lnTo>
                    <a:pt x="0" y="0"/>
                  </a:lnTo>
                  <a:close/>
                </a:path>
              </a:pathLst>
            </a:custGeom>
            <a:blipFill>
              <a:blip r:embed="rId2"/>
              <a:stretch>
                <a:fillRect/>
              </a:stretch>
            </a:blipFill>
          </p:spPr>
        </p:sp>
      </p:grpSp>
      <p:grpSp>
        <p:nvGrpSpPr>
          <p:cNvPr id="4" name="Group 4"/>
          <p:cNvGrpSpPr/>
          <p:nvPr/>
        </p:nvGrpSpPr>
        <p:grpSpPr>
          <a:xfrm>
            <a:off x="15085219" y="500062"/>
            <a:ext cx="1826990" cy="1771650"/>
            <a:chOff x="0" y="0"/>
            <a:chExt cx="2435987" cy="2362200"/>
          </a:xfrm>
        </p:grpSpPr>
        <p:sp>
          <p:nvSpPr>
            <p:cNvPr id="5" name="Freeform 5" descr="KRCE Tiruchirappalli : Admission 2024, Courses, Fees, Placement, Cut Off"/>
            <p:cNvSpPr/>
            <p:nvPr/>
          </p:nvSpPr>
          <p:spPr>
            <a:xfrm>
              <a:off x="0" y="0"/>
              <a:ext cx="2435987" cy="2362200"/>
            </a:xfrm>
            <a:custGeom>
              <a:avLst/>
              <a:gdLst/>
              <a:ahLst/>
              <a:cxnLst/>
              <a:rect l="l" t="t" r="r" b="b"/>
              <a:pathLst>
                <a:path w="2435987" h="2362200">
                  <a:moveTo>
                    <a:pt x="0" y="0"/>
                  </a:moveTo>
                  <a:lnTo>
                    <a:pt x="2435987" y="0"/>
                  </a:lnTo>
                  <a:lnTo>
                    <a:pt x="2435987" y="2362200"/>
                  </a:lnTo>
                  <a:lnTo>
                    <a:pt x="0" y="2362200"/>
                  </a:lnTo>
                  <a:lnTo>
                    <a:pt x="0" y="0"/>
                  </a:lnTo>
                  <a:close/>
                </a:path>
              </a:pathLst>
            </a:custGeom>
            <a:blipFill>
              <a:blip r:embed="rId3"/>
              <a:stretch>
                <a:fillRect r="-1"/>
              </a:stretch>
            </a:blipFill>
          </p:spPr>
        </p:sp>
      </p:grpSp>
      <p:grpSp>
        <p:nvGrpSpPr>
          <p:cNvPr id="6" name="Group 6"/>
          <p:cNvGrpSpPr/>
          <p:nvPr/>
        </p:nvGrpSpPr>
        <p:grpSpPr>
          <a:xfrm>
            <a:off x="1003392" y="3715636"/>
            <a:ext cx="133350" cy="133350"/>
            <a:chOff x="0" y="0"/>
            <a:chExt cx="133350" cy="133350"/>
          </a:xfrm>
        </p:grpSpPr>
        <p:sp>
          <p:nvSpPr>
            <p:cNvPr id="7" name="Freeform 7"/>
            <p:cNvSpPr/>
            <p:nvPr/>
          </p:nvSpPr>
          <p:spPr>
            <a:xfrm>
              <a:off x="0" y="0"/>
              <a:ext cx="133350" cy="133350"/>
            </a:xfrm>
            <a:custGeom>
              <a:avLst/>
              <a:gdLst/>
              <a:ahLst/>
              <a:cxnLst/>
              <a:rect l="l" t="t" r="r" b="b"/>
              <a:pathLst>
                <a:path w="133350" h="133350">
                  <a:moveTo>
                    <a:pt x="133350" y="66675"/>
                  </a:moveTo>
                  <a:cubicBezTo>
                    <a:pt x="133350" y="70993"/>
                    <a:pt x="132969" y="75438"/>
                    <a:pt x="132080" y="79629"/>
                  </a:cubicBezTo>
                  <a:cubicBezTo>
                    <a:pt x="131191" y="83820"/>
                    <a:pt x="129921" y="88138"/>
                    <a:pt x="128270" y="92075"/>
                  </a:cubicBezTo>
                  <a:cubicBezTo>
                    <a:pt x="126619" y="96012"/>
                    <a:pt x="124587" y="99949"/>
                    <a:pt x="122047" y="103632"/>
                  </a:cubicBezTo>
                  <a:cubicBezTo>
                    <a:pt x="119507" y="107315"/>
                    <a:pt x="116840" y="110617"/>
                    <a:pt x="113792" y="113792"/>
                  </a:cubicBezTo>
                  <a:cubicBezTo>
                    <a:pt x="110744" y="116967"/>
                    <a:pt x="107315" y="119634"/>
                    <a:pt x="103632" y="122047"/>
                  </a:cubicBezTo>
                  <a:cubicBezTo>
                    <a:pt x="99949" y="124460"/>
                    <a:pt x="96139" y="126492"/>
                    <a:pt x="92075" y="128270"/>
                  </a:cubicBezTo>
                  <a:cubicBezTo>
                    <a:pt x="88011" y="130048"/>
                    <a:pt x="83820" y="131191"/>
                    <a:pt x="79629" y="132080"/>
                  </a:cubicBezTo>
                  <a:cubicBezTo>
                    <a:pt x="75438" y="132969"/>
                    <a:pt x="70993" y="133350"/>
                    <a:pt x="66675" y="133350"/>
                  </a:cubicBezTo>
                  <a:cubicBezTo>
                    <a:pt x="62357" y="133350"/>
                    <a:pt x="57912" y="132969"/>
                    <a:pt x="53721" y="132080"/>
                  </a:cubicBezTo>
                  <a:cubicBezTo>
                    <a:pt x="49530" y="131191"/>
                    <a:pt x="45212" y="129921"/>
                    <a:pt x="41275" y="128270"/>
                  </a:cubicBezTo>
                  <a:cubicBezTo>
                    <a:pt x="37338" y="126619"/>
                    <a:pt x="33401" y="124587"/>
                    <a:pt x="29718" y="122047"/>
                  </a:cubicBezTo>
                  <a:cubicBezTo>
                    <a:pt x="26035" y="119507"/>
                    <a:pt x="22733" y="116840"/>
                    <a:pt x="19558" y="113792"/>
                  </a:cubicBezTo>
                  <a:cubicBezTo>
                    <a:pt x="16383" y="110744"/>
                    <a:pt x="13716" y="107315"/>
                    <a:pt x="11303" y="103632"/>
                  </a:cubicBezTo>
                  <a:cubicBezTo>
                    <a:pt x="8890" y="99949"/>
                    <a:pt x="6731" y="96266"/>
                    <a:pt x="5080" y="92202"/>
                  </a:cubicBezTo>
                  <a:cubicBezTo>
                    <a:pt x="3429" y="88138"/>
                    <a:pt x="2159" y="83947"/>
                    <a:pt x="1270" y="79629"/>
                  </a:cubicBezTo>
                  <a:cubicBezTo>
                    <a:pt x="381" y="75311"/>
                    <a:pt x="0" y="70993"/>
                    <a:pt x="0" y="66675"/>
                  </a:cubicBezTo>
                  <a:cubicBezTo>
                    <a:pt x="0" y="62357"/>
                    <a:pt x="381" y="57912"/>
                    <a:pt x="1270" y="53721"/>
                  </a:cubicBezTo>
                  <a:cubicBezTo>
                    <a:pt x="2159" y="49530"/>
                    <a:pt x="3429" y="45212"/>
                    <a:pt x="5080" y="41275"/>
                  </a:cubicBezTo>
                  <a:cubicBezTo>
                    <a:pt x="6731" y="37338"/>
                    <a:pt x="8763" y="33401"/>
                    <a:pt x="11303" y="29718"/>
                  </a:cubicBezTo>
                  <a:cubicBezTo>
                    <a:pt x="13843" y="26035"/>
                    <a:pt x="16510" y="22733"/>
                    <a:pt x="19558" y="19558"/>
                  </a:cubicBezTo>
                  <a:cubicBezTo>
                    <a:pt x="22606" y="16383"/>
                    <a:pt x="26035" y="13716"/>
                    <a:pt x="29718" y="11303"/>
                  </a:cubicBezTo>
                  <a:cubicBezTo>
                    <a:pt x="33401" y="8890"/>
                    <a:pt x="37211" y="6858"/>
                    <a:pt x="41275" y="5080"/>
                  </a:cubicBezTo>
                  <a:cubicBezTo>
                    <a:pt x="45339" y="3302"/>
                    <a:pt x="49530" y="2159"/>
                    <a:pt x="53721" y="1270"/>
                  </a:cubicBezTo>
                  <a:cubicBezTo>
                    <a:pt x="57912" y="381"/>
                    <a:pt x="62357" y="0"/>
                    <a:pt x="66675" y="0"/>
                  </a:cubicBezTo>
                  <a:cubicBezTo>
                    <a:pt x="70993" y="0"/>
                    <a:pt x="75438" y="381"/>
                    <a:pt x="79629" y="1270"/>
                  </a:cubicBezTo>
                  <a:cubicBezTo>
                    <a:pt x="83820" y="2159"/>
                    <a:pt x="88138" y="3429"/>
                    <a:pt x="92075" y="5080"/>
                  </a:cubicBezTo>
                  <a:cubicBezTo>
                    <a:pt x="96012" y="6731"/>
                    <a:pt x="99949" y="8763"/>
                    <a:pt x="103632" y="11303"/>
                  </a:cubicBezTo>
                  <a:cubicBezTo>
                    <a:pt x="107315" y="13843"/>
                    <a:pt x="110617" y="16510"/>
                    <a:pt x="113792" y="19558"/>
                  </a:cubicBezTo>
                  <a:cubicBezTo>
                    <a:pt x="116967" y="22606"/>
                    <a:pt x="119634" y="26035"/>
                    <a:pt x="122047" y="29718"/>
                  </a:cubicBezTo>
                  <a:cubicBezTo>
                    <a:pt x="124460" y="33401"/>
                    <a:pt x="126492" y="37211"/>
                    <a:pt x="128270" y="41275"/>
                  </a:cubicBezTo>
                  <a:cubicBezTo>
                    <a:pt x="130048" y="45339"/>
                    <a:pt x="131191" y="49530"/>
                    <a:pt x="132080" y="53721"/>
                  </a:cubicBezTo>
                  <a:cubicBezTo>
                    <a:pt x="132969" y="57912"/>
                    <a:pt x="133350" y="62357"/>
                    <a:pt x="133350" y="66675"/>
                  </a:cubicBezTo>
                  <a:close/>
                </a:path>
              </a:pathLst>
            </a:custGeom>
            <a:solidFill>
              <a:srgbClr val="000000"/>
            </a:solidFill>
          </p:spPr>
        </p:sp>
      </p:grpSp>
      <p:grpSp>
        <p:nvGrpSpPr>
          <p:cNvPr id="8" name="Group 8"/>
          <p:cNvGrpSpPr/>
          <p:nvPr/>
        </p:nvGrpSpPr>
        <p:grpSpPr>
          <a:xfrm>
            <a:off x="1003392" y="6192136"/>
            <a:ext cx="133350" cy="133350"/>
            <a:chOff x="0" y="0"/>
            <a:chExt cx="133350" cy="133350"/>
          </a:xfrm>
        </p:grpSpPr>
        <p:sp>
          <p:nvSpPr>
            <p:cNvPr id="9" name="Freeform 9"/>
            <p:cNvSpPr/>
            <p:nvPr/>
          </p:nvSpPr>
          <p:spPr>
            <a:xfrm>
              <a:off x="0" y="0"/>
              <a:ext cx="133350" cy="133350"/>
            </a:xfrm>
            <a:custGeom>
              <a:avLst/>
              <a:gdLst/>
              <a:ahLst/>
              <a:cxnLst/>
              <a:rect l="l" t="t" r="r" b="b"/>
              <a:pathLst>
                <a:path w="133350" h="133350">
                  <a:moveTo>
                    <a:pt x="133350" y="66675"/>
                  </a:moveTo>
                  <a:cubicBezTo>
                    <a:pt x="133350" y="70993"/>
                    <a:pt x="132969" y="75438"/>
                    <a:pt x="132080" y="79629"/>
                  </a:cubicBezTo>
                  <a:cubicBezTo>
                    <a:pt x="131191" y="83820"/>
                    <a:pt x="129921" y="88138"/>
                    <a:pt x="128270" y="92075"/>
                  </a:cubicBezTo>
                  <a:cubicBezTo>
                    <a:pt x="126619" y="96012"/>
                    <a:pt x="124587" y="99949"/>
                    <a:pt x="122047" y="103632"/>
                  </a:cubicBezTo>
                  <a:cubicBezTo>
                    <a:pt x="119507" y="107315"/>
                    <a:pt x="116840" y="110617"/>
                    <a:pt x="113792" y="113792"/>
                  </a:cubicBezTo>
                  <a:cubicBezTo>
                    <a:pt x="110744" y="116967"/>
                    <a:pt x="107315" y="119634"/>
                    <a:pt x="103632" y="122047"/>
                  </a:cubicBezTo>
                  <a:cubicBezTo>
                    <a:pt x="99949" y="124460"/>
                    <a:pt x="96139" y="126492"/>
                    <a:pt x="92075" y="128270"/>
                  </a:cubicBezTo>
                  <a:cubicBezTo>
                    <a:pt x="88011" y="130048"/>
                    <a:pt x="83820" y="131191"/>
                    <a:pt x="79629" y="132080"/>
                  </a:cubicBezTo>
                  <a:cubicBezTo>
                    <a:pt x="75438" y="132969"/>
                    <a:pt x="70993" y="133350"/>
                    <a:pt x="66675" y="133350"/>
                  </a:cubicBezTo>
                  <a:cubicBezTo>
                    <a:pt x="62357" y="133350"/>
                    <a:pt x="57912" y="132969"/>
                    <a:pt x="53721" y="132080"/>
                  </a:cubicBezTo>
                  <a:cubicBezTo>
                    <a:pt x="49530" y="131191"/>
                    <a:pt x="45212" y="129921"/>
                    <a:pt x="41275" y="128270"/>
                  </a:cubicBezTo>
                  <a:cubicBezTo>
                    <a:pt x="37338" y="126619"/>
                    <a:pt x="33401" y="124587"/>
                    <a:pt x="29718" y="122047"/>
                  </a:cubicBezTo>
                  <a:cubicBezTo>
                    <a:pt x="26035" y="119507"/>
                    <a:pt x="22733" y="116840"/>
                    <a:pt x="19558" y="113792"/>
                  </a:cubicBezTo>
                  <a:cubicBezTo>
                    <a:pt x="16383" y="110744"/>
                    <a:pt x="13716" y="107315"/>
                    <a:pt x="11303" y="103632"/>
                  </a:cubicBezTo>
                  <a:cubicBezTo>
                    <a:pt x="8890" y="99949"/>
                    <a:pt x="6731" y="96266"/>
                    <a:pt x="5080" y="92202"/>
                  </a:cubicBezTo>
                  <a:cubicBezTo>
                    <a:pt x="3429" y="88138"/>
                    <a:pt x="2159" y="83947"/>
                    <a:pt x="1270" y="79629"/>
                  </a:cubicBezTo>
                  <a:cubicBezTo>
                    <a:pt x="381" y="75311"/>
                    <a:pt x="0" y="70993"/>
                    <a:pt x="0" y="66675"/>
                  </a:cubicBezTo>
                  <a:cubicBezTo>
                    <a:pt x="0" y="62357"/>
                    <a:pt x="381" y="57912"/>
                    <a:pt x="1270" y="53721"/>
                  </a:cubicBezTo>
                  <a:cubicBezTo>
                    <a:pt x="2159" y="49530"/>
                    <a:pt x="3429" y="45212"/>
                    <a:pt x="5080" y="41275"/>
                  </a:cubicBezTo>
                  <a:cubicBezTo>
                    <a:pt x="6731" y="37338"/>
                    <a:pt x="8763" y="33401"/>
                    <a:pt x="11303" y="29718"/>
                  </a:cubicBezTo>
                  <a:cubicBezTo>
                    <a:pt x="13843" y="26035"/>
                    <a:pt x="16510" y="22733"/>
                    <a:pt x="19558" y="19558"/>
                  </a:cubicBezTo>
                  <a:cubicBezTo>
                    <a:pt x="22606" y="16383"/>
                    <a:pt x="26035" y="13716"/>
                    <a:pt x="29718" y="11303"/>
                  </a:cubicBezTo>
                  <a:cubicBezTo>
                    <a:pt x="33401" y="8890"/>
                    <a:pt x="37211" y="6858"/>
                    <a:pt x="41275" y="5080"/>
                  </a:cubicBezTo>
                  <a:cubicBezTo>
                    <a:pt x="45339" y="3302"/>
                    <a:pt x="49530" y="2159"/>
                    <a:pt x="53721" y="1270"/>
                  </a:cubicBezTo>
                  <a:cubicBezTo>
                    <a:pt x="57912" y="381"/>
                    <a:pt x="62357" y="0"/>
                    <a:pt x="66675" y="0"/>
                  </a:cubicBezTo>
                  <a:cubicBezTo>
                    <a:pt x="70993" y="0"/>
                    <a:pt x="75438" y="381"/>
                    <a:pt x="79629" y="1270"/>
                  </a:cubicBezTo>
                  <a:cubicBezTo>
                    <a:pt x="83820" y="2159"/>
                    <a:pt x="88138" y="3429"/>
                    <a:pt x="92075" y="5080"/>
                  </a:cubicBezTo>
                  <a:cubicBezTo>
                    <a:pt x="96012" y="6731"/>
                    <a:pt x="99949" y="8763"/>
                    <a:pt x="103632" y="11303"/>
                  </a:cubicBezTo>
                  <a:cubicBezTo>
                    <a:pt x="107315" y="13843"/>
                    <a:pt x="110617" y="16510"/>
                    <a:pt x="113792" y="19558"/>
                  </a:cubicBezTo>
                  <a:cubicBezTo>
                    <a:pt x="116967" y="22606"/>
                    <a:pt x="119634" y="26035"/>
                    <a:pt x="122047" y="29718"/>
                  </a:cubicBezTo>
                  <a:cubicBezTo>
                    <a:pt x="124460" y="33401"/>
                    <a:pt x="126492" y="37211"/>
                    <a:pt x="128270" y="41275"/>
                  </a:cubicBezTo>
                  <a:cubicBezTo>
                    <a:pt x="130048" y="45339"/>
                    <a:pt x="131191" y="49530"/>
                    <a:pt x="132080" y="53721"/>
                  </a:cubicBezTo>
                  <a:cubicBezTo>
                    <a:pt x="132969" y="57912"/>
                    <a:pt x="133350" y="62357"/>
                    <a:pt x="133350" y="66675"/>
                  </a:cubicBezTo>
                  <a:close/>
                </a:path>
              </a:pathLst>
            </a:custGeom>
            <a:solidFill>
              <a:srgbClr val="000000"/>
            </a:solidFill>
          </p:spPr>
        </p:sp>
      </p:grpSp>
      <p:grpSp>
        <p:nvGrpSpPr>
          <p:cNvPr id="10" name="Group 10"/>
          <p:cNvGrpSpPr/>
          <p:nvPr/>
        </p:nvGrpSpPr>
        <p:grpSpPr>
          <a:xfrm>
            <a:off x="1003392" y="7430386"/>
            <a:ext cx="133350" cy="133350"/>
            <a:chOff x="0" y="0"/>
            <a:chExt cx="133350" cy="133350"/>
          </a:xfrm>
        </p:grpSpPr>
        <p:sp>
          <p:nvSpPr>
            <p:cNvPr id="11" name="Freeform 11"/>
            <p:cNvSpPr/>
            <p:nvPr/>
          </p:nvSpPr>
          <p:spPr>
            <a:xfrm>
              <a:off x="0" y="0"/>
              <a:ext cx="133350" cy="133350"/>
            </a:xfrm>
            <a:custGeom>
              <a:avLst/>
              <a:gdLst/>
              <a:ahLst/>
              <a:cxnLst/>
              <a:rect l="l" t="t" r="r" b="b"/>
              <a:pathLst>
                <a:path w="133350" h="133350">
                  <a:moveTo>
                    <a:pt x="133350" y="66675"/>
                  </a:moveTo>
                  <a:cubicBezTo>
                    <a:pt x="133350" y="70993"/>
                    <a:pt x="132969" y="75438"/>
                    <a:pt x="132080" y="79629"/>
                  </a:cubicBezTo>
                  <a:cubicBezTo>
                    <a:pt x="131191" y="83820"/>
                    <a:pt x="129921" y="88138"/>
                    <a:pt x="128270" y="92075"/>
                  </a:cubicBezTo>
                  <a:cubicBezTo>
                    <a:pt x="126619" y="96012"/>
                    <a:pt x="124587" y="99949"/>
                    <a:pt x="122047" y="103632"/>
                  </a:cubicBezTo>
                  <a:cubicBezTo>
                    <a:pt x="119507" y="107315"/>
                    <a:pt x="116840" y="110617"/>
                    <a:pt x="113792" y="113792"/>
                  </a:cubicBezTo>
                  <a:cubicBezTo>
                    <a:pt x="110744" y="116967"/>
                    <a:pt x="107315" y="119634"/>
                    <a:pt x="103632" y="122047"/>
                  </a:cubicBezTo>
                  <a:cubicBezTo>
                    <a:pt x="99949" y="124460"/>
                    <a:pt x="96139" y="126492"/>
                    <a:pt x="92075" y="128270"/>
                  </a:cubicBezTo>
                  <a:cubicBezTo>
                    <a:pt x="88011" y="130048"/>
                    <a:pt x="83820" y="131191"/>
                    <a:pt x="79629" y="132080"/>
                  </a:cubicBezTo>
                  <a:cubicBezTo>
                    <a:pt x="75438" y="132969"/>
                    <a:pt x="70993" y="133350"/>
                    <a:pt x="66675" y="133350"/>
                  </a:cubicBezTo>
                  <a:cubicBezTo>
                    <a:pt x="62357" y="133350"/>
                    <a:pt x="57912" y="132969"/>
                    <a:pt x="53721" y="132080"/>
                  </a:cubicBezTo>
                  <a:cubicBezTo>
                    <a:pt x="49530" y="131191"/>
                    <a:pt x="45212" y="129921"/>
                    <a:pt x="41275" y="128270"/>
                  </a:cubicBezTo>
                  <a:cubicBezTo>
                    <a:pt x="37338" y="126619"/>
                    <a:pt x="33401" y="124587"/>
                    <a:pt x="29718" y="122047"/>
                  </a:cubicBezTo>
                  <a:cubicBezTo>
                    <a:pt x="26035" y="119507"/>
                    <a:pt x="22733" y="116840"/>
                    <a:pt x="19558" y="113792"/>
                  </a:cubicBezTo>
                  <a:cubicBezTo>
                    <a:pt x="16383" y="110744"/>
                    <a:pt x="13716" y="107315"/>
                    <a:pt x="11303" y="103632"/>
                  </a:cubicBezTo>
                  <a:cubicBezTo>
                    <a:pt x="8890" y="99949"/>
                    <a:pt x="6731" y="96266"/>
                    <a:pt x="5080" y="92202"/>
                  </a:cubicBezTo>
                  <a:cubicBezTo>
                    <a:pt x="3429" y="88138"/>
                    <a:pt x="2159" y="83947"/>
                    <a:pt x="1270" y="79629"/>
                  </a:cubicBezTo>
                  <a:cubicBezTo>
                    <a:pt x="381" y="75311"/>
                    <a:pt x="0" y="70993"/>
                    <a:pt x="0" y="66675"/>
                  </a:cubicBezTo>
                  <a:cubicBezTo>
                    <a:pt x="0" y="62357"/>
                    <a:pt x="381" y="57912"/>
                    <a:pt x="1270" y="53721"/>
                  </a:cubicBezTo>
                  <a:cubicBezTo>
                    <a:pt x="2159" y="49530"/>
                    <a:pt x="3429" y="45212"/>
                    <a:pt x="5080" y="41275"/>
                  </a:cubicBezTo>
                  <a:cubicBezTo>
                    <a:pt x="6731" y="37338"/>
                    <a:pt x="8763" y="33401"/>
                    <a:pt x="11303" y="29718"/>
                  </a:cubicBezTo>
                  <a:cubicBezTo>
                    <a:pt x="13843" y="26035"/>
                    <a:pt x="16510" y="22733"/>
                    <a:pt x="19558" y="19558"/>
                  </a:cubicBezTo>
                  <a:cubicBezTo>
                    <a:pt x="22606" y="16383"/>
                    <a:pt x="26035" y="13716"/>
                    <a:pt x="29718" y="11303"/>
                  </a:cubicBezTo>
                  <a:cubicBezTo>
                    <a:pt x="33401" y="8890"/>
                    <a:pt x="37211" y="6858"/>
                    <a:pt x="41275" y="5080"/>
                  </a:cubicBezTo>
                  <a:cubicBezTo>
                    <a:pt x="45339" y="3302"/>
                    <a:pt x="49530" y="2159"/>
                    <a:pt x="53721" y="1270"/>
                  </a:cubicBezTo>
                  <a:cubicBezTo>
                    <a:pt x="57912" y="381"/>
                    <a:pt x="62357" y="0"/>
                    <a:pt x="66675" y="0"/>
                  </a:cubicBezTo>
                  <a:cubicBezTo>
                    <a:pt x="70993" y="0"/>
                    <a:pt x="75438" y="381"/>
                    <a:pt x="79629" y="1270"/>
                  </a:cubicBezTo>
                  <a:cubicBezTo>
                    <a:pt x="83820" y="2159"/>
                    <a:pt x="88138" y="3429"/>
                    <a:pt x="92075" y="5080"/>
                  </a:cubicBezTo>
                  <a:cubicBezTo>
                    <a:pt x="96012" y="6731"/>
                    <a:pt x="99949" y="8763"/>
                    <a:pt x="103632" y="11303"/>
                  </a:cubicBezTo>
                  <a:cubicBezTo>
                    <a:pt x="107315" y="13843"/>
                    <a:pt x="110617" y="16510"/>
                    <a:pt x="113792" y="19558"/>
                  </a:cubicBezTo>
                  <a:cubicBezTo>
                    <a:pt x="116967" y="22606"/>
                    <a:pt x="119634" y="26035"/>
                    <a:pt x="122047" y="29718"/>
                  </a:cubicBezTo>
                  <a:cubicBezTo>
                    <a:pt x="124460" y="33401"/>
                    <a:pt x="126492" y="37211"/>
                    <a:pt x="128270" y="41275"/>
                  </a:cubicBezTo>
                  <a:cubicBezTo>
                    <a:pt x="130048" y="45339"/>
                    <a:pt x="131191" y="49530"/>
                    <a:pt x="132080" y="53721"/>
                  </a:cubicBezTo>
                  <a:cubicBezTo>
                    <a:pt x="132969" y="57912"/>
                    <a:pt x="133350" y="62357"/>
                    <a:pt x="133350" y="66675"/>
                  </a:cubicBezTo>
                  <a:close/>
                </a:path>
              </a:pathLst>
            </a:custGeom>
            <a:solidFill>
              <a:srgbClr val="000000"/>
            </a:solidFill>
          </p:spPr>
        </p:sp>
      </p:grpSp>
      <p:sp>
        <p:nvSpPr>
          <p:cNvPr id="12" name="TextBox 12"/>
          <p:cNvSpPr txBox="1"/>
          <p:nvPr/>
        </p:nvSpPr>
        <p:spPr>
          <a:xfrm>
            <a:off x="5935266" y="958301"/>
            <a:ext cx="5701268" cy="698506"/>
          </a:xfrm>
          <a:prstGeom prst="rect">
            <a:avLst/>
          </a:prstGeom>
        </p:spPr>
        <p:txBody>
          <a:bodyPr lIns="0" tIns="0" rIns="0" bIns="0" rtlCol="0" anchor="t">
            <a:spAutoFit/>
          </a:bodyPr>
          <a:lstStyle/>
          <a:p>
            <a:pPr algn="l">
              <a:lnSpc>
                <a:spcPts val="5599"/>
              </a:lnSpc>
            </a:pPr>
            <a:r>
              <a:rPr lang="en-US" sz="3999" b="1">
                <a:solidFill>
                  <a:srgbClr val="000000"/>
                </a:solidFill>
                <a:latin typeface="Times New Roman Bold"/>
                <a:ea typeface="Times New Roman Bold"/>
                <a:cs typeface="Times New Roman Bold"/>
                <a:sym typeface="Times New Roman Bold"/>
              </a:rPr>
              <a:t>LITERATURE SURVEY </a:t>
            </a:r>
          </a:p>
        </p:txBody>
      </p:sp>
      <p:sp>
        <p:nvSpPr>
          <p:cNvPr id="13" name="TextBox 13"/>
          <p:cNvSpPr txBox="1"/>
          <p:nvPr/>
        </p:nvSpPr>
        <p:spPr>
          <a:xfrm>
            <a:off x="574767" y="9323365"/>
            <a:ext cx="889197" cy="339090"/>
          </a:xfrm>
          <a:prstGeom prst="rect">
            <a:avLst/>
          </a:prstGeom>
        </p:spPr>
        <p:txBody>
          <a:bodyPr lIns="0" tIns="0" rIns="0" bIns="0" rtlCol="0" anchor="t">
            <a:spAutoFit/>
          </a:bodyPr>
          <a:lstStyle/>
          <a:p>
            <a:pPr algn="l">
              <a:lnSpc>
                <a:spcPts val="2520"/>
              </a:lnSpc>
            </a:pPr>
            <a:r>
              <a:rPr lang="en-US" sz="1800">
                <a:solidFill>
                  <a:srgbClr val="000000"/>
                </a:solidFill>
                <a:latin typeface="Calibri (MS)"/>
                <a:ea typeface="Calibri (MS)"/>
                <a:cs typeface="Calibri (MS)"/>
                <a:sym typeface="Calibri (MS)"/>
              </a:rPr>
              <a:t>9/6/2025</a:t>
            </a:r>
          </a:p>
        </p:txBody>
      </p:sp>
      <p:sp>
        <p:nvSpPr>
          <p:cNvPr id="14" name="TextBox 14"/>
          <p:cNvSpPr txBox="1"/>
          <p:nvPr/>
        </p:nvSpPr>
        <p:spPr>
          <a:xfrm>
            <a:off x="574767" y="2185988"/>
            <a:ext cx="11831717" cy="7488653"/>
          </a:xfrm>
          <a:prstGeom prst="rect">
            <a:avLst/>
          </a:prstGeom>
        </p:spPr>
        <p:txBody>
          <a:bodyPr lIns="0" tIns="0" rIns="0" bIns="0" rtlCol="0" anchor="t">
            <a:spAutoFit/>
          </a:bodyPr>
          <a:lstStyle/>
          <a:p>
            <a:pPr algn="l">
              <a:lnSpc>
                <a:spcPts val="4899"/>
              </a:lnSpc>
            </a:pPr>
            <a:endParaRPr dirty="0"/>
          </a:p>
          <a:p>
            <a:pPr algn="l">
              <a:lnSpc>
                <a:spcPts val="4899"/>
              </a:lnSpc>
            </a:pPr>
            <a:endParaRPr lang="en-IN" dirty="0"/>
          </a:p>
          <a:p>
            <a:pPr marL="377771" lvl="1" algn="l">
              <a:lnSpc>
                <a:spcPts val="4899"/>
              </a:lnSpc>
            </a:pPr>
            <a:r>
              <a:rPr lang="en-US" sz="3499" dirty="0">
                <a:solidFill>
                  <a:srgbClr val="000000"/>
                </a:solidFill>
                <a:latin typeface="Times New Roman"/>
                <a:ea typeface="Times New Roman"/>
                <a:cs typeface="Times New Roman"/>
                <a:sym typeface="Times New Roman"/>
              </a:rPr>
              <a:t>   Uses fixed rules for loan eligibility.</a:t>
            </a:r>
          </a:p>
          <a:p>
            <a:pPr marL="755542" lvl="1" indent="-377771" algn="l">
              <a:lnSpc>
                <a:spcPts val="4899"/>
              </a:lnSpc>
              <a:buFont typeface="Arial"/>
              <a:buChar char="•"/>
            </a:pPr>
            <a:r>
              <a:rPr lang="en-US" sz="3499" dirty="0">
                <a:solidFill>
                  <a:srgbClr val="000000"/>
                </a:solidFill>
                <a:latin typeface="Times New Roman"/>
                <a:ea typeface="Times New Roman"/>
                <a:cs typeface="Times New Roman"/>
                <a:sym typeface="Times New Roman"/>
              </a:rPr>
              <a:t>Mainly analyzes current financial data.</a:t>
            </a:r>
          </a:p>
          <a:p>
            <a:pPr marL="755542" lvl="1" indent="-377771" algn="l">
              <a:lnSpc>
                <a:spcPts val="4899"/>
              </a:lnSpc>
              <a:buFont typeface="Arial"/>
              <a:buChar char="•"/>
            </a:pPr>
            <a:r>
              <a:rPr lang="en-US" sz="3499" dirty="0">
                <a:solidFill>
                  <a:srgbClr val="000000"/>
                </a:solidFill>
                <a:latin typeface="Times New Roman"/>
                <a:ea typeface="Times New Roman"/>
                <a:cs typeface="Times New Roman"/>
                <a:sym typeface="Times New Roman"/>
              </a:rPr>
              <a:t>Checks income, credit score, existing loans, and expenses.</a:t>
            </a:r>
          </a:p>
          <a:p>
            <a:pPr marL="755542" lvl="1" indent="-377771" algn="l">
              <a:lnSpc>
                <a:spcPts val="4899"/>
              </a:lnSpc>
              <a:buFont typeface="Arial"/>
              <a:buChar char="•"/>
            </a:pPr>
            <a:r>
              <a:rPr lang="en-US" sz="3499" dirty="0">
                <a:solidFill>
                  <a:srgbClr val="000000"/>
                </a:solidFill>
                <a:latin typeface="Times New Roman"/>
                <a:ea typeface="Times New Roman"/>
                <a:cs typeface="Times New Roman"/>
                <a:sym typeface="Times New Roman"/>
              </a:rPr>
              <a:t>Provides a simple Eligible / Not Eligible result.</a:t>
            </a:r>
          </a:p>
          <a:p>
            <a:pPr marL="377771" lvl="1" algn="l">
              <a:lnSpc>
                <a:spcPts val="4899"/>
              </a:lnSpc>
            </a:pPr>
            <a:r>
              <a:rPr lang="en-US" sz="3499" dirty="0">
                <a:solidFill>
                  <a:srgbClr val="000000"/>
                </a:solidFill>
                <a:latin typeface="Times New Roman"/>
                <a:ea typeface="Times New Roman"/>
                <a:cs typeface="Times New Roman"/>
                <a:sym typeface="Times New Roman"/>
              </a:rPr>
              <a:t>    Focuses mainly on the applicant’s present repayment capacity.</a:t>
            </a:r>
          </a:p>
          <a:p>
            <a:pPr marL="377771" lvl="1" algn="l">
              <a:lnSpc>
                <a:spcPts val="4899"/>
              </a:lnSpc>
            </a:pPr>
            <a:r>
              <a:rPr lang="en-US" sz="3499" dirty="0">
                <a:solidFill>
                  <a:srgbClr val="000000"/>
                </a:solidFill>
                <a:latin typeface="Times New Roman"/>
                <a:ea typeface="Times New Roman"/>
                <a:cs typeface="Times New Roman"/>
                <a:sym typeface="Times New Roman"/>
              </a:rPr>
              <a:t>    Has limited consideration of future financial changes.</a:t>
            </a:r>
          </a:p>
          <a:p>
            <a:pPr marL="755542" lvl="1" indent="-377771" algn="l">
              <a:lnSpc>
                <a:spcPts val="4899"/>
              </a:lnSpc>
              <a:buFont typeface="Arial"/>
              <a:buChar char="•"/>
            </a:pPr>
            <a:r>
              <a:rPr lang="en-US" sz="3499" dirty="0">
                <a:solidFill>
                  <a:srgbClr val="000000"/>
                </a:solidFill>
                <a:latin typeface="Times New Roman"/>
                <a:ea typeface="Times New Roman"/>
                <a:cs typeface="Times New Roman"/>
                <a:sym typeface="Times New Roman"/>
              </a:rPr>
              <a:t>Handles uncertain financial conditions poorly.</a:t>
            </a:r>
          </a:p>
          <a:p>
            <a:pPr marL="755542" lvl="1" indent="-377771" algn="l">
              <a:lnSpc>
                <a:spcPts val="4899"/>
              </a:lnSpc>
              <a:buFont typeface="Arial"/>
              <a:buChar char="•"/>
            </a:pPr>
            <a:r>
              <a:rPr lang="en-US" sz="3499" dirty="0">
                <a:solidFill>
                  <a:srgbClr val="000000"/>
                </a:solidFill>
                <a:latin typeface="Times New Roman"/>
                <a:ea typeface="Times New Roman"/>
                <a:cs typeface="Times New Roman"/>
                <a:sym typeface="Times New Roman"/>
              </a:rPr>
              <a:t>May require manual verification for borderline applications.</a:t>
            </a:r>
          </a:p>
          <a:p>
            <a:pPr marL="755542" lvl="1" indent="-377771" algn="l">
              <a:lnSpc>
                <a:spcPts val="4899"/>
              </a:lnSpc>
              <a:buFont typeface="Arial"/>
              <a:buChar char="•"/>
            </a:pPr>
            <a:r>
              <a:rPr lang="en-US" sz="3499" dirty="0">
                <a:solidFill>
                  <a:srgbClr val="000000"/>
                </a:solidFill>
                <a:latin typeface="Times New Roman"/>
                <a:ea typeface="Times New Roman"/>
                <a:cs typeface="Times New Roman"/>
                <a:sym typeface="Times New Roman"/>
              </a:rPr>
              <a:t>Provides limited explanation for complex decisions.</a:t>
            </a:r>
          </a:p>
        </p:txBody>
      </p:sp>
      <p:sp>
        <p:nvSpPr>
          <p:cNvPr id="15" name="TextBox 15"/>
          <p:cNvSpPr txBox="1"/>
          <p:nvPr/>
        </p:nvSpPr>
        <p:spPr>
          <a:xfrm>
            <a:off x="6313269" y="2185988"/>
            <a:ext cx="4222591" cy="615963"/>
          </a:xfrm>
          <a:prstGeom prst="rect">
            <a:avLst/>
          </a:prstGeom>
        </p:spPr>
        <p:txBody>
          <a:bodyPr lIns="0" tIns="0" rIns="0" bIns="0" rtlCol="0" anchor="t">
            <a:spAutoFit/>
          </a:bodyPr>
          <a:lstStyle/>
          <a:p>
            <a:pPr algn="ctr">
              <a:lnSpc>
                <a:spcPts val="4899"/>
              </a:lnSpc>
              <a:spcBef>
                <a:spcPct val="0"/>
              </a:spcBef>
            </a:pPr>
            <a:r>
              <a:rPr lang="en-US" sz="3499" b="1">
                <a:solidFill>
                  <a:srgbClr val="000000"/>
                </a:solidFill>
                <a:latin typeface="Times New Roman Bold"/>
                <a:ea typeface="Times New Roman Bold"/>
                <a:cs typeface="Times New Roman Bold"/>
                <a:sym typeface="Times New Roman Bold"/>
              </a:rPr>
              <a:t>EXISTING SYSTEM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47775" y="321469"/>
            <a:ext cx="1598295" cy="1585912"/>
            <a:chOff x="0" y="0"/>
            <a:chExt cx="2131060" cy="2114550"/>
          </a:xfrm>
        </p:grpSpPr>
        <p:sp>
          <p:nvSpPr>
            <p:cNvPr id="3" name="Freeform 3"/>
            <p:cNvSpPr/>
            <p:nvPr/>
          </p:nvSpPr>
          <p:spPr>
            <a:xfrm>
              <a:off x="0" y="0"/>
              <a:ext cx="2131060" cy="2114550"/>
            </a:xfrm>
            <a:custGeom>
              <a:avLst/>
              <a:gdLst/>
              <a:ahLst/>
              <a:cxnLst/>
              <a:rect l="l" t="t" r="r" b="b"/>
              <a:pathLst>
                <a:path w="2131060" h="2114550">
                  <a:moveTo>
                    <a:pt x="0" y="0"/>
                  </a:moveTo>
                  <a:lnTo>
                    <a:pt x="2131060" y="0"/>
                  </a:lnTo>
                  <a:lnTo>
                    <a:pt x="2131060" y="2114550"/>
                  </a:lnTo>
                  <a:lnTo>
                    <a:pt x="0" y="2114550"/>
                  </a:lnTo>
                  <a:lnTo>
                    <a:pt x="0" y="0"/>
                  </a:lnTo>
                  <a:close/>
                </a:path>
              </a:pathLst>
            </a:custGeom>
            <a:blipFill>
              <a:blip r:embed="rId2"/>
              <a:stretch>
                <a:fillRect/>
              </a:stretch>
            </a:blipFill>
          </p:spPr>
        </p:sp>
      </p:grpSp>
      <p:grpSp>
        <p:nvGrpSpPr>
          <p:cNvPr id="4" name="Group 4"/>
          <p:cNvGrpSpPr/>
          <p:nvPr/>
        </p:nvGrpSpPr>
        <p:grpSpPr>
          <a:xfrm>
            <a:off x="15085219" y="500062"/>
            <a:ext cx="1826990" cy="1771650"/>
            <a:chOff x="0" y="0"/>
            <a:chExt cx="2435987" cy="2362200"/>
          </a:xfrm>
        </p:grpSpPr>
        <p:sp>
          <p:nvSpPr>
            <p:cNvPr id="5" name="Freeform 5" descr="KRCE Tiruchirappalli : Admission 2024, Courses, Fees, Placement, Cut Off"/>
            <p:cNvSpPr/>
            <p:nvPr/>
          </p:nvSpPr>
          <p:spPr>
            <a:xfrm>
              <a:off x="0" y="0"/>
              <a:ext cx="2435987" cy="2362200"/>
            </a:xfrm>
            <a:custGeom>
              <a:avLst/>
              <a:gdLst/>
              <a:ahLst/>
              <a:cxnLst/>
              <a:rect l="l" t="t" r="r" b="b"/>
              <a:pathLst>
                <a:path w="2435987" h="2362200">
                  <a:moveTo>
                    <a:pt x="0" y="0"/>
                  </a:moveTo>
                  <a:lnTo>
                    <a:pt x="2435987" y="0"/>
                  </a:lnTo>
                  <a:lnTo>
                    <a:pt x="2435987" y="2362200"/>
                  </a:lnTo>
                  <a:lnTo>
                    <a:pt x="0" y="2362200"/>
                  </a:lnTo>
                  <a:lnTo>
                    <a:pt x="0" y="0"/>
                  </a:lnTo>
                  <a:close/>
                </a:path>
              </a:pathLst>
            </a:custGeom>
            <a:blipFill>
              <a:blip r:embed="rId3"/>
              <a:stretch>
                <a:fillRect r="-1"/>
              </a:stretch>
            </a:blipFill>
          </p:spPr>
        </p:sp>
      </p:grpSp>
      <p:sp>
        <p:nvSpPr>
          <p:cNvPr id="6" name="TextBox 6"/>
          <p:cNvSpPr txBox="1"/>
          <p:nvPr/>
        </p:nvSpPr>
        <p:spPr>
          <a:xfrm>
            <a:off x="6411515" y="1510503"/>
            <a:ext cx="5108258" cy="698506"/>
          </a:xfrm>
          <a:prstGeom prst="rect">
            <a:avLst/>
          </a:prstGeom>
        </p:spPr>
        <p:txBody>
          <a:bodyPr lIns="0" tIns="0" rIns="0" bIns="0" rtlCol="0" anchor="t">
            <a:spAutoFit/>
          </a:bodyPr>
          <a:lstStyle/>
          <a:p>
            <a:pPr algn="ctr">
              <a:lnSpc>
                <a:spcPts val="5599"/>
              </a:lnSpc>
              <a:spcBef>
                <a:spcPct val="0"/>
              </a:spcBef>
            </a:pPr>
            <a:r>
              <a:rPr lang="en-US" sz="3999" b="1">
                <a:solidFill>
                  <a:srgbClr val="000000"/>
                </a:solidFill>
                <a:latin typeface="Times New Roman Bold"/>
                <a:ea typeface="Times New Roman Bold"/>
                <a:cs typeface="Times New Roman Bold"/>
                <a:sym typeface="Times New Roman Bold"/>
              </a:rPr>
              <a:t>PROPOSED SYSTEM </a:t>
            </a:r>
          </a:p>
        </p:txBody>
      </p:sp>
      <p:sp>
        <p:nvSpPr>
          <p:cNvPr id="7" name="TextBox 7"/>
          <p:cNvSpPr txBox="1"/>
          <p:nvPr/>
        </p:nvSpPr>
        <p:spPr>
          <a:xfrm>
            <a:off x="1613614" y="2745422"/>
            <a:ext cx="14786293" cy="6197601"/>
          </a:xfrm>
          <a:prstGeom prst="rect">
            <a:avLst/>
          </a:prstGeom>
        </p:spPr>
        <p:txBody>
          <a:bodyPr lIns="0" tIns="0" rIns="0" bIns="0" rtlCol="0" anchor="t">
            <a:spAutoFit/>
          </a:bodyPr>
          <a:lstStyle/>
          <a:p>
            <a:pPr marL="755651" lvl="1" indent="-377825" algn="l">
              <a:lnSpc>
                <a:spcPts val="4900"/>
              </a:lnSpc>
              <a:buFont typeface="Arial"/>
              <a:buChar char="•"/>
            </a:pPr>
            <a:r>
              <a:rPr lang="en-US" sz="3500">
                <a:solidFill>
                  <a:srgbClr val="000000"/>
                </a:solidFill>
                <a:latin typeface="Times New Roman"/>
                <a:ea typeface="Times New Roman"/>
                <a:cs typeface="Times New Roman"/>
                <a:sym typeface="Times New Roman"/>
              </a:rPr>
              <a:t>Uses FQL (Fuzzy Query Language) based rule inference.</a:t>
            </a:r>
          </a:p>
          <a:p>
            <a:pPr marL="755651" lvl="1" indent="-377825" algn="l">
              <a:lnSpc>
                <a:spcPts val="4900"/>
              </a:lnSpc>
              <a:buFont typeface="Arial"/>
              <a:buChar char="•"/>
            </a:pPr>
            <a:r>
              <a:rPr lang="en-US" sz="3500">
                <a:solidFill>
                  <a:srgbClr val="000000"/>
                </a:solidFill>
                <a:latin typeface="Times New Roman"/>
                <a:ea typeface="Times New Roman"/>
                <a:cs typeface="Times New Roman"/>
                <a:sym typeface="Times New Roman"/>
              </a:rPr>
              <a:t>Processes live application data.</a:t>
            </a:r>
          </a:p>
          <a:p>
            <a:pPr marL="755651" lvl="1" indent="-377825" algn="l">
              <a:lnSpc>
                <a:spcPts val="4900"/>
              </a:lnSpc>
              <a:buFont typeface="Arial"/>
              <a:buChar char="•"/>
            </a:pPr>
            <a:r>
              <a:rPr lang="en-US" sz="3500">
                <a:solidFill>
                  <a:srgbClr val="000000"/>
                </a:solidFill>
                <a:latin typeface="Times New Roman"/>
                <a:ea typeface="Times New Roman"/>
                <a:cs typeface="Times New Roman"/>
                <a:sym typeface="Times New Roman"/>
              </a:rPr>
              <a:t>Analyzes income, expenses, EMI, credit score, debt, and employment stability.</a:t>
            </a:r>
          </a:p>
          <a:p>
            <a:pPr marL="755651" lvl="1" indent="-377825" algn="l">
              <a:lnSpc>
                <a:spcPts val="4900"/>
              </a:lnSpc>
              <a:buFont typeface="Arial"/>
              <a:buChar char="•"/>
            </a:pPr>
            <a:r>
              <a:rPr lang="en-US" sz="3500">
                <a:solidFill>
                  <a:srgbClr val="000000"/>
                </a:solidFill>
                <a:latin typeface="Times New Roman"/>
                <a:ea typeface="Times New Roman"/>
                <a:cs typeface="Times New Roman"/>
                <a:sym typeface="Times New Roman"/>
              </a:rPr>
              <a:t>Provides Low, Medium, or High Risk classification.</a:t>
            </a:r>
          </a:p>
          <a:p>
            <a:pPr marL="755651" lvl="1" indent="-377825" algn="l">
              <a:lnSpc>
                <a:spcPts val="4900"/>
              </a:lnSpc>
              <a:buFont typeface="Arial"/>
              <a:buChar char="•"/>
            </a:pPr>
            <a:r>
              <a:rPr lang="en-US" sz="3500">
                <a:solidFill>
                  <a:srgbClr val="000000"/>
                </a:solidFill>
                <a:latin typeface="Times New Roman"/>
                <a:ea typeface="Times New Roman"/>
                <a:cs typeface="Times New Roman"/>
                <a:sym typeface="Times New Roman"/>
              </a:rPr>
              <a:t>Evaluates current financial stability.</a:t>
            </a:r>
          </a:p>
          <a:p>
            <a:pPr marL="755651" lvl="1" indent="-377825" algn="l">
              <a:lnSpc>
                <a:spcPts val="4900"/>
              </a:lnSpc>
              <a:buFont typeface="Arial"/>
              <a:buChar char="•"/>
            </a:pPr>
            <a:r>
              <a:rPr lang="en-US" sz="3500">
                <a:solidFill>
                  <a:srgbClr val="000000"/>
                </a:solidFill>
                <a:latin typeface="Times New Roman"/>
                <a:ea typeface="Times New Roman"/>
                <a:cs typeface="Times New Roman"/>
                <a:sym typeface="Times New Roman"/>
              </a:rPr>
              <a:t>Estimates future financial stability using possible income changes.</a:t>
            </a:r>
          </a:p>
          <a:p>
            <a:pPr marL="755651" lvl="1" indent="-377825" algn="l">
              <a:lnSpc>
                <a:spcPts val="4900"/>
              </a:lnSpc>
              <a:buFont typeface="Arial"/>
              <a:buChar char="•"/>
            </a:pPr>
            <a:r>
              <a:rPr lang="en-US" sz="3500">
                <a:solidFill>
                  <a:srgbClr val="000000"/>
                </a:solidFill>
                <a:latin typeface="Times New Roman"/>
                <a:ea typeface="Times New Roman"/>
                <a:cs typeface="Times New Roman"/>
                <a:sym typeface="Times New Roman"/>
              </a:rPr>
              <a:t>Handles uncertain and varying financial conditions.</a:t>
            </a:r>
          </a:p>
          <a:p>
            <a:pPr marL="755651" lvl="1" indent="-377825" algn="l">
              <a:lnSpc>
                <a:spcPts val="4900"/>
              </a:lnSpc>
              <a:buFont typeface="Arial"/>
              <a:buChar char="•"/>
            </a:pPr>
            <a:r>
              <a:rPr lang="en-US" sz="3500">
                <a:solidFill>
                  <a:srgbClr val="000000"/>
                </a:solidFill>
                <a:latin typeface="Times New Roman"/>
                <a:ea typeface="Times New Roman"/>
                <a:cs typeface="Times New Roman"/>
                <a:sym typeface="Times New Roman"/>
              </a:rPr>
              <a:t>Provides explainable rule-based decisions.</a:t>
            </a:r>
          </a:p>
          <a:p>
            <a:pPr marL="755651" lvl="1" indent="-377825" algn="l">
              <a:lnSpc>
                <a:spcPts val="4900"/>
              </a:lnSpc>
              <a:buFont typeface="Arial"/>
              <a:buChar char="•"/>
            </a:pPr>
            <a:r>
              <a:rPr lang="en-US" sz="3500">
                <a:solidFill>
                  <a:srgbClr val="000000"/>
                </a:solidFill>
                <a:latin typeface="Times New Roman"/>
                <a:ea typeface="Times New Roman"/>
                <a:cs typeface="Times New Roman"/>
                <a:sym typeface="Times New Roman"/>
              </a:rPr>
              <a:t>Reduces dependency on manual assessment.</a:t>
            </a:r>
          </a:p>
          <a:p>
            <a:pPr marL="755651" lvl="1" indent="-377825" algn="l">
              <a:lnSpc>
                <a:spcPts val="4900"/>
              </a:lnSpc>
              <a:buFont typeface="Arial"/>
              <a:buChar char="•"/>
            </a:pPr>
            <a:r>
              <a:rPr lang="en-US" sz="3500">
                <a:solidFill>
                  <a:srgbClr val="000000"/>
                </a:solidFill>
                <a:latin typeface="Times New Roman"/>
                <a:ea typeface="Times New Roman"/>
                <a:cs typeface="Times New Roman"/>
                <a:sym typeface="Times New Roman"/>
              </a:rPr>
              <a:t>Supports more flexible and data-driven loan/credit eligibility assessment.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94603" y="500062"/>
            <a:ext cx="1751267" cy="1737712"/>
            <a:chOff x="0" y="0"/>
            <a:chExt cx="2335022" cy="2316950"/>
          </a:xfrm>
        </p:grpSpPr>
        <p:sp>
          <p:nvSpPr>
            <p:cNvPr id="3" name="Freeform 3"/>
            <p:cNvSpPr/>
            <p:nvPr/>
          </p:nvSpPr>
          <p:spPr>
            <a:xfrm>
              <a:off x="0" y="0"/>
              <a:ext cx="2335022" cy="2316988"/>
            </a:xfrm>
            <a:custGeom>
              <a:avLst/>
              <a:gdLst/>
              <a:ahLst/>
              <a:cxnLst/>
              <a:rect l="l" t="t" r="r" b="b"/>
              <a:pathLst>
                <a:path w="2335022" h="2316988">
                  <a:moveTo>
                    <a:pt x="0" y="0"/>
                  </a:moveTo>
                  <a:lnTo>
                    <a:pt x="2335022" y="0"/>
                  </a:lnTo>
                  <a:lnTo>
                    <a:pt x="2335022" y="2316988"/>
                  </a:lnTo>
                  <a:lnTo>
                    <a:pt x="0" y="2316988"/>
                  </a:lnTo>
                  <a:lnTo>
                    <a:pt x="0" y="0"/>
                  </a:lnTo>
                  <a:close/>
                </a:path>
              </a:pathLst>
            </a:custGeom>
            <a:blipFill>
              <a:blip r:embed="rId2"/>
              <a:stretch>
                <a:fillRect r="-1" b="1"/>
              </a:stretch>
            </a:blipFill>
          </p:spPr>
        </p:sp>
      </p:grpSp>
      <p:grpSp>
        <p:nvGrpSpPr>
          <p:cNvPr id="4" name="Group 4"/>
          <p:cNvGrpSpPr/>
          <p:nvPr/>
        </p:nvGrpSpPr>
        <p:grpSpPr>
          <a:xfrm>
            <a:off x="15086600" y="500062"/>
            <a:ext cx="1673495" cy="1622765"/>
            <a:chOff x="0" y="0"/>
            <a:chExt cx="2231326" cy="2163686"/>
          </a:xfrm>
        </p:grpSpPr>
        <p:sp>
          <p:nvSpPr>
            <p:cNvPr id="5" name="Freeform 5" descr="KRCE Tiruchirappalli : Admission 2024, Courses, Fees, Placement, Cut Off"/>
            <p:cNvSpPr/>
            <p:nvPr/>
          </p:nvSpPr>
          <p:spPr>
            <a:xfrm>
              <a:off x="0" y="0"/>
              <a:ext cx="2231263" cy="2163699"/>
            </a:xfrm>
            <a:custGeom>
              <a:avLst/>
              <a:gdLst/>
              <a:ahLst/>
              <a:cxnLst/>
              <a:rect l="l" t="t" r="r" b="b"/>
              <a:pathLst>
                <a:path w="2231263" h="2163699">
                  <a:moveTo>
                    <a:pt x="0" y="0"/>
                  </a:moveTo>
                  <a:lnTo>
                    <a:pt x="2231263" y="0"/>
                  </a:lnTo>
                  <a:lnTo>
                    <a:pt x="2231263" y="2163699"/>
                  </a:lnTo>
                  <a:lnTo>
                    <a:pt x="0" y="2163699"/>
                  </a:lnTo>
                  <a:lnTo>
                    <a:pt x="0" y="0"/>
                  </a:lnTo>
                  <a:close/>
                </a:path>
              </a:pathLst>
            </a:custGeom>
            <a:blipFill>
              <a:blip r:embed="rId3"/>
              <a:stretch>
                <a:fillRect r="-3" b="-1"/>
              </a:stretch>
            </a:blipFill>
          </p:spPr>
        </p:sp>
      </p:grpSp>
      <p:sp>
        <p:nvSpPr>
          <p:cNvPr id="6" name="TextBox 6"/>
          <p:cNvSpPr txBox="1"/>
          <p:nvPr/>
        </p:nvSpPr>
        <p:spPr>
          <a:xfrm>
            <a:off x="5459263" y="992781"/>
            <a:ext cx="7154751" cy="693058"/>
          </a:xfrm>
          <a:prstGeom prst="rect">
            <a:avLst/>
          </a:prstGeom>
        </p:spPr>
        <p:txBody>
          <a:bodyPr lIns="0" tIns="0" rIns="0" bIns="0" rtlCol="0" anchor="t">
            <a:spAutoFit/>
          </a:bodyPr>
          <a:lstStyle/>
          <a:p>
            <a:pPr algn="l">
              <a:lnSpc>
                <a:spcPts val="5599"/>
              </a:lnSpc>
            </a:pPr>
            <a:r>
              <a:rPr lang="en-US" sz="3999" b="1">
                <a:solidFill>
                  <a:srgbClr val="000000"/>
                </a:solidFill>
                <a:latin typeface="Times New Roman Bold"/>
                <a:ea typeface="Times New Roman Bold"/>
                <a:cs typeface="Times New Roman Bold"/>
                <a:sym typeface="Times New Roman Bold"/>
              </a:rPr>
              <a:t>AI TECHNIQUE SELECTION </a:t>
            </a:r>
          </a:p>
        </p:txBody>
      </p:sp>
      <p:sp>
        <p:nvSpPr>
          <p:cNvPr id="7" name="TextBox 7"/>
          <p:cNvSpPr txBox="1"/>
          <p:nvPr/>
        </p:nvSpPr>
        <p:spPr>
          <a:xfrm>
            <a:off x="6475162" y="1697631"/>
            <a:ext cx="4750165" cy="693058"/>
          </a:xfrm>
          <a:prstGeom prst="rect">
            <a:avLst/>
          </a:prstGeom>
        </p:spPr>
        <p:txBody>
          <a:bodyPr lIns="0" tIns="0" rIns="0" bIns="0" rtlCol="0" anchor="t">
            <a:spAutoFit/>
          </a:bodyPr>
          <a:lstStyle/>
          <a:p>
            <a:pPr algn="l">
              <a:lnSpc>
                <a:spcPts val="5599"/>
              </a:lnSpc>
            </a:pPr>
            <a:r>
              <a:rPr lang="en-US" sz="3999" b="1">
                <a:solidFill>
                  <a:srgbClr val="000000"/>
                </a:solidFill>
                <a:latin typeface="Times New Roman Bold"/>
                <a:ea typeface="Times New Roman Bold"/>
                <a:cs typeface="Times New Roman Bold"/>
                <a:sym typeface="Times New Roman Bold"/>
              </a:rPr>
              <a:t>&amp; JUSTIFICATION </a:t>
            </a:r>
          </a:p>
        </p:txBody>
      </p:sp>
      <p:sp>
        <p:nvSpPr>
          <p:cNvPr id="8" name="TextBox 8"/>
          <p:cNvSpPr txBox="1"/>
          <p:nvPr/>
        </p:nvSpPr>
        <p:spPr>
          <a:xfrm>
            <a:off x="914400" y="9496425"/>
            <a:ext cx="889197" cy="339090"/>
          </a:xfrm>
          <a:prstGeom prst="rect">
            <a:avLst/>
          </a:prstGeom>
        </p:spPr>
        <p:txBody>
          <a:bodyPr lIns="0" tIns="0" rIns="0" bIns="0" rtlCol="0" anchor="t">
            <a:spAutoFit/>
          </a:bodyPr>
          <a:lstStyle/>
          <a:p>
            <a:pPr algn="l">
              <a:lnSpc>
                <a:spcPts val="2520"/>
              </a:lnSpc>
            </a:pPr>
            <a:r>
              <a:rPr lang="en-US" sz="1800">
                <a:solidFill>
                  <a:srgbClr val="8B8B8B"/>
                </a:solidFill>
                <a:latin typeface="Calibri (MS)"/>
                <a:ea typeface="Calibri (MS)"/>
                <a:cs typeface="Calibri (MS)"/>
                <a:sym typeface="Calibri (MS)"/>
              </a:rPr>
              <a:t>9/6/2025</a:t>
            </a:r>
          </a:p>
        </p:txBody>
      </p:sp>
      <p:sp>
        <p:nvSpPr>
          <p:cNvPr id="9" name="TextBox 9"/>
          <p:cNvSpPr txBox="1"/>
          <p:nvPr/>
        </p:nvSpPr>
        <p:spPr>
          <a:xfrm>
            <a:off x="2109788" y="3106064"/>
            <a:ext cx="14351698" cy="1589837"/>
          </a:xfrm>
          <a:prstGeom prst="rect">
            <a:avLst/>
          </a:prstGeom>
        </p:spPr>
        <p:txBody>
          <a:bodyPr lIns="0" tIns="0" rIns="0" bIns="0" rtlCol="0" anchor="t">
            <a:spAutoFit/>
          </a:bodyPr>
          <a:lstStyle/>
          <a:p>
            <a:pPr algn="l">
              <a:lnSpc>
                <a:spcPts val="4125"/>
              </a:lnSpc>
            </a:pPr>
            <a:r>
              <a:rPr lang="en-US" sz="3499">
                <a:solidFill>
                  <a:srgbClr val="000000"/>
                </a:solidFill>
                <a:latin typeface="Times New Roman"/>
                <a:ea typeface="Times New Roman"/>
                <a:cs typeface="Times New Roman"/>
                <a:sym typeface="Times New Roman"/>
              </a:rPr>
              <a:t>FQL is used to query and reason over fuzzy applicant data using rules, allowing the system to make flexible loan eligibility decisions instead of using only strict Yes/No conditions.</a:t>
            </a:r>
          </a:p>
        </p:txBody>
      </p:sp>
      <p:sp>
        <p:nvSpPr>
          <p:cNvPr id="10" name="TextBox 10"/>
          <p:cNvSpPr txBox="1"/>
          <p:nvPr/>
        </p:nvSpPr>
        <p:spPr>
          <a:xfrm>
            <a:off x="1970246" y="5201574"/>
            <a:ext cx="6563192" cy="3685337"/>
          </a:xfrm>
          <a:prstGeom prst="rect">
            <a:avLst/>
          </a:prstGeom>
        </p:spPr>
        <p:txBody>
          <a:bodyPr lIns="0" tIns="0" rIns="0" bIns="0" rtlCol="0" anchor="t">
            <a:spAutoFit/>
          </a:bodyPr>
          <a:lstStyle/>
          <a:p>
            <a:pPr algn="l">
              <a:lnSpc>
                <a:spcPts val="4125"/>
              </a:lnSpc>
            </a:pPr>
            <a:r>
              <a:rPr lang="en-US" sz="3499" b="1">
                <a:solidFill>
                  <a:srgbClr val="000000"/>
                </a:solidFill>
                <a:latin typeface="Times New Roman Bold"/>
                <a:ea typeface="Times New Roman Bold"/>
                <a:cs typeface="Times New Roman Bold"/>
                <a:sym typeface="Times New Roman Bold"/>
              </a:rPr>
              <a:t>Example </a:t>
            </a:r>
            <a:r>
              <a:rPr lang="en-US" sz="3499">
                <a:solidFill>
                  <a:srgbClr val="000000"/>
                </a:solidFill>
                <a:latin typeface="Times New Roman"/>
                <a:ea typeface="Times New Roman"/>
                <a:cs typeface="Times New Roman"/>
                <a:sym typeface="Times New Roman"/>
              </a:rPr>
              <a:t>:</a:t>
            </a:r>
          </a:p>
          <a:p>
            <a:pPr algn="l">
              <a:lnSpc>
                <a:spcPts val="4125"/>
              </a:lnSpc>
              <a:spcBef>
                <a:spcPts val="4125"/>
              </a:spcBef>
            </a:pPr>
            <a:r>
              <a:rPr lang="en-US" sz="3499">
                <a:solidFill>
                  <a:srgbClr val="000000"/>
                </a:solidFill>
                <a:latin typeface="Times New Roman"/>
                <a:ea typeface="Times New Roman"/>
                <a:cs typeface="Times New Roman"/>
                <a:sym typeface="Times New Roman"/>
              </a:rPr>
              <a:t>FQL in Loan Eligibility</a:t>
            </a:r>
          </a:p>
          <a:p>
            <a:pPr algn="l">
              <a:lnSpc>
                <a:spcPts val="4125"/>
              </a:lnSpc>
            </a:pPr>
            <a:r>
              <a:rPr lang="en-US" sz="3499">
                <a:solidFill>
                  <a:srgbClr val="000000"/>
                </a:solidFill>
                <a:latin typeface="Times New Roman"/>
                <a:ea typeface="Times New Roman"/>
                <a:cs typeface="Times New Roman"/>
                <a:sym typeface="Times New Roman"/>
              </a:rPr>
              <a:t>Applicant Details:</a:t>
            </a:r>
          </a:p>
          <a:p>
            <a:pPr algn="l">
              <a:lnSpc>
                <a:spcPts val="4125"/>
              </a:lnSpc>
            </a:pPr>
            <a:r>
              <a:rPr lang="en-US" sz="3499">
                <a:solidFill>
                  <a:srgbClr val="000000"/>
                </a:solidFill>
                <a:latin typeface="Times New Roman"/>
                <a:ea typeface="Times New Roman"/>
                <a:cs typeface="Times New Roman"/>
                <a:sym typeface="Times New Roman"/>
              </a:rPr>
              <a:t>Income = ₹40,000 → Medium/High Credit Score = 720 → Good</a:t>
            </a:r>
          </a:p>
          <a:p>
            <a:pPr algn="l">
              <a:lnSpc>
                <a:spcPts val="4125"/>
              </a:lnSpc>
            </a:pPr>
            <a:r>
              <a:rPr lang="en-US" sz="3499">
                <a:solidFill>
                  <a:srgbClr val="000000"/>
                </a:solidFill>
                <a:latin typeface="Times New Roman"/>
                <a:ea typeface="Times New Roman"/>
                <a:cs typeface="Times New Roman"/>
                <a:sym typeface="Times New Roman"/>
              </a:rPr>
              <a:t>Debt = ₹8,000 → Low</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94603" y="500062"/>
            <a:ext cx="1751267" cy="1737712"/>
            <a:chOff x="0" y="0"/>
            <a:chExt cx="2335022" cy="2316950"/>
          </a:xfrm>
        </p:grpSpPr>
        <p:sp>
          <p:nvSpPr>
            <p:cNvPr id="3" name="Freeform 3"/>
            <p:cNvSpPr/>
            <p:nvPr/>
          </p:nvSpPr>
          <p:spPr>
            <a:xfrm>
              <a:off x="0" y="0"/>
              <a:ext cx="2335022" cy="2316988"/>
            </a:xfrm>
            <a:custGeom>
              <a:avLst/>
              <a:gdLst/>
              <a:ahLst/>
              <a:cxnLst/>
              <a:rect l="l" t="t" r="r" b="b"/>
              <a:pathLst>
                <a:path w="2335022" h="2316988">
                  <a:moveTo>
                    <a:pt x="0" y="0"/>
                  </a:moveTo>
                  <a:lnTo>
                    <a:pt x="2335022" y="0"/>
                  </a:lnTo>
                  <a:lnTo>
                    <a:pt x="2335022" y="2316988"/>
                  </a:lnTo>
                  <a:lnTo>
                    <a:pt x="0" y="2316988"/>
                  </a:lnTo>
                  <a:lnTo>
                    <a:pt x="0" y="0"/>
                  </a:lnTo>
                  <a:close/>
                </a:path>
              </a:pathLst>
            </a:custGeom>
            <a:blipFill>
              <a:blip r:embed="rId2"/>
              <a:stretch>
                <a:fillRect r="-1" b="1"/>
              </a:stretch>
            </a:blipFill>
          </p:spPr>
        </p:sp>
      </p:grpSp>
      <p:grpSp>
        <p:nvGrpSpPr>
          <p:cNvPr id="4" name="Group 4"/>
          <p:cNvGrpSpPr/>
          <p:nvPr/>
        </p:nvGrpSpPr>
        <p:grpSpPr>
          <a:xfrm>
            <a:off x="15085219" y="500062"/>
            <a:ext cx="1674876" cy="1624108"/>
            <a:chOff x="0" y="0"/>
            <a:chExt cx="2233168" cy="2165477"/>
          </a:xfrm>
        </p:grpSpPr>
        <p:sp>
          <p:nvSpPr>
            <p:cNvPr id="5" name="Freeform 5" descr="KRCE Tiruchirappalli : Admission 2024, Courses, Fees, Placement, Cut Off"/>
            <p:cNvSpPr/>
            <p:nvPr/>
          </p:nvSpPr>
          <p:spPr>
            <a:xfrm>
              <a:off x="0" y="0"/>
              <a:ext cx="2233168" cy="2165477"/>
            </a:xfrm>
            <a:custGeom>
              <a:avLst/>
              <a:gdLst/>
              <a:ahLst/>
              <a:cxnLst/>
              <a:rect l="l" t="t" r="r" b="b"/>
              <a:pathLst>
                <a:path w="2233168" h="2165477">
                  <a:moveTo>
                    <a:pt x="0" y="0"/>
                  </a:moveTo>
                  <a:lnTo>
                    <a:pt x="2233168" y="0"/>
                  </a:lnTo>
                  <a:lnTo>
                    <a:pt x="2233168" y="2165477"/>
                  </a:lnTo>
                  <a:lnTo>
                    <a:pt x="0" y="2165477"/>
                  </a:lnTo>
                  <a:lnTo>
                    <a:pt x="0" y="0"/>
                  </a:lnTo>
                  <a:close/>
                </a:path>
              </a:pathLst>
            </a:custGeom>
            <a:blipFill>
              <a:blip r:embed="rId3"/>
              <a:stretch>
                <a:fillRect r="-1" b="-2"/>
              </a:stretch>
            </a:blipFill>
          </p:spPr>
        </p:sp>
      </p:grpSp>
      <p:grpSp>
        <p:nvGrpSpPr>
          <p:cNvPr id="6" name="Group 6"/>
          <p:cNvGrpSpPr/>
          <p:nvPr/>
        </p:nvGrpSpPr>
        <p:grpSpPr>
          <a:xfrm>
            <a:off x="2759945" y="4381500"/>
            <a:ext cx="133350" cy="133350"/>
            <a:chOff x="0" y="0"/>
            <a:chExt cx="133350" cy="133350"/>
          </a:xfrm>
        </p:grpSpPr>
        <p:sp>
          <p:nvSpPr>
            <p:cNvPr id="7" name="Freeform 7"/>
            <p:cNvSpPr/>
            <p:nvPr/>
          </p:nvSpPr>
          <p:spPr>
            <a:xfrm>
              <a:off x="0" y="0"/>
              <a:ext cx="133350" cy="133350"/>
            </a:xfrm>
            <a:custGeom>
              <a:avLst/>
              <a:gdLst/>
              <a:ahLst/>
              <a:cxnLst/>
              <a:rect l="l" t="t" r="r" b="b"/>
              <a:pathLst>
                <a:path w="133350" h="133350">
                  <a:moveTo>
                    <a:pt x="133350" y="66675"/>
                  </a:moveTo>
                  <a:cubicBezTo>
                    <a:pt x="133350" y="70993"/>
                    <a:pt x="132969" y="75438"/>
                    <a:pt x="132080" y="79629"/>
                  </a:cubicBezTo>
                  <a:cubicBezTo>
                    <a:pt x="131191" y="83820"/>
                    <a:pt x="129921" y="88138"/>
                    <a:pt x="128270" y="92075"/>
                  </a:cubicBezTo>
                  <a:cubicBezTo>
                    <a:pt x="126619" y="96012"/>
                    <a:pt x="124587" y="99949"/>
                    <a:pt x="122047" y="103632"/>
                  </a:cubicBezTo>
                  <a:cubicBezTo>
                    <a:pt x="119507" y="107315"/>
                    <a:pt x="116840" y="110617"/>
                    <a:pt x="113792" y="113792"/>
                  </a:cubicBezTo>
                  <a:cubicBezTo>
                    <a:pt x="110744" y="116967"/>
                    <a:pt x="107315" y="119634"/>
                    <a:pt x="103632" y="122047"/>
                  </a:cubicBezTo>
                  <a:cubicBezTo>
                    <a:pt x="99949" y="124460"/>
                    <a:pt x="96139" y="126492"/>
                    <a:pt x="92075" y="128270"/>
                  </a:cubicBezTo>
                  <a:cubicBezTo>
                    <a:pt x="88011" y="130048"/>
                    <a:pt x="83820" y="131191"/>
                    <a:pt x="79629" y="132080"/>
                  </a:cubicBezTo>
                  <a:cubicBezTo>
                    <a:pt x="75438" y="132969"/>
                    <a:pt x="70993" y="133350"/>
                    <a:pt x="66675" y="133350"/>
                  </a:cubicBezTo>
                  <a:cubicBezTo>
                    <a:pt x="62357" y="133350"/>
                    <a:pt x="57912" y="132969"/>
                    <a:pt x="53721" y="132080"/>
                  </a:cubicBezTo>
                  <a:cubicBezTo>
                    <a:pt x="49530" y="131191"/>
                    <a:pt x="45212" y="129921"/>
                    <a:pt x="41275" y="128270"/>
                  </a:cubicBezTo>
                  <a:cubicBezTo>
                    <a:pt x="37338" y="126619"/>
                    <a:pt x="33401" y="124587"/>
                    <a:pt x="29718" y="122047"/>
                  </a:cubicBezTo>
                  <a:cubicBezTo>
                    <a:pt x="26035" y="119507"/>
                    <a:pt x="22733" y="116840"/>
                    <a:pt x="19558" y="113792"/>
                  </a:cubicBezTo>
                  <a:cubicBezTo>
                    <a:pt x="16383" y="110744"/>
                    <a:pt x="13716" y="107315"/>
                    <a:pt x="11303" y="103632"/>
                  </a:cubicBezTo>
                  <a:cubicBezTo>
                    <a:pt x="8890" y="99949"/>
                    <a:pt x="6731" y="96266"/>
                    <a:pt x="5080" y="92202"/>
                  </a:cubicBezTo>
                  <a:cubicBezTo>
                    <a:pt x="3429" y="88138"/>
                    <a:pt x="2159" y="83947"/>
                    <a:pt x="1270" y="79629"/>
                  </a:cubicBezTo>
                  <a:cubicBezTo>
                    <a:pt x="381" y="75311"/>
                    <a:pt x="0" y="70993"/>
                    <a:pt x="0" y="66675"/>
                  </a:cubicBezTo>
                  <a:cubicBezTo>
                    <a:pt x="0" y="62357"/>
                    <a:pt x="381" y="57912"/>
                    <a:pt x="1270" y="53721"/>
                  </a:cubicBezTo>
                  <a:cubicBezTo>
                    <a:pt x="2159" y="49530"/>
                    <a:pt x="3429" y="45212"/>
                    <a:pt x="5080" y="41275"/>
                  </a:cubicBezTo>
                  <a:cubicBezTo>
                    <a:pt x="6731" y="37338"/>
                    <a:pt x="8763" y="33401"/>
                    <a:pt x="11303" y="29718"/>
                  </a:cubicBezTo>
                  <a:cubicBezTo>
                    <a:pt x="13843" y="26035"/>
                    <a:pt x="16510" y="22733"/>
                    <a:pt x="19558" y="19558"/>
                  </a:cubicBezTo>
                  <a:cubicBezTo>
                    <a:pt x="22606" y="16383"/>
                    <a:pt x="26035" y="13716"/>
                    <a:pt x="29718" y="11303"/>
                  </a:cubicBezTo>
                  <a:cubicBezTo>
                    <a:pt x="33401" y="8890"/>
                    <a:pt x="37211" y="6858"/>
                    <a:pt x="41275" y="5080"/>
                  </a:cubicBezTo>
                  <a:cubicBezTo>
                    <a:pt x="45339" y="3302"/>
                    <a:pt x="49530" y="2159"/>
                    <a:pt x="53721" y="1270"/>
                  </a:cubicBezTo>
                  <a:cubicBezTo>
                    <a:pt x="57912" y="381"/>
                    <a:pt x="62357" y="0"/>
                    <a:pt x="66675" y="0"/>
                  </a:cubicBezTo>
                  <a:cubicBezTo>
                    <a:pt x="70993" y="0"/>
                    <a:pt x="75438" y="381"/>
                    <a:pt x="79629" y="1270"/>
                  </a:cubicBezTo>
                  <a:cubicBezTo>
                    <a:pt x="83820" y="2159"/>
                    <a:pt x="88138" y="3429"/>
                    <a:pt x="92075" y="5080"/>
                  </a:cubicBezTo>
                  <a:cubicBezTo>
                    <a:pt x="96012" y="6731"/>
                    <a:pt x="99949" y="8763"/>
                    <a:pt x="103632" y="11303"/>
                  </a:cubicBezTo>
                  <a:cubicBezTo>
                    <a:pt x="107315" y="13843"/>
                    <a:pt x="110617" y="16510"/>
                    <a:pt x="113792" y="19558"/>
                  </a:cubicBezTo>
                  <a:cubicBezTo>
                    <a:pt x="116967" y="22606"/>
                    <a:pt x="119634" y="26035"/>
                    <a:pt x="122047" y="29718"/>
                  </a:cubicBezTo>
                  <a:cubicBezTo>
                    <a:pt x="124460" y="33401"/>
                    <a:pt x="126492" y="37211"/>
                    <a:pt x="128270" y="41275"/>
                  </a:cubicBezTo>
                  <a:cubicBezTo>
                    <a:pt x="130048" y="45339"/>
                    <a:pt x="131191" y="49530"/>
                    <a:pt x="132080" y="53721"/>
                  </a:cubicBezTo>
                  <a:cubicBezTo>
                    <a:pt x="132969" y="57912"/>
                    <a:pt x="133350" y="62357"/>
                    <a:pt x="133350" y="66675"/>
                  </a:cubicBezTo>
                  <a:close/>
                </a:path>
              </a:pathLst>
            </a:custGeom>
            <a:solidFill>
              <a:srgbClr val="000000"/>
            </a:solidFill>
          </p:spPr>
        </p:sp>
      </p:grpSp>
      <p:grpSp>
        <p:nvGrpSpPr>
          <p:cNvPr id="8" name="Group 8"/>
          <p:cNvGrpSpPr/>
          <p:nvPr/>
        </p:nvGrpSpPr>
        <p:grpSpPr>
          <a:xfrm>
            <a:off x="2759945" y="4905375"/>
            <a:ext cx="133350" cy="133350"/>
            <a:chOff x="0" y="0"/>
            <a:chExt cx="133350" cy="133350"/>
          </a:xfrm>
        </p:grpSpPr>
        <p:sp>
          <p:nvSpPr>
            <p:cNvPr id="9" name="Freeform 9"/>
            <p:cNvSpPr/>
            <p:nvPr/>
          </p:nvSpPr>
          <p:spPr>
            <a:xfrm>
              <a:off x="0" y="0"/>
              <a:ext cx="133350" cy="133350"/>
            </a:xfrm>
            <a:custGeom>
              <a:avLst/>
              <a:gdLst/>
              <a:ahLst/>
              <a:cxnLst/>
              <a:rect l="l" t="t" r="r" b="b"/>
              <a:pathLst>
                <a:path w="133350" h="133350">
                  <a:moveTo>
                    <a:pt x="133350" y="66675"/>
                  </a:moveTo>
                  <a:cubicBezTo>
                    <a:pt x="133350" y="70993"/>
                    <a:pt x="132969" y="75438"/>
                    <a:pt x="132080" y="79629"/>
                  </a:cubicBezTo>
                  <a:cubicBezTo>
                    <a:pt x="131191" y="83820"/>
                    <a:pt x="129921" y="88138"/>
                    <a:pt x="128270" y="92075"/>
                  </a:cubicBezTo>
                  <a:cubicBezTo>
                    <a:pt x="126619" y="96012"/>
                    <a:pt x="124587" y="99949"/>
                    <a:pt x="122047" y="103632"/>
                  </a:cubicBezTo>
                  <a:cubicBezTo>
                    <a:pt x="119507" y="107315"/>
                    <a:pt x="116840" y="110617"/>
                    <a:pt x="113792" y="113792"/>
                  </a:cubicBezTo>
                  <a:cubicBezTo>
                    <a:pt x="110744" y="116967"/>
                    <a:pt x="107315" y="119634"/>
                    <a:pt x="103632" y="122047"/>
                  </a:cubicBezTo>
                  <a:cubicBezTo>
                    <a:pt x="99949" y="124460"/>
                    <a:pt x="96139" y="126492"/>
                    <a:pt x="92075" y="128270"/>
                  </a:cubicBezTo>
                  <a:cubicBezTo>
                    <a:pt x="88011" y="130048"/>
                    <a:pt x="83820" y="131191"/>
                    <a:pt x="79629" y="132080"/>
                  </a:cubicBezTo>
                  <a:cubicBezTo>
                    <a:pt x="75438" y="132969"/>
                    <a:pt x="70993" y="133350"/>
                    <a:pt x="66675" y="133350"/>
                  </a:cubicBezTo>
                  <a:cubicBezTo>
                    <a:pt x="62357" y="133350"/>
                    <a:pt x="57912" y="132969"/>
                    <a:pt x="53721" y="132080"/>
                  </a:cubicBezTo>
                  <a:cubicBezTo>
                    <a:pt x="49530" y="131191"/>
                    <a:pt x="45212" y="129921"/>
                    <a:pt x="41275" y="128270"/>
                  </a:cubicBezTo>
                  <a:cubicBezTo>
                    <a:pt x="37338" y="126619"/>
                    <a:pt x="33401" y="124587"/>
                    <a:pt x="29718" y="122047"/>
                  </a:cubicBezTo>
                  <a:cubicBezTo>
                    <a:pt x="26035" y="119507"/>
                    <a:pt x="22733" y="116840"/>
                    <a:pt x="19558" y="113792"/>
                  </a:cubicBezTo>
                  <a:cubicBezTo>
                    <a:pt x="16383" y="110744"/>
                    <a:pt x="13716" y="107315"/>
                    <a:pt x="11303" y="103632"/>
                  </a:cubicBezTo>
                  <a:cubicBezTo>
                    <a:pt x="8890" y="99949"/>
                    <a:pt x="6731" y="96266"/>
                    <a:pt x="5080" y="92202"/>
                  </a:cubicBezTo>
                  <a:cubicBezTo>
                    <a:pt x="3429" y="88138"/>
                    <a:pt x="2159" y="83947"/>
                    <a:pt x="1270" y="79629"/>
                  </a:cubicBezTo>
                  <a:cubicBezTo>
                    <a:pt x="381" y="75311"/>
                    <a:pt x="0" y="70993"/>
                    <a:pt x="0" y="66675"/>
                  </a:cubicBezTo>
                  <a:cubicBezTo>
                    <a:pt x="0" y="62357"/>
                    <a:pt x="381" y="57912"/>
                    <a:pt x="1270" y="53721"/>
                  </a:cubicBezTo>
                  <a:cubicBezTo>
                    <a:pt x="2159" y="49530"/>
                    <a:pt x="3429" y="45212"/>
                    <a:pt x="5080" y="41275"/>
                  </a:cubicBezTo>
                  <a:cubicBezTo>
                    <a:pt x="6731" y="37338"/>
                    <a:pt x="8763" y="33401"/>
                    <a:pt x="11303" y="29718"/>
                  </a:cubicBezTo>
                  <a:cubicBezTo>
                    <a:pt x="13843" y="26035"/>
                    <a:pt x="16510" y="22733"/>
                    <a:pt x="19558" y="19558"/>
                  </a:cubicBezTo>
                  <a:cubicBezTo>
                    <a:pt x="22606" y="16383"/>
                    <a:pt x="26035" y="13716"/>
                    <a:pt x="29718" y="11303"/>
                  </a:cubicBezTo>
                  <a:cubicBezTo>
                    <a:pt x="33401" y="8890"/>
                    <a:pt x="37211" y="6858"/>
                    <a:pt x="41275" y="5080"/>
                  </a:cubicBezTo>
                  <a:cubicBezTo>
                    <a:pt x="45339" y="3302"/>
                    <a:pt x="49530" y="2159"/>
                    <a:pt x="53721" y="1270"/>
                  </a:cubicBezTo>
                  <a:cubicBezTo>
                    <a:pt x="57912" y="381"/>
                    <a:pt x="62357" y="0"/>
                    <a:pt x="66675" y="0"/>
                  </a:cubicBezTo>
                  <a:cubicBezTo>
                    <a:pt x="70993" y="0"/>
                    <a:pt x="75438" y="381"/>
                    <a:pt x="79629" y="1270"/>
                  </a:cubicBezTo>
                  <a:cubicBezTo>
                    <a:pt x="83820" y="2159"/>
                    <a:pt x="88138" y="3429"/>
                    <a:pt x="92075" y="5080"/>
                  </a:cubicBezTo>
                  <a:cubicBezTo>
                    <a:pt x="96012" y="6731"/>
                    <a:pt x="99949" y="8763"/>
                    <a:pt x="103632" y="11303"/>
                  </a:cubicBezTo>
                  <a:cubicBezTo>
                    <a:pt x="107315" y="13843"/>
                    <a:pt x="110617" y="16510"/>
                    <a:pt x="113792" y="19558"/>
                  </a:cubicBezTo>
                  <a:cubicBezTo>
                    <a:pt x="116967" y="22606"/>
                    <a:pt x="119634" y="26035"/>
                    <a:pt x="122047" y="29718"/>
                  </a:cubicBezTo>
                  <a:cubicBezTo>
                    <a:pt x="124460" y="33401"/>
                    <a:pt x="126492" y="37211"/>
                    <a:pt x="128270" y="41275"/>
                  </a:cubicBezTo>
                  <a:cubicBezTo>
                    <a:pt x="130048" y="45339"/>
                    <a:pt x="131191" y="49530"/>
                    <a:pt x="132080" y="53721"/>
                  </a:cubicBezTo>
                  <a:cubicBezTo>
                    <a:pt x="132969" y="57912"/>
                    <a:pt x="133350" y="62357"/>
                    <a:pt x="133350" y="66675"/>
                  </a:cubicBezTo>
                  <a:close/>
                </a:path>
              </a:pathLst>
            </a:custGeom>
            <a:solidFill>
              <a:srgbClr val="000000"/>
            </a:solidFill>
          </p:spPr>
        </p:sp>
      </p:grpSp>
      <p:grpSp>
        <p:nvGrpSpPr>
          <p:cNvPr id="10" name="Group 10"/>
          <p:cNvGrpSpPr/>
          <p:nvPr/>
        </p:nvGrpSpPr>
        <p:grpSpPr>
          <a:xfrm>
            <a:off x="2759945" y="5429250"/>
            <a:ext cx="133350" cy="133350"/>
            <a:chOff x="0" y="0"/>
            <a:chExt cx="133350" cy="133350"/>
          </a:xfrm>
        </p:grpSpPr>
        <p:sp>
          <p:nvSpPr>
            <p:cNvPr id="11" name="Freeform 11"/>
            <p:cNvSpPr/>
            <p:nvPr/>
          </p:nvSpPr>
          <p:spPr>
            <a:xfrm>
              <a:off x="0" y="0"/>
              <a:ext cx="133350" cy="133350"/>
            </a:xfrm>
            <a:custGeom>
              <a:avLst/>
              <a:gdLst/>
              <a:ahLst/>
              <a:cxnLst/>
              <a:rect l="l" t="t" r="r" b="b"/>
              <a:pathLst>
                <a:path w="133350" h="133350">
                  <a:moveTo>
                    <a:pt x="133350" y="66675"/>
                  </a:moveTo>
                  <a:cubicBezTo>
                    <a:pt x="133350" y="70993"/>
                    <a:pt x="132969" y="75438"/>
                    <a:pt x="132080" y="79629"/>
                  </a:cubicBezTo>
                  <a:cubicBezTo>
                    <a:pt x="131191" y="83820"/>
                    <a:pt x="129921" y="88138"/>
                    <a:pt x="128270" y="92075"/>
                  </a:cubicBezTo>
                  <a:cubicBezTo>
                    <a:pt x="126619" y="96012"/>
                    <a:pt x="124587" y="99949"/>
                    <a:pt x="122047" y="103632"/>
                  </a:cubicBezTo>
                  <a:cubicBezTo>
                    <a:pt x="119507" y="107315"/>
                    <a:pt x="116840" y="110617"/>
                    <a:pt x="113792" y="113792"/>
                  </a:cubicBezTo>
                  <a:cubicBezTo>
                    <a:pt x="110744" y="116967"/>
                    <a:pt x="107315" y="119634"/>
                    <a:pt x="103632" y="122047"/>
                  </a:cubicBezTo>
                  <a:cubicBezTo>
                    <a:pt x="99949" y="124460"/>
                    <a:pt x="96139" y="126492"/>
                    <a:pt x="92075" y="128270"/>
                  </a:cubicBezTo>
                  <a:cubicBezTo>
                    <a:pt x="88011" y="130048"/>
                    <a:pt x="83820" y="131191"/>
                    <a:pt x="79629" y="132080"/>
                  </a:cubicBezTo>
                  <a:cubicBezTo>
                    <a:pt x="75438" y="132969"/>
                    <a:pt x="70993" y="133350"/>
                    <a:pt x="66675" y="133350"/>
                  </a:cubicBezTo>
                  <a:cubicBezTo>
                    <a:pt x="62357" y="133350"/>
                    <a:pt x="57912" y="132969"/>
                    <a:pt x="53721" y="132080"/>
                  </a:cubicBezTo>
                  <a:cubicBezTo>
                    <a:pt x="49530" y="131191"/>
                    <a:pt x="45212" y="129921"/>
                    <a:pt x="41275" y="128270"/>
                  </a:cubicBezTo>
                  <a:cubicBezTo>
                    <a:pt x="37338" y="126619"/>
                    <a:pt x="33401" y="124587"/>
                    <a:pt x="29718" y="122047"/>
                  </a:cubicBezTo>
                  <a:cubicBezTo>
                    <a:pt x="26035" y="119507"/>
                    <a:pt x="22733" y="116840"/>
                    <a:pt x="19558" y="113792"/>
                  </a:cubicBezTo>
                  <a:cubicBezTo>
                    <a:pt x="16383" y="110744"/>
                    <a:pt x="13716" y="107315"/>
                    <a:pt x="11303" y="103632"/>
                  </a:cubicBezTo>
                  <a:cubicBezTo>
                    <a:pt x="8890" y="99949"/>
                    <a:pt x="6731" y="96266"/>
                    <a:pt x="5080" y="92202"/>
                  </a:cubicBezTo>
                  <a:cubicBezTo>
                    <a:pt x="3429" y="88138"/>
                    <a:pt x="2159" y="83947"/>
                    <a:pt x="1270" y="79629"/>
                  </a:cubicBezTo>
                  <a:cubicBezTo>
                    <a:pt x="381" y="75311"/>
                    <a:pt x="0" y="70993"/>
                    <a:pt x="0" y="66675"/>
                  </a:cubicBezTo>
                  <a:cubicBezTo>
                    <a:pt x="0" y="62357"/>
                    <a:pt x="381" y="57912"/>
                    <a:pt x="1270" y="53721"/>
                  </a:cubicBezTo>
                  <a:cubicBezTo>
                    <a:pt x="2159" y="49530"/>
                    <a:pt x="3429" y="45212"/>
                    <a:pt x="5080" y="41275"/>
                  </a:cubicBezTo>
                  <a:cubicBezTo>
                    <a:pt x="6731" y="37338"/>
                    <a:pt x="8763" y="33401"/>
                    <a:pt x="11303" y="29718"/>
                  </a:cubicBezTo>
                  <a:cubicBezTo>
                    <a:pt x="13843" y="26035"/>
                    <a:pt x="16510" y="22733"/>
                    <a:pt x="19558" y="19558"/>
                  </a:cubicBezTo>
                  <a:cubicBezTo>
                    <a:pt x="22606" y="16383"/>
                    <a:pt x="26035" y="13716"/>
                    <a:pt x="29718" y="11303"/>
                  </a:cubicBezTo>
                  <a:cubicBezTo>
                    <a:pt x="33401" y="8890"/>
                    <a:pt x="37211" y="6858"/>
                    <a:pt x="41275" y="5080"/>
                  </a:cubicBezTo>
                  <a:cubicBezTo>
                    <a:pt x="45339" y="3302"/>
                    <a:pt x="49530" y="2159"/>
                    <a:pt x="53721" y="1270"/>
                  </a:cubicBezTo>
                  <a:cubicBezTo>
                    <a:pt x="57912" y="381"/>
                    <a:pt x="62357" y="0"/>
                    <a:pt x="66675" y="0"/>
                  </a:cubicBezTo>
                  <a:cubicBezTo>
                    <a:pt x="70993" y="0"/>
                    <a:pt x="75438" y="381"/>
                    <a:pt x="79629" y="1270"/>
                  </a:cubicBezTo>
                  <a:cubicBezTo>
                    <a:pt x="83820" y="2159"/>
                    <a:pt x="88138" y="3429"/>
                    <a:pt x="92075" y="5080"/>
                  </a:cubicBezTo>
                  <a:cubicBezTo>
                    <a:pt x="96012" y="6731"/>
                    <a:pt x="99949" y="8763"/>
                    <a:pt x="103632" y="11303"/>
                  </a:cubicBezTo>
                  <a:cubicBezTo>
                    <a:pt x="107315" y="13843"/>
                    <a:pt x="110617" y="16510"/>
                    <a:pt x="113792" y="19558"/>
                  </a:cubicBezTo>
                  <a:cubicBezTo>
                    <a:pt x="116967" y="22606"/>
                    <a:pt x="119634" y="26035"/>
                    <a:pt x="122047" y="29718"/>
                  </a:cubicBezTo>
                  <a:cubicBezTo>
                    <a:pt x="124460" y="33401"/>
                    <a:pt x="126492" y="37211"/>
                    <a:pt x="128270" y="41275"/>
                  </a:cubicBezTo>
                  <a:cubicBezTo>
                    <a:pt x="130048" y="45339"/>
                    <a:pt x="131191" y="49530"/>
                    <a:pt x="132080" y="53721"/>
                  </a:cubicBezTo>
                  <a:cubicBezTo>
                    <a:pt x="132969" y="57912"/>
                    <a:pt x="133350" y="62357"/>
                    <a:pt x="133350" y="66675"/>
                  </a:cubicBezTo>
                  <a:close/>
                </a:path>
              </a:pathLst>
            </a:custGeom>
            <a:solidFill>
              <a:srgbClr val="000000"/>
            </a:solidFill>
          </p:spPr>
        </p:sp>
      </p:grpSp>
      <p:grpSp>
        <p:nvGrpSpPr>
          <p:cNvPr id="12" name="Group 12"/>
          <p:cNvGrpSpPr/>
          <p:nvPr/>
        </p:nvGrpSpPr>
        <p:grpSpPr>
          <a:xfrm>
            <a:off x="2759945" y="5953125"/>
            <a:ext cx="133350" cy="133350"/>
            <a:chOff x="0" y="0"/>
            <a:chExt cx="133350" cy="133350"/>
          </a:xfrm>
        </p:grpSpPr>
        <p:sp>
          <p:nvSpPr>
            <p:cNvPr id="13" name="Freeform 13"/>
            <p:cNvSpPr/>
            <p:nvPr/>
          </p:nvSpPr>
          <p:spPr>
            <a:xfrm>
              <a:off x="0" y="0"/>
              <a:ext cx="133350" cy="133350"/>
            </a:xfrm>
            <a:custGeom>
              <a:avLst/>
              <a:gdLst/>
              <a:ahLst/>
              <a:cxnLst/>
              <a:rect l="l" t="t" r="r" b="b"/>
              <a:pathLst>
                <a:path w="133350" h="133350">
                  <a:moveTo>
                    <a:pt x="133350" y="66675"/>
                  </a:moveTo>
                  <a:cubicBezTo>
                    <a:pt x="133350" y="70993"/>
                    <a:pt x="132969" y="75438"/>
                    <a:pt x="132080" y="79629"/>
                  </a:cubicBezTo>
                  <a:cubicBezTo>
                    <a:pt x="131191" y="83820"/>
                    <a:pt x="129921" y="88138"/>
                    <a:pt x="128270" y="92075"/>
                  </a:cubicBezTo>
                  <a:cubicBezTo>
                    <a:pt x="126619" y="96012"/>
                    <a:pt x="124587" y="99949"/>
                    <a:pt x="122047" y="103632"/>
                  </a:cubicBezTo>
                  <a:cubicBezTo>
                    <a:pt x="119507" y="107315"/>
                    <a:pt x="116840" y="110617"/>
                    <a:pt x="113792" y="113792"/>
                  </a:cubicBezTo>
                  <a:cubicBezTo>
                    <a:pt x="110744" y="116967"/>
                    <a:pt x="107315" y="119634"/>
                    <a:pt x="103632" y="122047"/>
                  </a:cubicBezTo>
                  <a:cubicBezTo>
                    <a:pt x="99949" y="124460"/>
                    <a:pt x="96139" y="126492"/>
                    <a:pt x="92075" y="128270"/>
                  </a:cubicBezTo>
                  <a:cubicBezTo>
                    <a:pt x="88011" y="130048"/>
                    <a:pt x="83820" y="131191"/>
                    <a:pt x="79629" y="132080"/>
                  </a:cubicBezTo>
                  <a:cubicBezTo>
                    <a:pt x="75438" y="132969"/>
                    <a:pt x="70993" y="133350"/>
                    <a:pt x="66675" y="133350"/>
                  </a:cubicBezTo>
                  <a:cubicBezTo>
                    <a:pt x="62357" y="133350"/>
                    <a:pt x="57912" y="132969"/>
                    <a:pt x="53721" y="132080"/>
                  </a:cubicBezTo>
                  <a:cubicBezTo>
                    <a:pt x="49530" y="131191"/>
                    <a:pt x="45212" y="129921"/>
                    <a:pt x="41275" y="128270"/>
                  </a:cubicBezTo>
                  <a:cubicBezTo>
                    <a:pt x="37338" y="126619"/>
                    <a:pt x="33401" y="124587"/>
                    <a:pt x="29718" y="122047"/>
                  </a:cubicBezTo>
                  <a:cubicBezTo>
                    <a:pt x="26035" y="119507"/>
                    <a:pt x="22733" y="116840"/>
                    <a:pt x="19558" y="113792"/>
                  </a:cubicBezTo>
                  <a:cubicBezTo>
                    <a:pt x="16383" y="110744"/>
                    <a:pt x="13716" y="107315"/>
                    <a:pt x="11303" y="103632"/>
                  </a:cubicBezTo>
                  <a:cubicBezTo>
                    <a:pt x="8890" y="99949"/>
                    <a:pt x="6731" y="96266"/>
                    <a:pt x="5080" y="92202"/>
                  </a:cubicBezTo>
                  <a:cubicBezTo>
                    <a:pt x="3429" y="88138"/>
                    <a:pt x="2159" y="83947"/>
                    <a:pt x="1270" y="79629"/>
                  </a:cubicBezTo>
                  <a:cubicBezTo>
                    <a:pt x="381" y="75311"/>
                    <a:pt x="0" y="70993"/>
                    <a:pt x="0" y="66675"/>
                  </a:cubicBezTo>
                  <a:cubicBezTo>
                    <a:pt x="0" y="62357"/>
                    <a:pt x="381" y="57912"/>
                    <a:pt x="1270" y="53721"/>
                  </a:cubicBezTo>
                  <a:cubicBezTo>
                    <a:pt x="2159" y="49530"/>
                    <a:pt x="3429" y="45212"/>
                    <a:pt x="5080" y="41275"/>
                  </a:cubicBezTo>
                  <a:cubicBezTo>
                    <a:pt x="6731" y="37338"/>
                    <a:pt x="8763" y="33401"/>
                    <a:pt x="11303" y="29718"/>
                  </a:cubicBezTo>
                  <a:cubicBezTo>
                    <a:pt x="13843" y="26035"/>
                    <a:pt x="16510" y="22733"/>
                    <a:pt x="19558" y="19558"/>
                  </a:cubicBezTo>
                  <a:cubicBezTo>
                    <a:pt x="22606" y="16383"/>
                    <a:pt x="26035" y="13716"/>
                    <a:pt x="29718" y="11303"/>
                  </a:cubicBezTo>
                  <a:cubicBezTo>
                    <a:pt x="33401" y="8890"/>
                    <a:pt x="37211" y="6858"/>
                    <a:pt x="41275" y="5080"/>
                  </a:cubicBezTo>
                  <a:cubicBezTo>
                    <a:pt x="45339" y="3302"/>
                    <a:pt x="49530" y="2159"/>
                    <a:pt x="53721" y="1270"/>
                  </a:cubicBezTo>
                  <a:cubicBezTo>
                    <a:pt x="57912" y="381"/>
                    <a:pt x="62357" y="0"/>
                    <a:pt x="66675" y="0"/>
                  </a:cubicBezTo>
                  <a:cubicBezTo>
                    <a:pt x="70993" y="0"/>
                    <a:pt x="75438" y="381"/>
                    <a:pt x="79629" y="1270"/>
                  </a:cubicBezTo>
                  <a:cubicBezTo>
                    <a:pt x="83820" y="2159"/>
                    <a:pt x="88138" y="3429"/>
                    <a:pt x="92075" y="5080"/>
                  </a:cubicBezTo>
                  <a:cubicBezTo>
                    <a:pt x="96012" y="6731"/>
                    <a:pt x="99949" y="8763"/>
                    <a:pt x="103632" y="11303"/>
                  </a:cubicBezTo>
                  <a:cubicBezTo>
                    <a:pt x="107315" y="13843"/>
                    <a:pt x="110617" y="16510"/>
                    <a:pt x="113792" y="19558"/>
                  </a:cubicBezTo>
                  <a:cubicBezTo>
                    <a:pt x="116967" y="22606"/>
                    <a:pt x="119634" y="26035"/>
                    <a:pt x="122047" y="29718"/>
                  </a:cubicBezTo>
                  <a:cubicBezTo>
                    <a:pt x="124460" y="33401"/>
                    <a:pt x="126492" y="37211"/>
                    <a:pt x="128270" y="41275"/>
                  </a:cubicBezTo>
                  <a:cubicBezTo>
                    <a:pt x="130048" y="45339"/>
                    <a:pt x="131191" y="49530"/>
                    <a:pt x="132080" y="53721"/>
                  </a:cubicBezTo>
                  <a:cubicBezTo>
                    <a:pt x="132969" y="57912"/>
                    <a:pt x="133350" y="62357"/>
                    <a:pt x="133350" y="66675"/>
                  </a:cubicBezTo>
                  <a:close/>
                </a:path>
              </a:pathLst>
            </a:custGeom>
            <a:solidFill>
              <a:srgbClr val="000000"/>
            </a:solidFill>
          </p:spPr>
        </p:sp>
      </p:grpSp>
      <p:grpSp>
        <p:nvGrpSpPr>
          <p:cNvPr id="14" name="Group 14"/>
          <p:cNvGrpSpPr/>
          <p:nvPr/>
        </p:nvGrpSpPr>
        <p:grpSpPr>
          <a:xfrm>
            <a:off x="2759945" y="6477000"/>
            <a:ext cx="133350" cy="133350"/>
            <a:chOff x="0" y="0"/>
            <a:chExt cx="133350" cy="133350"/>
          </a:xfrm>
        </p:grpSpPr>
        <p:sp>
          <p:nvSpPr>
            <p:cNvPr id="15" name="Freeform 15"/>
            <p:cNvSpPr/>
            <p:nvPr/>
          </p:nvSpPr>
          <p:spPr>
            <a:xfrm>
              <a:off x="0" y="0"/>
              <a:ext cx="133350" cy="133350"/>
            </a:xfrm>
            <a:custGeom>
              <a:avLst/>
              <a:gdLst/>
              <a:ahLst/>
              <a:cxnLst/>
              <a:rect l="l" t="t" r="r" b="b"/>
              <a:pathLst>
                <a:path w="133350" h="133350">
                  <a:moveTo>
                    <a:pt x="133350" y="66675"/>
                  </a:moveTo>
                  <a:cubicBezTo>
                    <a:pt x="133350" y="70993"/>
                    <a:pt x="132969" y="75438"/>
                    <a:pt x="132080" y="79629"/>
                  </a:cubicBezTo>
                  <a:cubicBezTo>
                    <a:pt x="131191" y="83820"/>
                    <a:pt x="129921" y="88138"/>
                    <a:pt x="128270" y="92075"/>
                  </a:cubicBezTo>
                  <a:cubicBezTo>
                    <a:pt x="126619" y="96012"/>
                    <a:pt x="124587" y="99949"/>
                    <a:pt x="122047" y="103632"/>
                  </a:cubicBezTo>
                  <a:cubicBezTo>
                    <a:pt x="119507" y="107315"/>
                    <a:pt x="116840" y="110617"/>
                    <a:pt x="113792" y="113792"/>
                  </a:cubicBezTo>
                  <a:cubicBezTo>
                    <a:pt x="110744" y="116967"/>
                    <a:pt x="107315" y="119634"/>
                    <a:pt x="103632" y="122047"/>
                  </a:cubicBezTo>
                  <a:cubicBezTo>
                    <a:pt x="99949" y="124460"/>
                    <a:pt x="96139" y="126492"/>
                    <a:pt x="92075" y="128270"/>
                  </a:cubicBezTo>
                  <a:cubicBezTo>
                    <a:pt x="88011" y="130048"/>
                    <a:pt x="83820" y="131191"/>
                    <a:pt x="79629" y="132080"/>
                  </a:cubicBezTo>
                  <a:cubicBezTo>
                    <a:pt x="75438" y="132969"/>
                    <a:pt x="70993" y="133350"/>
                    <a:pt x="66675" y="133350"/>
                  </a:cubicBezTo>
                  <a:cubicBezTo>
                    <a:pt x="62357" y="133350"/>
                    <a:pt x="57912" y="132969"/>
                    <a:pt x="53721" y="132080"/>
                  </a:cubicBezTo>
                  <a:cubicBezTo>
                    <a:pt x="49530" y="131191"/>
                    <a:pt x="45212" y="129921"/>
                    <a:pt x="41275" y="128270"/>
                  </a:cubicBezTo>
                  <a:cubicBezTo>
                    <a:pt x="37338" y="126619"/>
                    <a:pt x="33401" y="124587"/>
                    <a:pt x="29718" y="122047"/>
                  </a:cubicBezTo>
                  <a:cubicBezTo>
                    <a:pt x="26035" y="119507"/>
                    <a:pt x="22733" y="116840"/>
                    <a:pt x="19558" y="113792"/>
                  </a:cubicBezTo>
                  <a:cubicBezTo>
                    <a:pt x="16383" y="110744"/>
                    <a:pt x="13716" y="107315"/>
                    <a:pt x="11303" y="103632"/>
                  </a:cubicBezTo>
                  <a:cubicBezTo>
                    <a:pt x="8890" y="99949"/>
                    <a:pt x="6731" y="96266"/>
                    <a:pt x="5080" y="92202"/>
                  </a:cubicBezTo>
                  <a:cubicBezTo>
                    <a:pt x="3429" y="88138"/>
                    <a:pt x="2159" y="83947"/>
                    <a:pt x="1270" y="79629"/>
                  </a:cubicBezTo>
                  <a:cubicBezTo>
                    <a:pt x="381" y="75311"/>
                    <a:pt x="0" y="70993"/>
                    <a:pt x="0" y="66675"/>
                  </a:cubicBezTo>
                  <a:cubicBezTo>
                    <a:pt x="0" y="62357"/>
                    <a:pt x="381" y="57912"/>
                    <a:pt x="1270" y="53721"/>
                  </a:cubicBezTo>
                  <a:cubicBezTo>
                    <a:pt x="2159" y="49530"/>
                    <a:pt x="3429" y="45212"/>
                    <a:pt x="5080" y="41275"/>
                  </a:cubicBezTo>
                  <a:cubicBezTo>
                    <a:pt x="6731" y="37338"/>
                    <a:pt x="8763" y="33401"/>
                    <a:pt x="11303" y="29718"/>
                  </a:cubicBezTo>
                  <a:cubicBezTo>
                    <a:pt x="13843" y="26035"/>
                    <a:pt x="16510" y="22733"/>
                    <a:pt x="19558" y="19558"/>
                  </a:cubicBezTo>
                  <a:cubicBezTo>
                    <a:pt x="22606" y="16383"/>
                    <a:pt x="26035" y="13716"/>
                    <a:pt x="29718" y="11303"/>
                  </a:cubicBezTo>
                  <a:cubicBezTo>
                    <a:pt x="33401" y="8890"/>
                    <a:pt x="37211" y="6858"/>
                    <a:pt x="41275" y="5080"/>
                  </a:cubicBezTo>
                  <a:cubicBezTo>
                    <a:pt x="45339" y="3302"/>
                    <a:pt x="49530" y="2159"/>
                    <a:pt x="53721" y="1270"/>
                  </a:cubicBezTo>
                  <a:cubicBezTo>
                    <a:pt x="57912" y="381"/>
                    <a:pt x="62357" y="0"/>
                    <a:pt x="66675" y="0"/>
                  </a:cubicBezTo>
                  <a:cubicBezTo>
                    <a:pt x="70993" y="0"/>
                    <a:pt x="75438" y="381"/>
                    <a:pt x="79629" y="1270"/>
                  </a:cubicBezTo>
                  <a:cubicBezTo>
                    <a:pt x="83820" y="2159"/>
                    <a:pt x="88138" y="3429"/>
                    <a:pt x="92075" y="5080"/>
                  </a:cubicBezTo>
                  <a:cubicBezTo>
                    <a:pt x="96012" y="6731"/>
                    <a:pt x="99949" y="8763"/>
                    <a:pt x="103632" y="11303"/>
                  </a:cubicBezTo>
                  <a:cubicBezTo>
                    <a:pt x="107315" y="13843"/>
                    <a:pt x="110617" y="16510"/>
                    <a:pt x="113792" y="19558"/>
                  </a:cubicBezTo>
                  <a:cubicBezTo>
                    <a:pt x="116967" y="22606"/>
                    <a:pt x="119634" y="26035"/>
                    <a:pt x="122047" y="29718"/>
                  </a:cubicBezTo>
                  <a:cubicBezTo>
                    <a:pt x="124460" y="33401"/>
                    <a:pt x="126492" y="37211"/>
                    <a:pt x="128270" y="41275"/>
                  </a:cubicBezTo>
                  <a:cubicBezTo>
                    <a:pt x="130048" y="45339"/>
                    <a:pt x="131191" y="49530"/>
                    <a:pt x="132080" y="53721"/>
                  </a:cubicBezTo>
                  <a:cubicBezTo>
                    <a:pt x="132969" y="57912"/>
                    <a:pt x="133350" y="62357"/>
                    <a:pt x="133350" y="66675"/>
                  </a:cubicBezTo>
                  <a:close/>
                </a:path>
              </a:pathLst>
            </a:custGeom>
            <a:solidFill>
              <a:srgbClr val="000000"/>
            </a:solidFill>
          </p:spPr>
        </p:sp>
      </p:grpSp>
      <p:grpSp>
        <p:nvGrpSpPr>
          <p:cNvPr id="16" name="Group 16"/>
          <p:cNvGrpSpPr/>
          <p:nvPr/>
        </p:nvGrpSpPr>
        <p:grpSpPr>
          <a:xfrm>
            <a:off x="2759945" y="7000875"/>
            <a:ext cx="133350" cy="133350"/>
            <a:chOff x="0" y="0"/>
            <a:chExt cx="133350" cy="133350"/>
          </a:xfrm>
        </p:grpSpPr>
        <p:sp>
          <p:nvSpPr>
            <p:cNvPr id="17" name="Freeform 17"/>
            <p:cNvSpPr/>
            <p:nvPr/>
          </p:nvSpPr>
          <p:spPr>
            <a:xfrm>
              <a:off x="0" y="0"/>
              <a:ext cx="133350" cy="133350"/>
            </a:xfrm>
            <a:custGeom>
              <a:avLst/>
              <a:gdLst/>
              <a:ahLst/>
              <a:cxnLst/>
              <a:rect l="l" t="t" r="r" b="b"/>
              <a:pathLst>
                <a:path w="133350" h="133350">
                  <a:moveTo>
                    <a:pt x="133350" y="66675"/>
                  </a:moveTo>
                  <a:cubicBezTo>
                    <a:pt x="133350" y="70993"/>
                    <a:pt x="132969" y="75438"/>
                    <a:pt x="132080" y="79629"/>
                  </a:cubicBezTo>
                  <a:cubicBezTo>
                    <a:pt x="131191" y="83820"/>
                    <a:pt x="129921" y="88138"/>
                    <a:pt x="128270" y="92075"/>
                  </a:cubicBezTo>
                  <a:cubicBezTo>
                    <a:pt x="126619" y="96012"/>
                    <a:pt x="124587" y="99949"/>
                    <a:pt x="122047" y="103632"/>
                  </a:cubicBezTo>
                  <a:cubicBezTo>
                    <a:pt x="119507" y="107315"/>
                    <a:pt x="116840" y="110617"/>
                    <a:pt x="113792" y="113792"/>
                  </a:cubicBezTo>
                  <a:cubicBezTo>
                    <a:pt x="110744" y="116967"/>
                    <a:pt x="107315" y="119634"/>
                    <a:pt x="103632" y="122047"/>
                  </a:cubicBezTo>
                  <a:cubicBezTo>
                    <a:pt x="99949" y="124460"/>
                    <a:pt x="96139" y="126492"/>
                    <a:pt x="92075" y="128270"/>
                  </a:cubicBezTo>
                  <a:cubicBezTo>
                    <a:pt x="88011" y="130048"/>
                    <a:pt x="83820" y="131191"/>
                    <a:pt x="79629" y="132080"/>
                  </a:cubicBezTo>
                  <a:cubicBezTo>
                    <a:pt x="75438" y="132969"/>
                    <a:pt x="70993" y="133350"/>
                    <a:pt x="66675" y="133350"/>
                  </a:cubicBezTo>
                  <a:cubicBezTo>
                    <a:pt x="62357" y="133350"/>
                    <a:pt x="57912" y="132969"/>
                    <a:pt x="53721" y="132080"/>
                  </a:cubicBezTo>
                  <a:cubicBezTo>
                    <a:pt x="49530" y="131191"/>
                    <a:pt x="45212" y="129921"/>
                    <a:pt x="41275" y="128270"/>
                  </a:cubicBezTo>
                  <a:cubicBezTo>
                    <a:pt x="37338" y="126619"/>
                    <a:pt x="33401" y="124587"/>
                    <a:pt x="29718" y="122047"/>
                  </a:cubicBezTo>
                  <a:cubicBezTo>
                    <a:pt x="26035" y="119507"/>
                    <a:pt x="22733" y="116840"/>
                    <a:pt x="19558" y="113792"/>
                  </a:cubicBezTo>
                  <a:cubicBezTo>
                    <a:pt x="16383" y="110744"/>
                    <a:pt x="13716" y="107315"/>
                    <a:pt x="11303" y="103632"/>
                  </a:cubicBezTo>
                  <a:cubicBezTo>
                    <a:pt x="8890" y="99949"/>
                    <a:pt x="6731" y="96266"/>
                    <a:pt x="5080" y="92202"/>
                  </a:cubicBezTo>
                  <a:cubicBezTo>
                    <a:pt x="3429" y="88138"/>
                    <a:pt x="2159" y="83947"/>
                    <a:pt x="1270" y="79629"/>
                  </a:cubicBezTo>
                  <a:cubicBezTo>
                    <a:pt x="381" y="75311"/>
                    <a:pt x="0" y="70993"/>
                    <a:pt x="0" y="66675"/>
                  </a:cubicBezTo>
                  <a:cubicBezTo>
                    <a:pt x="0" y="62357"/>
                    <a:pt x="381" y="57912"/>
                    <a:pt x="1270" y="53721"/>
                  </a:cubicBezTo>
                  <a:cubicBezTo>
                    <a:pt x="2159" y="49530"/>
                    <a:pt x="3429" y="45212"/>
                    <a:pt x="5080" y="41275"/>
                  </a:cubicBezTo>
                  <a:cubicBezTo>
                    <a:pt x="6731" y="37338"/>
                    <a:pt x="8763" y="33401"/>
                    <a:pt x="11303" y="29718"/>
                  </a:cubicBezTo>
                  <a:cubicBezTo>
                    <a:pt x="13843" y="26035"/>
                    <a:pt x="16510" y="22733"/>
                    <a:pt x="19558" y="19558"/>
                  </a:cubicBezTo>
                  <a:cubicBezTo>
                    <a:pt x="22606" y="16383"/>
                    <a:pt x="26035" y="13716"/>
                    <a:pt x="29718" y="11303"/>
                  </a:cubicBezTo>
                  <a:cubicBezTo>
                    <a:pt x="33401" y="8890"/>
                    <a:pt x="37211" y="6858"/>
                    <a:pt x="41275" y="5080"/>
                  </a:cubicBezTo>
                  <a:cubicBezTo>
                    <a:pt x="45339" y="3302"/>
                    <a:pt x="49530" y="2159"/>
                    <a:pt x="53721" y="1270"/>
                  </a:cubicBezTo>
                  <a:cubicBezTo>
                    <a:pt x="57912" y="381"/>
                    <a:pt x="62357" y="0"/>
                    <a:pt x="66675" y="0"/>
                  </a:cubicBezTo>
                  <a:cubicBezTo>
                    <a:pt x="70993" y="0"/>
                    <a:pt x="75438" y="381"/>
                    <a:pt x="79629" y="1270"/>
                  </a:cubicBezTo>
                  <a:cubicBezTo>
                    <a:pt x="83820" y="2159"/>
                    <a:pt x="88138" y="3429"/>
                    <a:pt x="92075" y="5080"/>
                  </a:cubicBezTo>
                  <a:cubicBezTo>
                    <a:pt x="96012" y="6731"/>
                    <a:pt x="99949" y="8763"/>
                    <a:pt x="103632" y="11303"/>
                  </a:cubicBezTo>
                  <a:cubicBezTo>
                    <a:pt x="107315" y="13843"/>
                    <a:pt x="110617" y="16510"/>
                    <a:pt x="113792" y="19558"/>
                  </a:cubicBezTo>
                  <a:cubicBezTo>
                    <a:pt x="116967" y="22606"/>
                    <a:pt x="119634" y="26035"/>
                    <a:pt x="122047" y="29718"/>
                  </a:cubicBezTo>
                  <a:cubicBezTo>
                    <a:pt x="124460" y="33401"/>
                    <a:pt x="126492" y="37211"/>
                    <a:pt x="128270" y="41275"/>
                  </a:cubicBezTo>
                  <a:cubicBezTo>
                    <a:pt x="130048" y="45339"/>
                    <a:pt x="131191" y="49530"/>
                    <a:pt x="132080" y="53721"/>
                  </a:cubicBezTo>
                  <a:cubicBezTo>
                    <a:pt x="132969" y="57912"/>
                    <a:pt x="133350" y="62357"/>
                    <a:pt x="133350" y="66675"/>
                  </a:cubicBezTo>
                  <a:close/>
                </a:path>
              </a:pathLst>
            </a:custGeom>
            <a:solidFill>
              <a:srgbClr val="000000"/>
            </a:solidFill>
          </p:spPr>
        </p:sp>
      </p:grpSp>
      <p:sp>
        <p:nvSpPr>
          <p:cNvPr id="18" name="TextBox 18"/>
          <p:cNvSpPr txBox="1"/>
          <p:nvPr/>
        </p:nvSpPr>
        <p:spPr>
          <a:xfrm>
            <a:off x="2331320" y="2929538"/>
            <a:ext cx="4188904" cy="693058"/>
          </a:xfrm>
          <a:prstGeom prst="rect">
            <a:avLst/>
          </a:prstGeom>
        </p:spPr>
        <p:txBody>
          <a:bodyPr lIns="0" tIns="0" rIns="0" bIns="0" rtlCol="0" anchor="t">
            <a:spAutoFit/>
          </a:bodyPr>
          <a:lstStyle/>
          <a:p>
            <a:pPr algn="l">
              <a:lnSpc>
                <a:spcPts val="5599"/>
              </a:lnSpc>
            </a:pPr>
            <a:r>
              <a:rPr lang="en-US" sz="3999" b="1">
                <a:solidFill>
                  <a:srgbClr val="000000"/>
                </a:solidFill>
                <a:latin typeface="Times New Roman Bold"/>
                <a:ea typeface="Times New Roman Bold"/>
                <a:cs typeface="Times New Roman Bold"/>
                <a:sym typeface="Times New Roman Bold"/>
              </a:rPr>
              <a:t>Why FQL is Used?</a:t>
            </a:r>
          </a:p>
        </p:txBody>
      </p:sp>
      <p:sp>
        <p:nvSpPr>
          <p:cNvPr id="19" name="TextBox 19"/>
          <p:cNvSpPr txBox="1"/>
          <p:nvPr/>
        </p:nvSpPr>
        <p:spPr>
          <a:xfrm>
            <a:off x="3086776" y="4181627"/>
            <a:ext cx="13129003" cy="3161462"/>
          </a:xfrm>
          <a:prstGeom prst="rect">
            <a:avLst/>
          </a:prstGeom>
        </p:spPr>
        <p:txBody>
          <a:bodyPr lIns="0" tIns="0" rIns="0" bIns="0" rtlCol="0" anchor="t">
            <a:spAutoFit/>
          </a:bodyPr>
          <a:lstStyle/>
          <a:p>
            <a:pPr algn="l">
              <a:lnSpc>
                <a:spcPts val="4125"/>
              </a:lnSpc>
            </a:pPr>
            <a:r>
              <a:rPr lang="en-US" sz="3499">
                <a:solidFill>
                  <a:srgbClr val="000000"/>
                </a:solidFill>
                <a:latin typeface="Times New Roman"/>
                <a:ea typeface="Times New Roman"/>
                <a:cs typeface="Times New Roman"/>
                <a:sym typeface="Times New Roman"/>
              </a:rPr>
              <a:t>Handles uncertain data in loan applications.</a:t>
            </a:r>
          </a:p>
          <a:p>
            <a:pPr algn="l">
              <a:lnSpc>
                <a:spcPts val="4125"/>
              </a:lnSpc>
            </a:pPr>
            <a:r>
              <a:rPr lang="en-US" sz="3499">
                <a:solidFill>
                  <a:srgbClr val="000000"/>
                </a:solidFill>
                <a:latin typeface="Times New Roman"/>
                <a:ea typeface="Times New Roman"/>
                <a:cs typeface="Times New Roman"/>
                <a:sym typeface="Times New Roman"/>
              </a:rPr>
              <a:t>Uses Low, Medium, High type fuzzy values.</a:t>
            </a:r>
          </a:p>
          <a:p>
            <a:pPr algn="l">
              <a:lnSpc>
                <a:spcPts val="4125"/>
              </a:lnSpc>
            </a:pPr>
            <a:r>
              <a:rPr lang="en-US" sz="3499">
                <a:solidFill>
                  <a:srgbClr val="000000"/>
                </a:solidFill>
                <a:latin typeface="Times New Roman"/>
                <a:ea typeface="Times New Roman"/>
                <a:cs typeface="Times New Roman"/>
                <a:sym typeface="Times New Roman"/>
              </a:rPr>
              <a:t>Evaluates income, credit score, debt, etc.</a:t>
            </a:r>
          </a:p>
          <a:p>
            <a:pPr algn="l">
              <a:lnSpc>
                <a:spcPts val="4125"/>
              </a:lnSpc>
            </a:pPr>
            <a:r>
              <a:rPr lang="en-US" sz="3499">
                <a:solidFill>
                  <a:srgbClr val="000000"/>
                </a:solidFill>
                <a:latin typeface="Times New Roman"/>
                <a:ea typeface="Times New Roman"/>
                <a:cs typeface="Times New Roman"/>
                <a:sym typeface="Times New Roman"/>
              </a:rPr>
              <a:t>Supports rule-based decision making.</a:t>
            </a:r>
          </a:p>
          <a:p>
            <a:pPr algn="l">
              <a:lnSpc>
                <a:spcPts val="4125"/>
              </a:lnSpc>
            </a:pPr>
            <a:r>
              <a:rPr lang="en-US" sz="3499">
                <a:solidFill>
                  <a:srgbClr val="000000"/>
                </a:solidFill>
                <a:latin typeface="Times New Roman"/>
                <a:ea typeface="Times New Roman"/>
                <a:cs typeface="Times New Roman"/>
                <a:sym typeface="Times New Roman"/>
              </a:rPr>
              <a:t>Gives flexible eligibility decisions instead of only Yes/No.</a:t>
            </a:r>
          </a:p>
          <a:p>
            <a:pPr algn="l">
              <a:lnSpc>
                <a:spcPts val="4125"/>
              </a:lnSpc>
            </a:pPr>
            <a:r>
              <a:rPr lang="en-US" sz="3499">
                <a:solidFill>
                  <a:srgbClr val="000000"/>
                </a:solidFill>
                <a:latin typeface="Times New Roman"/>
                <a:ea typeface="Times New Roman"/>
                <a:cs typeface="Times New Roman"/>
                <a:sym typeface="Times New Roman"/>
              </a:rPr>
              <a:t>Helps improve the reasoning and accuracy of the loan eligibility system.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47775" y="321469"/>
            <a:ext cx="1598295" cy="1585912"/>
            <a:chOff x="0" y="0"/>
            <a:chExt cx="2131060" cy="2114550"/>
          </a:xfrm>
        </p:grpSpPr>
        <p:sp>
          <p:nvSpPr>
            <p:cNvPr id="3" name="Freeform 3"/>
            <p:cNvSpPr/>
            <p:nvPr/>
          </p:nvSpPr>
          <p:spPr>
            <a:xfrm>
              <a:off x="0" y="0"/>
              <a:ext cx="2131060" cy="2114550"/>
            </a:xfrm>
            <a:custGeom>
              <a:avLst/>
              <a:gdLst/>
              <a:ahLst/>
              <a:cxnLst/>
              <a:rect l="l" t="t" r="r" b="b"/>
              <a:pathLst>
                <a:path w="2131060" h="2114550">
                  <a:moveTo>
                    <a:pt x="0" y="0"/>
                  </a:moveTo>
                  <a:lnTo>
                    <a:pt x="2131060" y="0"/>
                  </a:lnTo>
                  <a:lnTo>
                    <a:pt x="2131060" y="2114550"/>
                  </a:lnTo>
                  <a:lnTo>
                    <a:pt x="0" y="2114550"/>
                  </a:lnTo>
                  <a:lnTo>
                    <a:pt x="0" y="0"/>
                  </a:lnTo>
                  <a:close/>
                </a:path>
              </a:pathLst>
            </a:custGeom>
            <a:blipFill>
              <a:blip r:embed="rId2"/>
              <a:stretch>
                <a:fillRect/>
              </a:stretch>
            </a:blipFill>
          </p:spPr>
        </p:sp>
      </p:grpSp>
      <p:grpSp>
        <p:nvGrpSpPr>
          <p:cNvPr id="4" name="Group 4"/>
          <p:cNvGrpSpPr/>
          <p:nvPr/>
        </p:nvGrpSpPr>
        <p:grpSpPr>
          <a:xfrm>
            <a:off x="15085219" y="500062"/>
            <a:ext cx="1826990" cy="1771650"/>
            <a:chOff x="0" y="0"/>
            <a:chExt cx="2435987" cy="2362200"/>
          </a:xfrm>
        </p:grpSpPr>
        <p:sp>
          <p:nvSpPr>
            <p:cNvPr id="5" name="Freeform 5" descr="KRCE Tiruchirappalli : Admission 2024, Courses, Fees, Placement, Cut Off"/>
            <p:cNvSpPr/>
            <p:nvPr/>
          </p:nvSpPr>
          <p:spPr>
            <a:xfrm>
              <a:off x="0" y="0"/>
              <a:ext cx="2435987" cy="2362200"/>
            </a:xfrm>
            <a:custGeom>
              <a:avLst/>
              <a:gdLst/>
              <a:ahLst/>
              <a:cxnLst/>
              <a:rect l="l" t="t" r="r" b="b"/>
              <a:pathLst>
                <a:path w="2435987" h="2362200">
                  <a:moveTo>
                    <a:pt x="0" y="0"/>
                  </a:moveTo>
                  <a:lnTo>
                    <a:pt x="2435987" y="0"/>
                  </a:lnTo>
                  <a:lnTo>
                    <a:pt x="2435987" y="2362200"/>
                  </a:lnTo>
                  <a:lnTo>
                    <a:pt x="0" y="2362200"/>
                  </a:lnTo>
                  <a:lnTo>
                    <a:pt x="0" y="0"/>
                  </a:lnTo>
                  <a:close/>
                </a:path>
              </a:pathLst>
            </a:custGeom>
            <a:blipFill>
              <a:blip r:embed="rId3"/>
              <a:stretch>
                <a:fillRect r="-1"/>
              </a:stretch>
            </a:blipFill>
          </p:spPr>
        </p:sp>
      </p:grpSp>
      <p:grpSp>
        <p:nvGrpSpPr>
          <p:cNvPr id="6" name="Group 6"/>
          <p:cNvGrpSpPr/>
          <p:nvPr/>
        </p:nvGrpSpPr>
        <p:grpSpPr>
          <a:xfrm>
            <a:off x="4037181" y="2541441"/>
            <a:ext cx="10077450" cy="6715125"/>
            <a:chOff x="0" y="0"/>
            <a:chExt cx="13436600" cy="8953500"/>
          </a:xfrm>
        </p:grpSpPr>
        <p:sp>
          <p:nvSpPr>
            <p:cNvPr id="7" name="Freeform 7"/>
            <p:cNvSpPr/>
            <p:nvPr/>
          </p:nvSpPr>
          <p:spPr>
            <a:xfrm>
              <a:off x="0" y="0"/>
              <a:ext cx="13436600" cy="8953500"/>
            </a:xfrm>
            <a:custGeom>
              <a:avLst/>
              <a:gdLst/>
              <a:ahLst/>
              <a:cxnLst/>
              <a:rect l="l" t="t" r="r" b="b"/>
              <a:pathLst>
                <a:path w="13436600" h="8953500">
                  <a:moveTo>
                    <a:pt x="0" y="0"/>
                  </a:moveTo>
                  <a:lnTo>
                    <a:pt x="13436600" y="0"/>
                  </a:lnTo>
                  <a:lnTo>
                    <a:pt x="13436600" y="8953500"/>
                  </a:lnTo>
                  <a:lnTo>
                    <a:pt x="0" y="8953500"/>
                  </a:lnTo>
                  <a:lnTo>
                    <a:pt x="0" y="0"/>
                  </a:lnTo>
                  <a:close/>
                </a:path>
              </a:pathLst>
            </a:custGeom>
            <a:blipFill>
              <a:blip r:embed="rId4"/>
              <a:stretch>
                <a:fillRect/>
              </a:stretch>
            </a:blipFill>
          </p:spPr>
        </p:sp>
      </p:grpSp>
      <p:sp>
        <p:nvSpPr>
          <p:cNvPr id="8" name="TextBox 8"/>
          <p:cNvSpPr txBox="1"/>
          <p:nvPr/>
        </p:nvSpPr>
        <p:spPr>
          <a:xfrm>
            <a:off x="5179219" y="920058"/>
            <a:ext cx="7791221" cy="841238"/>
          </a:xfrm>
          <a:prstGeom prst="rect">
            <a:avLst/>
          </a:prstGeom>
        </p:spPr>
        <p:txBody>
          <a:bodyPr lIns="0" tIns="0" rIns="0" bIns="0" rtlCol="0" anchor="t">
            <a:spAutoFit/>
          </a:bodyPr>
          <a:lstStyle/>
          <a:p>
            <a:pPr algn="l">
              <a:lnSpc>
                <a:spcPts val="6719"/>
              </a:lnSpc>
            </a:pPr>
            <a:r>
              <a:rPr lang="en-US" sz="4800" b="1">
                <a:solidFill>
                  <a:srgbClr val="000000"/>
                </a:solidFill>
                <a:latin typeface="Times New Roman Bold"/>
                <a:ea typeface="Times New Roman Bold"/>
                <a:cs typeface="Times New Roman Bold"/>
                <a:sym typeface="Times New Roman Bold"/>
              </a:rPr>
              <a:t>SYSTEM ARCHITECTURE</a:t>
            </a:r>
          </a:p>
        </p:txBody>
      </p:sp>
      <p:sp>
        <p:nvSpPr>
          <p:cNvPr id="9" name="TextBox 9"/>
          <p:cNvSpPr txBox="1"/>
          <p:nvPr/>
        </p:nvSpPr>
        <p:spPr>
          <a:xfrm>
            <a:off x="914400" y="9629775"/>
            <a:ext cx="889197" cy="339090"/>
          </a:xfrm>
          <a:prstGeom prst="rect">
            <a:avLst/>
          </a:prstGeom>
        </p:spPr>
        <p:txBody>
          <a:bodyPr lIns="0" tIns="0" rIns="0" bIns="0" rtlCol="0" anchor="t">
            <a:spAutoFit/>
          </a:bodyPr>
          <a:lstStyle/>
          <a:p>
            <a:pPr algn="l">
              <a:lnSpc>
                <a:spcPts val="2520"/>
              </a:lnSpc>
            </a:pPr>
            <a:r>
              <a:rPr lang="en-US" sz="1800">
                <a:solidFill>
                  <a:srgbClr val="8B8B8B"/>
                </a:solidFill>
                <a:latin typeface="Calibri (MS)"/>
                <a:ea typeface="Calibri (MS)"/>
                <a:cs typeface="Calibri (MS)"/>
                <a:sym typeface="Calibri (MS)"/>
              </a:rPr>
              <a:t>9/6/2025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47775" y="321469"/>
            <a:ext cx="1598295" cy="1585912"/>
            <a:chOff x="0" y="0"/>
            <a:chExt cx="2131060" cy="2114550"/>
          </a:xfrm>
        </p:grpSpPr>
        <p:sp>
          <p:nvSpPr>
            <p:cNvPr id="3" name="Freeform 3"/>
            <p:cNvSpPr/>
            <p:nvPr/>
          </p:nvSpPr>
          <p:spPr>
            <a:xfrm>
              <a:off x="0" y="0"/>
              <a:ext cx="2131060" cy="2114550"/>
            </a:xfrm>
            <a:custGeom>
              <a:avLst/>
              <a:gdLst/>
              <a:ahLst/>
              <a:cxnLst/>
              <a:rect l="l" t="t" r="r" b="b"/>
              <a:pathLst>
                <a:path w="2131060" h="2114550">
                  <a:moveTo>
                    <a:pt x="0" y="0"/>
                  </a:moveTo>
                  <a:lnTo>
                    <a:pt x="2131060" y="0"/>
                  </a:lnTo>
                  <a:lnTo>
                    <a:pt x="2131060" y="2114550"/>
                  </a:lnTo>
                  <a:lnTo>
                    <a:pt x="0" y="2114550"/>
                  </a:lnTo>
                  <a:lnTo>
                    <a:pt x="0" y="0"/>
                  </a:lnTo>
                  <a:close/>
                </a:path>
              </a:pathLst>
            </a:custGeom>
            <a:blipFill>
              <a:blip r:embed="rId2"/>
              <a:stretch>
                <a:fillRect/>
              </a:stretch>
            </a:blipFill>
          </p:spPr>
        </p:sp>
      </p:grpSp>
      <p:grpSp>
        <p:nvGrpSpPr>
          <p:cNvPr id="4" name="Group 4"/>
          <p:cNvGrpSpPr/>
          <p:nvPr/>
        </p:nvGrpSpPr>
        <p:grpSpPr>
          <a:xfrm>
            <a:off x="15085219" y="500062"/>
            <a:ext cx="1826990" cy="1771650"/>
            <a:chOff x="0" y="0"/>
            <a:chExt cx="2435987" cy="2362200"/>
          </a:xfrm>
        </p:grpSpPr>
        <p:sp>
          <p:nvSpPr>
            <p:cNvPr id="5" name="Freeform 5" descr="KRCE Tiruchirappalli : Admission 2024, Courses, Fees, Placement, Cut Off"/>
            <p:cNvSpPr/>
            <p:nvPr/>
          </p:nvSpPr>
          <p:spPr>
            <a:xfrm>
              <a:off x="0" y="0"/>
              <a:ext cx="2435987" cy="2362200"/>
            </a:xfrm>
            <a:custGeom>
              <a:avLst/>
              <a:gdLst/>
              <a:ahLst/>
              <a:cxnLst/>
              <a:rect l="l" t="t" r="r" b="b"/>
              <a:pathLst>
                <a:path w="2435987" h="2362200">
                  <a:moveTo>
                    <a:pt x="0" y="0"/>
                  </a:moveTo>
                  <a:lnTo>
                    <a:pt x="2435987" y="0"/>
                  </a:lnTo>
                  <a:lnTo>
                    <a:pt x="2435987" y="2362200"/>
                  </a:lnTo>
                  <a:lnTo>
                    <a:pt x="0" y="2362200"/>
                  </a:lnTo>
                  <a:lnTo>
                    <a:pt x="0" y="0"/>
                  </a:lnTo>
                  <a:close/>
                </a:path>
              </a:pathLst>
            </a:custGeom>
            <a:blipFill>
              <a:blip r:embed="rId3"/>
              <a:stretch>
                <a:fillRect r="-1"/>
              </a:stretch>
            </a:blipFill>
          </p:spPr>
        </p:sp>
      </p:grpSp>
      <p:grpSp>
        <p:nvGrpSpPr>
          <p:cNvPr id="6" name="Group 6"/>
          <p:cNvGrpSpPr/>
          <p:nvPr/>
        </p:nvGrpSpPr>
        <p:grpSpPr>
          <a:xfrm>
            <a:off x="1787623" y="3688556"/>
            <a:ext cx="133350" cy="133350"/>
            <a:chOff x="0" y="0"/>
            <a:chExt cx="133350" cy="133350"/>
          </a:xfrm>
        </p:grpSpPr>
        <p:sp>
          <p:nvSpPr>
            <p:cNvPr id="7" name="Freeform 7"/>
            <p:cNvSpPr/>
            <p:nvPr/>
          </p:nvSpPr>
          <p:spPr>
            <a:xfrm>
              <a:off x="0" y="0"/>
              <a:ext cx="133350" cy="133350"/>
            </a:xfrm>
            <a:custGeom>
              <a:avLst/>
              <a:gdLst/>
              <a:ahLst/>
              <a:cxnLst/>
              <a:rect l="l" t="t" r="r" b="b"/>
              <a:pathLst>
                <a:path w="133350" h="133350">
                  <a:moveTo>
                    <a:pt x="133350" y="66675"/>
                  </a:moveTo>
                  <a:cubicBezTo>
                    <a:pt x="133350" y="70993"/>
                    <a:pt x="132969" y="75438"/>
                    <a:pt x="132080" y="79629"/>
                  </a:cubicBezTo>
                  <a:cubicBezTo>
                    <a:pt x="131191" y="83820"/>
                    <a:pt x="129921" y="88138"/>
                    <a:pt x="128270" y="92075"/>
                  </a:cubicBezTo>
                  <a:cubicBezTo>
                    <a:pt x="126619" y="96012"/>
                    <a:pt x="124587" y="99949"/>
                    <a:pt x="122047" y="103632"/>
                  </a:cubicBezTo>
                  <a:cubicBezTo>
                    <a:pt x="119507" y="107315"/>
                    <a:pt x="116840" y="110617"/>
                    <a:pt x="113792" y="113792"/>
                  </a:cubicBezTo>
                  <a:cubicBezTo>
                    <a:pt x="110744" y="116967"/>
                    <a:pt x="107315" y="119634"/>
                    <a:pt x="103632" y="122047"/>
                  </a:cubicBezTo>
                  <a:cubicBezTo>
                    <a:pt x="99949" y="124460"/>
                    <a:pt x="96139" y="126492"/>
                    <a:pt x="92075" y="128270"/>
                  </a:cubicBezTo>
                  <a:cubicBezTo>
                    <a:pt x="88011" y="130048"/>
                    <a:pt x="83820" y="131191"/>
                    <a:pt x="79629" y="132080"/>
                  </a:cubicBezTo>
                  <a:cubicBezTo>
                    <a:pt x="75438" y="132969"/>
                    <a:pt x="70993" y="133350"/>
                    <a:pt x="66675" y="133350"/>
                  </a:cubicBezTo>
                  <a:cubicBezTo>
                    <a:pt x="62357" y="133350"/>
                    <a:pt x="57912" y="132969"/>
                    <a:pt x="53721" y="132080"/>
                  </a:cubicBezTo>
                  <a:cubicBezTo>
                    <a:pt x="49530" y="131191"/>
                    <a:pt x="45212" y="129921"/>
                    <a:pt x="41275" y="128270"/>
                  </a:cubicBezTo>
                  <a:cubicBezTo>
                    <a:pt x="37338" y="126619"/>
                    <a:pt x="33401" y="124587"/>
                    <a:pt x="29718" y="122047"/>
                  </a:cubicBezTo>
                  <a:cubicBezTo>
                    <a:pt x="26035" y="119507"/>
                    <a:pt x="22733" y="116840"/>
                    <a:pt x="19558" y="113792"/>
                  </a:cubicBezTo>
                  <a:cubicBezTo>
                    <a:pt x="16383" y="110744"/>
                    <a:pt x="13716" y="107315"/>
                    <a:pt x="11303" y="103632"/>
                  </a:cubicBezTo>
                  <a:cubicBezTo>
                    <a:pt x="8890" y="99949"/>
                    <a:pt x="6731" y="96266"/>
                    <a:pt x="5080" y="92202"/>
                  </a:cubicBezTo>
                  <a:cubicBezTo>
                    <a:pt x="3429" y="88138"/>
                    <a:pt x="2159" y="83947"/>
                    <a:pt x="1270" y="79629"/>
                  </a:cubicBezTo>
                  <a:cubicBezTo>
                    <a:pt x="381" y="75311"/>
                    <a:pt x="0" y="70993"/>
                    <a:pt x="0" y="66675"/>
                  </a:cubicBezTo>
                  <a:cubicBezTo>
                    <a:pt x="0" y="62357"/>
                    <a:pt x="381" y="57912"/>
                    <a:pt x="1270" y="53721"/>
                  </a:cubicBezTo>
                  <a:cubicBezTo>
                    <a:pt x="2159" y="49530"/>
                    <a:pt x="3429" y="45212"/>
                    <a:pt x="5080" y="41275"/>
                  </a:cubicBezTo>
                  <a:cubicBezTo>
                    <a:pt x="6731" y="37338"/>
                    <a:pt x="8763" y="33401"/>
                    <a:pt x="11303" y="29718"/>
                  </a:cubicBezTo>
                  <a:cubicBezTo>
                    <a:pt x="13843" y="26035"/>
                    <a:pt x="16510" y="22733"/>
                    <a:pt x="19558" y="19558"/>
                  </a:cubicBezTo>
                  <a:cubicBezTo>
                    <a:pt x="22606" y="16383"/>
                    <a:pt x="26035" y="13716"/>
                    <a:pt x="29718" y="11303"/>
                  </a:cubicBezTo>
                  <a:cubicBezTo>
                    <a:pt x="33401" y="8890"/>
                    <a:pt x="37211" y="6858"/>
                    <a:pt x="41275" y="5080"/>
                  </a:cubicBezTo>
                  <a:cubicBezTo>
                    <a:pt x="45339" y="3302"/>
                    <a:pt x="49530" y="2159"/>
                    <a:pt x="53721" y="1270"/>
                  </a:cubicBezTo>
                  <a:cubicBezTo>
                    <a:pt x="57912" y="381"/>
                    <a:pt x="62357" y="0"/>
                    <a:pt x="66675" y="0"/>
                  </a:cubicBezTo>
                  <a:cubicBezTo>
                    <a:pt x="70993" y="0"/>
                    <a:pt x="75438" y="381"/>
                    <a:pt x="79629" y="1270"/>
                  </a:cubicBezTo>
                  <a:cubicBezTo>
                    <a:pt x="83820" y="2159"/>
                    <a:pt x="88138" y="3429"/>
                    <a:pt x="92075" y="5080"/>
                  </a:cubicBezTo>
                  <a:cubicBezTo>
                    <a:pt x="96012" y="6731"/>
                    <a:pt x="99949" y="8763"/>
                    <a:pt x="103632" y="11303"/>
                  </a:cubicBezTo>
                  <a:cubicBezTo>
                    <a:pt x="107315" y="13843"/>
                    <a:pt x="110617" y="16510"/>
                    <a:pt x="113792" y="19558"/>
                  </a:cubicBezTo>
                  <a:cubicBezTo>
                    <a:pt x="116967" y="22606"/>
                    <a:pt x="119634" y="26035"/>
                    <a:pt x="122047" y="29718"/>
                  </a:cubicBezTo>
                  <a:cubicBezTo>
                    <a:pt x="124460" y="33401"/>
                    <a:pt x="126492" y="37211"/>
                    <a:pt x="128270" y="41275"/>
                  </a:cubicBezTo>
                  <a:cubicBezTo>
                    <a:pt x="130048" y="45339"/>
                    <a:pt x="131191" y="49530"/>
                    <a:pt x="132080" y="53721"/>
                  </a:cubicBezTo>
                  <a:cubicBezTo>
                    <a:pt x="132969" y="57912"/>
                    <a:pt x="133350" y="62357"/>
                    <a:pt x="133350" y="66675"/>
                  </a:cubicBezTo>
                  <a:close/>
                </a:path>
              </a:pathLst>
            </a:custGeom>
            <a:solidFill>
              <a:srgbClr val="000000"/>
            </a:solidFill>
          </p:spPr>
        </p:sp>
      </p:grpSp>
      <p:grpSp>
        <p:nvGrpSpPr>
          <p:cNvPr id="8" name="Group 8"/>
          <p:cNvGrpSpPr/>
          <p:nvPr/>
        </p:nvGrpSpPr>
        <p:grpSpPr>
          <a:xfrm>
            <a:off x="1787623" y="4212431"/>
            <a:ext cx="133350" cy="133350"/>
            <a:chOff x="0" y="0"/>
            <a:chExt cx="133350" cy="133350"/>
          </a:xfrm>
        </p:grpSpPr>
        <p:sp>
          <p:nvSpPr>
            <p:cNvPr id="9" name="Freeform 9"/>
            <p:cNvSpPr/>
            <p:nvPr/>
          </p:nvSpPr>
          <p:spPr>
            <a:xfrm>
              <a:off x="0" y="0"/>
              <a:ext cx="133350" cy="133350"/>
            </a:xfrm>
            <a:custGeom>
              <a:avLst/>
              <a:gdLst/>
              <a:ahLst/>
              <a:cxnLst/>
              <a:rect l="l" t="t" r="r" b="b"/>
              <a:pathLst>
                <a:path w="133350" h="133350">
                  <a:moveTo>
                    <a:pt x="133350" y="66675"/>
                  </a:moveTo>
                  <a:cubicBezTo>
                    <a:pt x="133350" y="70993"/>
                    <a:pt x="132969" y="75438"/>
                    <a:pt x="132080" y="79629"/>
                  </a:cubicBezTo>
                  <a:cubicBezTo>
                    <a:pt x="131191" y="83820"/>
                    <a:pt x="129921" y="88138"/>
                    <a:pt x="128270" y="92075"/>
                  </a:cubicBezTo>
                  <a:cubicBezTo>
                    <a:pt x="126619" y="96012"/>
                    <a:pt x="124587" y="99949"/>
                    <a:pt x="122047" y="103632"/>
                  </a:cubicBezTo>
                  <a:cubicBezTo>
                    <a:pt x="119507" y="107315"/>
                    <a:pt x="116840" y="110617"/>
                    <a:pt x="113792" y="113792"/>
                  </a:cubicBezTo>
                  <a:cubicBezTo>
                    <a:pt x="110744" y="116967"/>
                    <a:pt x="107315" y="119634"/>
                    <a:pt x="103632" y="122047"/>
                  </a:cubicBezTo>
                  <a:cubicBezTo>
                    <a:pt x="99949" y="124460"/>
                    <a:pt x="96139" y="126492"/>
                    <a:pt x="92075" y="128270"/>
                  </a:cubicBezTo>
                  <a:cubicBezTo>
                    <a:pt x="88011" y="130048"/>
                    <a:pt x="83820" y="131191"/>
                    <a:pt x="79629" y="132080"/>
                  </a:cubicBezTo>
                  <a:cubicBezTo>
                    <a:pt x="75438" y="132969"/>
                    <a:pt x="70993" y="133350"/>
                    <a:pt x="66675" y="133350"/>
                  </a:cubicBezTo>
                  <a:cubicBezTo>
                    <a:pt x="62357" y="133350"/>
                    <a:pt x="57912" y="132969"/>
                    <a:pt x="53721" y="132080"/>
                  </a:cubicBezTo>
                  <a:cubicBezTo>
                    <a:pt x="49530" y="131191"/>
                    <a:pt x="45212" y="129921"/>
                    <a:pt x="41275" y="128270"/>
                  </a:cubicBezTo>
                  <a:cubicBezTo>
                    <a:pt x="37338" y="126619"/>
                    <a:pt x="33401" y="124587"/>
                    <a:pt x="29718" y="122047"/>
                  </a:cubicBezTo>
                  <a:cubicBezTo>
                    <a:pt x="26035" y="119507"/>
                    <a:pt x="22733" y="116840"/>
                    <a:pt x="19558" y="113792"/>
                  </a:cubicBezTo>
                  <a:cubicBezTo>
                    <a:pt x="16383" y="110744"/>
                    <a:pt x="13716" y="107315"/>
                    <a:pt x="11303" y="103632"/>
                  </a:cubicBezTo>
                  <a:cubicBezTo>
                    <a:pt x="8890" y="99949"/>
                    <a:pt x="6731" y="96266"/>
                    <a:pt x="5080" y="92202"/>
                  </a:cubicBezTo>
                  <a:cubicBezTo>
                    <a:pt x="3429" y="88138"/>
                    <a:pt x="2159" y="83947"/>
                    <a:pt x="1270" y="79629"/>
                  </a:cubicBezTo>
                  <a:cubicBezTo>
                    <a:pt x="381" y="75311"/>
                    <a:pt x="0" y="70993"/>
                    <a:pt x="0" y="66675"/>
                  </a:cubicBezTo>
                  <a:cubicBezTo>
                    <a:pt x="0" y="62357"/>
                    <a:pt x="381" y="57912"/>
                    <a:pt x="1270" y="53721"/>
                  </a:cubicBezTo>
                  <a:cubicBezTo>
                    <a:pt x="2159" y="49530"/>
                    <a:pt x="3429" y="45212"/>
                    <a:pt x="5080" y="41275"/>
                  </a:cubicBezTo>
                  <a:cubicBezTo>
                    <a:pt x="6731" y="37338"/>
                    <a:pt x="8763" y="33401"/>
                    <a:pt x="11303" y="29718"/>
                  </a:cubicBezTo>
                  <a:cubicBezTo>
                    <a:pt x="13843" y="26035"/>
                    <a:pt x="16510" y="22733"/>
                    <a:pt x="19558" y="19558"/>
                  </a:cubicBezTo>
                  <a:cubicBezTo>
                    <a:pt x="22606" y="16383"/>
                    <a:pt x="26035" y="13716"/>
                    <a:pt x="29718" y="11303"/>
                  </a:cubicBezTo>
                  <a:cubicBezTo>
                    <a:pt x="33401" y="8890"/>
                    <a:pt x="37211" y="6858"/>
                    <a:pt x="41275" y="5080"/>
                  </a:cubicBezTo>
                  <a:cubicBezTo>
                    <a:pt x="45339" y="3302"/>
                    <a:pt x="49530" y="2159"/>
                    <a:pt x="53721" y="1270"/>
                  </a:cubicBezTo>
                  <a:cubicBezTo>
                    <a:pt x="57912" y="381"/>
                    <a:pt x="62357" y="0"/>
                    <a:pt x="66675" y="0"/>
                  </a:cubicBezTo>
                  <a:cubicBezTo>
                    <a:pt x="70993" y="0"/>
                    <a:pt x="75438" y="381"/>
                    <a:pt x="79629" y="1270"/>
                  </a:cubicBezTo>
                  <a:cubicBezTo>
                    <a:pt x="83820" y="2159"/>
                    <a:pt x="88138" y="3429"/>
                    <a:pt x="92075" y="5080"/>
                  </a:cubicBezTo>
                  <a:cubicBezTo>
                    <a:pt x="96012" y="6731"/>
                    <a:pt x="99949" y="8763"/>
                    <a:pt x="103632" y="11303"/>
                  </a:cubicBezTo>
                  <a:cubicBezTo>
                    <a:pt x="107315" y="13843"/>
                    <a:pt x="110617" y="16510"/>
                    <a:pt x="113792" y="19558"/>
                  </a:cubicBezTo>
                  <a:cubicBezTo>
                    <a:pt x="116967" y="22606"/>
                    <a:pt x="119634" y="26035"/>
                    <a:pt x="122047" y="29718"/>
                  </a:cubicBezTo>
                  <a:cubicBezTo>
                    <a:pt x="124460" y="33401"/>
                    <a:pt x="126492" y="37211"/>
                    <a:pt x="128270" y="41275"/>
                  </a:cubicBezTo>
                  <a:cubicBezTo>
                    <a:pt x="130048" y="45339"/>
                    <a:pt x="131191" y="49530"/>
                    <a:pt x="132080" y="53721"/>
                  </a:cubicBezTo>
                  <a:cubicBezTo>
                    <a:pt x="132969" y="57912"/>
                    <a:pt x="133350" y="62357"/>
                    <a:pt x="133350" y="66675"/>
                  </a:cubicBezTo>
                  <a:close/>
                </a:path>
              </a:pathLst>
            </a:custGeom>
            <a:solidFill>
              <a:srgbClr val="000000"/>
            </a:solidFill>
          </p:spPr>
        </p:sp>
      </p:grpSp>
      <p:grpSp>
        <p:nvGrpSpPr>
          <p:cNvPr id="10" name="Group 10"/>
          <p:cNvGrpSpPr/>
          <p:nvPr/>
        </p:nvGrpSpPr>
        <p:grpSpPr>
          <a:xfrm>
            <a:off x="1787623" y="5260181"/>
            <a:ext cx="133350" cy="133350"/>
            <a:chOff x="0" y="0"/>
            <a:chExt cx="133350" cy="133350"/>
          </a:xfrm>
        </p:grpSpPr>
        <p:sp>
          <p:nvSpPr>
            <p:cNvPr id="11" name="Freeform 11"/>
            <p:cNvSpPr/>
            <p:nvPr/>
          </p:nvSpPr>
          <p:spPr>
            <a:xfrm>
              <a:off x="0" y="0"/>
              <a:ext cx="133350" cy="133350"/>
            </a:xfrm>
            <a:custGeom>
              <a:avLst/>
              <a:gdLst/>
              <a:ahLst/>
              <a:cxnLst/>
              <a:rect l="l" t="t" r="r" b="b"/>
              <a:pathLst>
                <a:path w="133350" h="133350">
                  <a:moveTo>
                    <a:pt x="133350" y="66675"/>
                  </a:moveTo>
                  <a:cubicBezTo>
                    <a:pt x="133350" y="70993"/>
                    <a:pt x="132969" y="75438"/>
                    <a:pt x="132080" y="79629"/>
                  </a:cubicBezTo>
                  <a:cubicBezTo>
                    <a:pt x="131191" y="83820"/>
                    <a:pt x="129921" y="88138"/>
                    <a:pt x="128270" y="92075"/>
                  </a:cubicBezTo>
                  <a:cubicBezTo>
                    <a:pt x="126619" y="96012"/>
                    <a:pt x="124587" y="99949"/>
                    <a:pt x="122047" y="103632"/>
                  </a:cubicBezTo>
                  <a:cubicBezTo>
                    <a:pt x="119507" y="107315"/>
                    <a:pt x="116840" y="110617"/>
                    <a:pt x="113792" y="113792"/>
                  </a:cubicBezTo>
                  <a:cubicBezTo>
                    <a:pt x="110744" y="116967"/>
                    <a:pt x="107315" y="119634"/>
                    <a:pt x="103632" y="122047"/>
                  </a:cubicBezTo>
                  <a:cubicBezTo>
                    <a:pt x="99949" y="124460"/>
                    <a:pt x="96139" y="126492"/>
                    <a:pt x="92075" y="128270"/>
                  </a:cubicBezTo>
                  <a:cubicBezTo>
                    <a:pt x="88011" y="130048"/>
                    <a:pt x="83820" y="131191"/>
                    <a:pt x="79629" y="132080"/>
                  </a:cubicBezTo>
                  <a:cubicBezTo>
                    <a:pt x="75438" y="132969"/>
                    <a:pt x="70993" y="133350"/>
                    <a:pt x="66675" y="133350"/>
                  </a:cubicBezTo>
                  <a:cubicBezTo>
                    <a:pt x="62357" y="133350"/>
                    <a:pt x="57912" y="132969"/>
                    <a:pt x="53721" y="132080"/>
                  </a:cubicBezTo>
                  <a:cubicBezTo>
                    <a:pt x="49530" y="131191"/>
                    <a:pt x="45212" y="129921"/>
                    <a:pt x="41275" y="128270"/>
                  </a:cubicBezTo>
                  <a:cubicBezTo>
                    <a:pt x="37338" y="126619"/>
                    <a:pt x="33401" y="124587"/>
                    <a:pt x="29718" y="122047"/>
                  </a:cubicBezTo>
                  <a:cubicBezTo>
                    <a:pt x="26035" y="119507"/>
                    <a:pt x="22733" y="116840"/>
                    <a:pt x="19558" y="113792"/>
                  </a:cubicBezTo>
                  <a:cubicBezTo>
                    <a:pt x="16383" y="110744"/>
                    <a:pt x="13716" y="107315"/>
                    <a:pt x="11303" y="103632"/>
                  </a:cubicBezTo>
                  <a:cubicBezTo>
                    <a:pt x="8890" y="99949"/>
                    <a:pt x="6731" y="96266"/>
                    <a:pt x="5080" y="92202"/>
                  </a:cubicBezTo>
                  <a:cubicBezTo>
                    <a:pt x="3429" y="88138"/>
                    <a:pt x="2159" y="83947"/>
                    <a:pt x="1270" y="79629"/>
                  </a:cubicBezTo>
                  <a:cubicBezTo>
                    <a:pt x="381" y="75311"/>
                    <a:pt x="0" y="70993"/>
                    <a:pt x="0" y="66675"/>
                  </a:cubicBezTo>
                  <a:cubicBezTo>
                    <a:pt x="0" y="62357"/>
                    <a:pt x="381" y="57912"/>
                    <a:pt x="1270" y="53721"/>
                  </a:cubicBezTo>
                  <a:cubicBezTo>
                    <a:pt x="2159" y="49530"/>
                    <a:pt x="3429" y="45212"/>
                    <a:pt x="5080" y="41275"/>
                  </a:cubicBezTo>
                  <a:cubicBezTo>
                    <a:pt x="6731" y="37338"/>
                    <a:pt x="8763" y="33401"/>
                    <a:pt x="11303" y="29718"/>
                  </a:cubicBezTo>
                  <a:cubicBezTo>
                    <a:pt x="13843" y="26035"/>
                    <a:pt x="16510" y="22733"/>
                    <a:pt x="19558" y="19558"/>
                  </a:cubicBezTo>
                  <a:cubicBezTo>
                    <a:pt x="22606" y="16383"/>
                    <a:pt x="26035" y="13716"/>
                    <a:pt x="29718" y="11303"/>
                  </a:cubicBezTo>
                  <a:cubicBezTo>
                    <a:pt x="33401" y="8890"/>
                    <a:pt x="37211" y="6858"/>
                    <a:pt x="41275" y="5080"/>
                  </a:cubicBezTo>
                  <a:cubicBezTo>
                    <a:pt x="45339" y="3302"/>
                    <a:pt x="49530" y="2159"/>
                    <a:pt x="53721" y="1270"/>
                  </a:cubicBezTo>
                  <a:cubicBezTo>
                    <a:pt x="57912" y="381"/>
                    <a:pt x="62357" y="0"/>
                    <a:pt x="66675" y="0"/>
                  </a:cubicBezTo>
                  <a:cubicBezTo>
                    <a:pt x="70993" y="0"/>
                    <a:pt x="75438" y="381"/>
                    <a:pt x="79629" y="1270"/>
                  </a:cubicBezTo>
                  <a:cubicBezTo>
                    <a:pt x="83820" y="2159"/>
                    <a:pt x="88138" y="3429"/>
                    <a:pt x="92075" y="5080"/>
                  </a:cubicBezTo>
                  <a:cubicBezTo>
                    <a:pt x="96012" y="6731"/>
                    <a:pt x="99949" y="8763"/>
                    <a:pt x="103632" y="11303"/>
                  </a:cubicBezTo>
                  <a:cubicBezTo>
                    <a:pt x="107315" y="13843"/>
                    <a:pt x="110617" y="16510"/>
                    <a:pt x="113792" y="19558"/>
                  </a:cubicBezTo>
                  <a:cubicBezTo>
                    <a:pt x="116967" y="22606"/>
                    <a:pt x="119634" y="26035"/>
                    <a:pt x="122047" y="29718"/>
                  </a:cubicBezTo>
                  <a:cubicBezTo>
                    <a:pt x="124460" y="33401"/>
                    <a:pt x="126492" y="37211"/>
                    <a:pt x="128270" y="41275"/>
                  </a:cubicBezTo>
                  <a:cubicBezTo>
                    <a:pt x="130048" y="45339"/>
                    <a:pt x="131191" y="49530"/>
                    <a:pt x="132080" y="53721"/>
                  </a:cubicBezTo>
                  <a:cubicBezTo>
                    <a:pt x="132969" y="57912"/>
                    <a:pt x="133350" y="62357"/>
                    <a:pt x="133350" y="66675"/>
                  </a:cubicBezTo>
                  <a:close/>
                </a:path>
              </a:pathLst>
            </a:custGeom>
            <a:solidFill>
              <a:srgbClr val="000000"/>
            </a:solidFill>
          </p:spPr>
        </p:sp>
      </p:grpSp>
      <p:grpSp>
        <p:nvGrpSpPr>
          <p:cNvPr id="12" name="Group 12"/>
          <p:cNvGrpSpPr/>
          <p:nvPr/>
        </p:nvGrpSpPr>
        <p:grpSpPr>
          <a:xfrm>
            <a:off x="1787623" y="5784056"/>
            <a:ext cx="133350" cy="133350"/>
            <a:chOff x="0" y="0"/>
            <a:chExt cx="133350" cy="133350"/>
          </a:xfrm>
        </p:grpSpPr>
        <p:sp>
          <p:nvSpPr>
            <p:cNvPr id="13" name="Freeform 13"/>
            <p:cNvSpPr/>
            <p:nvPr/>
          </p:nvSpPr>
          <p:spPr>
            <a:xfrm>
              <a:off x="0" y="0"/>
              <a:ext cx="133350" cy="133350"/>
            </a:xfrm>
            <a:custGeom>
              <a:avLst/>
              <a:gdLst/>
              <a:ahLst/>
              <a:cxnLst/>
              <a:rect l="l" t="t" r="r" b="b"/>
              <a:pathLst>
                <a:path w="133350" h="133350">
                  <a:moveTo>
                    <a:pt x="133350" y="66675"/>
                  </a:moveTo>
                  <a:cubicBezTo>
                    <a:pt x="133350" y="70993"/>
                    <a:pt x="132969" y="75438"/>
                    <a:pt x="132080" y="79629"/>
                  </a:cubicBezTo>
                  <a:cubicBezTo>
                    <a:pt x="131191" y="83820"/>
                    <a:pt x="129921" y="88138"/>
                    <a:pt x="128270" y="92075"/>
                  </a:cubicBezTo>
                  <a:cubicBezTo>
                    <a:pt x="126619" y="96012"/>
                    <a:pt x="124587" y="99949"/>
                    <a:pt x="122047" y="103632"/>
                  </a:cubicBezTo>
                  <a:cubicBezTo>
                    <a:pt x="119507" y="107315"/>
                    <a:pt x="116840" y="110617"/>
                    <a:pt x="113792" y="113792"/>
                  </a:cubicBezTo>
                  <a:cubicBezTo>
                    <a:pt x="110744" y="116967"/>
                    <a:pt x="107315" y="119634"/>
                    <a:pt x="103632" y="122047"/>
                  </a:cubicBezTo>
                  <a:cubicBezTo>
                    <a:pt x="99949" y="124460"/>
                    <a:pt x="96139" y="126492"/>
                    <a:pt x="92075" y="128270"/>
                  </a:cubicBezTo>
                  <a:cubicBezTo>
                    <a:pt x="88011" y="130048"/>
                    <a:pt x="83820" y="131191"/>
                    <a:pt x="79629" y="132080"/>
                  </a:cubicBezTo>
                  <a:cubicBezTo>
                    <a:pt x="75438" y="132969"/>
                    <a:pt x="70993" y="133350"/>
                    <a:pt x="66675" y="133350"/>
                  </a:cubicBezTo>
                  <a:cubicBezTo>
                    <a:pt x="62357" y="133350"/>
                    <a:pt x="57912" y="132969"/>
                    <a:pt x="53721" y="132080"/>
                  </a:cubicBezTo>
                  <a:cubicBezTo>
                    <a:pt x="49530" y="131191"/>
                    <a:pt x="45212" y="129921"/>
                    <a:pt x="41275" y="128270"/>
                  </a:cubicBezTo>
                  <a:cubicBezTo>
                    <a:pt x="37338" y="126619"/>
                    <a:pt x="33401" y="124587"/>
                    <a:pt x="29718" y="122047"/>
                  </a:cubicBezTo>
                  <a:cubicBezTo>
                    <a:pt x="26035" y="119507"/>
                    <a:pt x="22733" y="116840"/>
                    <a:pt x="19558" y="113792"/>
                  </a:cubicBezTo>
                  <a:cubicBezTo>
                    <a:pt x="16383" y="110744"/>
                    <a:pt x="13716" y="107315"/>
                    <a:pt x="11303" y="103632"/>
                  </a:cubicBezTo>
                  <a:cubicBezTo>
                    <a:pt x="8890" y="99949"/>
                    <a:pt x="6731" y="96266"/>
                    <a:pt x="5080" y="92202"/>
                  </a:cubicBezTo>
                  <a:cubicBezTo>
                    <a:pt x="3429" y="88138"/>
                    <a:pt x="2159" y="83947"/>
                    <a:pt x="1270" y="79629"/>
                  </a:cubicBezTo>
                  <a:cubicBezTo>
                    <a:pt x="381" y="75311"/>
                    <a:pt x="0" y="70993"/>
                    <a:pt x="0" y="66675"/>
                  </a:cubicBezTo>
                  <a:cubicBezTo>
                    <a:pt x="0" y="62357"/>
                    <a:pt x="381" y="57912"/>
                    <a:pt x="1270" y="53721"/>
                  </a:cubicBezTo>
                  <a:cubicBezTo>
                    <a:pt x="2159" y="49530"/>
                    <a:pt x="3429" y="45212"/>
                    <a:pt x="5080" y="41275"/>
                  </a:cubicBezTo>
                  <a:cubicBezTo>
                    <a:pt x="6731" y="37338"/>
                    <a:pt x="8763" y="33401"/>
                    <a:pt x="11303" y="29718"/>
                  </a:cubicBezTo>
                  <a:cubicBezTo>
                    <a:pt x="13843" y="26035"/>
                    <a:pt x="16510" y="22733"/>
                    <a:pt x="19558" y="19558"/>
                  </a:cubicBezTo>
                  <a:cubicBezTo>
                    <a:pt x="22606" y="16383"/>
                    <a:pt x="26035" y="13716"/>
                    <a:pt x="29718" y="11303"/>
                  </a:cubicBezTo>
                  <a:cubicBezTo>
                    <a:pt x="33401" y="8890"/>
                    <a:pt x="37211" y="6858"/>
                    <a:pt x="41275" y="5080"/>
                  </a:cubicBezTo>
                  <a:cubicBezTo>
                    <a:pt x="45339" y="3302"/>
                    <a:pt x="49530" y="2159"/>
                    <a:pt x="53721" y="1270"/>
                  </a:cubicBezTo>
                  <a:cubicBezTo>
                    <a:pt x="57912" y="381"/>
                    <a:pt x="62357" y="0"/>
                    <a:pt x="66675" y="0"/>
                  </a:cubicBezTo>
                  <a:cubicBezTo>
                    <a:pt x="70993" y="0"/>
                    <a:pt x="75438" y="381"/>
                    <a:pt x="79629" y="1270"/>
                  </a:cubicBezTo>
                  <a:cubicBezTo>
                    <a:pt x="83820" y="2159"/>
                    <a:pt x="88138" y="3429"/>
                    <a:pt x="92075" y="5080"/>
                  </a:cubicBezTo>
                  <a:cubicBezTo>
                    <a:pt x="96012" y="6731"/>
                    <a:pt x="99949" y="8763"/>
                    <a:pt x="103632" y="11303"/>
                  </a:cubicBezTo>
                  <a:cubicBezTo>
                    <a:pt x="107315" y="13843"/>
                    <a:pt x="110617" y="16510"/>
                    <a:pt x="113792" y="19558"/>
                  </a:cubicBezTo>
                  <a:cubicBezTo>
                    <a:pt x="116967" y="22606"/>
                    <a:pt x="119634" y="26035"/>
                    <a:pt x="122047" y="29718"/>
                  </a:cubicBezTo>
                  <a:cubicBezTo>
                    <a:pt x="124460" y="33401"/>
                    <a:pt x="126492" y="37211"/>
                    <a:pt x="128270" y="41275"/>
                  </a:cubicBezTo>
                  <a:cubicBezTo>
                    <a:pt x="130048" y="45339"/>
                    <a:pt x="131191" y="49530"/>
                    <a:pt x="132080" y="53721"/>
                  </a:cubicBezTo>
                  <a:cubicBezTo>
                    <a:pt x="132969" y="57912"/>
                    <a:pt x="133350" y="62357"/>
                    <a:pt x="133350" y="66675"/>
                  </a:cubicBezTo>
                  <a:close/>
                </a:path>
              </a:pathLst>
            </a:custGeom>
            <a:solidFill>
              <a:srgbClr val="000000"/>
            </a:solidFill>
          </p:spPr>
        </p:sp>
      </p:grpSp>
      <p:grpSp>
        <p:nvGrpSpPr>
          <p:cNvPr id="14" name="Group 14"/>
          <p:cNvGrpSpPr/>
          <p:nvPr/>
        </p:nvGrpSpPr>
        <p:grpSpPr>
          <a:xfrm>
            <a:off x="1787623" y="7355681"/>
            <a:ext cx="133350" cy="133350"/>
            <a:chOff x="0" y="0"/>
            <a:chExt cx="133350" cy="133350"/>
          </a:xfrm>
        </p:grpSpPr>
        <p:sp>
          <p:nvSpPr>
            <p:cNvPr id="15" name="Freeform 15"/>
            <p:cNvSpPr/>
            <p:nvPr/>
          </p:nvSpPr>
          <p:spPr>
            <a:xfrm>
              <a:off x="0" y="0"/>
              <a:ext cx="133350" cy="133350"/>
            </a:xfrm>
            <a:custGeom>
              <a:avLst/>
              <a:gdLst/>
              <a:ahLst/>
              <a:cxnLst/>
              <a:rect l="l" t="t" r="r" b="b"/>
              <a:pathLst>
                <a:path w="133350" h="133350">
                  <a:moveTo>
                    <a:pt x="133350" y="66675"/>
                  </a:moveTo>
                  <a:cubicBezTo>
                    <a:pt x="133350" y="70993"/>
                    <a:pt x="132969" y="75438"/>
                    <a:pt x="132080" y="79629"/>
                  </a:cubicBezTo>
                  <a:cubicBezTo>
                    <a:pt x="131191" y="83820"/>
                    <a:pt x="129921" y="88138"/>
                    <a:pt x="128270" y="92075"/>
                  </a:cubicBezTo>
                  <a:cubicBezTo>
                    <a:pt x="126619" y="96012"/>
                    <a:pt x="124587" y="99949"/>
                    <a:pt x="122047" y="103632"/>
                  </a:cubicBezTo>
                  <a:cubicBezTo>
                    <a:pt x="119507" y="107315"/>
                    <a:pt x="116840" y="110617"/>
                    <a:pt x="113792" y="113792"/>
                  </a:cubicBezTo>
                  <a:cubicBezTo>
                    <a:pt x="110744" y="116967"/>
                    <a:pt x="107315" y="119634"/>
                    <a:pt x="103632" y="122047"/>
                  </a:cubicBezTo>
                  <a:cubicBezTo>
                    <a:pt x="99949" y="124460"/>
                    <a:pt x="96139" y="126492"/>
                    <a:pt x="92075" y="128270"/>
                  </a:cubicBezTo>
                  <a:cubicBezTo>
                    <a:pt x="88011" y="130048"/>
                    <a:pt x="83820" y="131191"/>
                    <a:pt x="79629" y="132080"/>
                  </a:cubicBezTo>
                  <a:cubicBezTo>
                    <a:pt x="75438" y="132969"/>
                    <a:pt x="70993" y="133350"/>
                    <a:pt x="66675" y="133350"/>
                  </a:cubicBezTo>
                  <a:cubicBezTo>
                    <a:pt x="62357" y="133350"/>
                    <a:pt x="57912" y="132969"/>
                    <a:pt x="53721" y="132080"/>
                  </a:cubicBezTo>
                  <a:cubicBezTo>
                    <a:pt x="49530" y="131191"/>
                    <a:pt x="45212" y="129921"/>
                    <a:pt x="41275" y="128270"/>
                  </a:cubicBezTo>
                  <a:cubicBezTo>
                    <a:pt x="37338" y="126619"/>
                    <a:pt x="33401" y="124587"/>
                    <a:pt x="29718" y="122047"/>
                  </a:cubicBezTo>
                  <a:cubicBezTo>
                    <a:pt x="26035" y="119507"/>
                    <a:pt x="22733" y="116840"/>
                    <a:pt x="19558" y="113792"/>
                  </a:cubicBezTo>
                  <a:cubicBezTo>
                    <a:pt x="16383" y="110744"/>
                    <a:pt x="13716" y="107315"/>
                    <a:pt x="11303" y="103632"/>
                  </a:cubicBezTo>
                  <a:cubicBezTo>
                    <a:pt x="8890" y="99949"/>
                    <a:pt x="6731" y="96266"/>
                    <a:pt x="5080" y="92202"/>
                  </a:cubicBezTo>
                  <a:cubicBezTo>
                    <a:pt x="3429" y="88138"/>
                    <a:pt x="2159" y="83947"/>
                    <a:pt x="1270" y="79629"/>
                  </a:cubicBezTo>
                  <a:cubicBezTo>
                    <a:pt x="381" y="75311"/>
                    <a:pt x="0" y="70993"/>
                    <a:pt x="0" y="66675"/>
                  </a:cubicBezTo>
                  <a:cubicBezTo>
                    <a:pt x="0" y="62357"/>
                    <a:pt x="381" y="57912"/>
                    <a:pt x="1270" y="53721"/>
                  </a:cubicBezTo>
                  <a:cubicBezTo>
                    <a:pt x="2159" y="49530"/>
                    <a:pt x="3429" y="45212"/>
                    <a:pt x="5080" y="41275"/>
                  </a:cubicBezTo>
                  <a:cubicBezTo>
                    <a:pt x="6731" y="37338"/>
                    <a:pt x="8763" y="33401"/>
                    <a:pt x="11303" y="29718"/>
                  </a:cubicBezTo>
                  <a:cubicBezTo>
                    <a:pt x="13843" y="26035"/>
                    <a:pt x="16510" y="22733"/>
                    <a:pt x="19558" y="19558"/>
                  </a:cubicBezTo>
                  <a:cubicBezTo>
                    <a:pt x="22606" y="16383"/>
                    <a:pt x="26035" y="13716"/>
                    <a:pt x="29718" y="11303"/>
                  </a:cubicBezTo>
                  <a:cubicBezTo>
                    <a:pt x="33401" y="8890"/>
                    <a:pt x="37211" y="6858"/>
                    <a:pt x="41275" y="5080"/>
                  </a:cubicBezTo>
                  <a:cubicBezTo>
                    <a:pt x="45339" y="3302"/>
                    <a:pt x="49530" y="2159"/>
                    <a:pt x="53721" y="1270"/>
                  </a:cubicBezTo>
                  <a:cubicBezTo>
                    <a:pt x="57912" y="381"/>
                    <a:pt x="62357" y="0"/>
                    <a:pt x="66675" y="0"/>
                  </a:cubicBezTo>
                  <a:cubicBezTo>
                    <a:pt x="70993" y="0"/>
                    <a:pt x="75438" y="381"/>
                    <a:pt x="79629" y="1270"/>
                  </a:cubicBezTo>
                  <a:cubicBezTo>
                    <a:pt x="83820" y="2159"/>
                    <a:pt x="88138" y="3429"/>
                    <a:pt x="92075" y="5080"/>
                  </a:cubicBezTo>
                  <a:cubicBezTo>
                    <a:pt x="96012" y="6731"/>
                    <a:pt x="99949" y="8763"/>
                    <a:pt x="103632" y="11303"/>
                  </a:cubicBezTo>
                  <a:cubicBezTo>
                    <a:pt x="107315" y="13843"/>
                    <a:pt x="110617" y="16510"/>
                    <a:pt x="113792" y="19558"/>
                  </a:cubicBezTo>
                  <a:cubicBezTo>
                    <a:pt x="116967" y="22606"/>
                    <a:pt x="119634" y="26035"/>
                    <a:pt x="122047" y="29718"/>
                  </a:cubicBezTo>
                  <a:cubicBezTo>
                    <a:pt x="124460" y="33401"/>
                    <a:pt x="126492" y="37211"/>
                    <a:pt x="128270" y="41275"/>
                  </a:cubicBezTo>
                  <a:cubicBezTo>
                    <a:pt x="130048" y="45339"/>
                    <a:pt x="131191" y="49530"/>
                    <a:pt x="132080" y="53721"/>
                  </a:cubicBezTo>
                  <a:cubicBezTo>
                    <a:pt x="132969" y="57912"/>
                    <a:pt x="133350" y="62357"/>
                    <a:pt x="133350" y="66675"/>
                  </a:cubicBezTo>
                  <a:close/>
                </a:path>
              </a:pathLst>
            </a:custGeom>
            <a:solidFill>
              <a:srgbClr val="000000"/>
            </a:solidFill>
          </p:spPr>
        </p:sp>
      </p:grpSp>
      <p:grpSp>
        <p:nvGrpSpPr>
          <p:cNvPr id="16" name="Group 16"/>
          <p:cNvGrpSpPr/>
          <p:nvPr/>
        </p:nvGrpSpPr>
        <p:grpSpPr>
          <a:xfrm>
            <a:off x="1787623" y="7879556"/>
            <a:ext cx="133350" cy="133350"/>
            <a:chOff x="0" y="0"/>
            <a:chExt cx="133350" cy="133350"/>
          </a:xfrm>
        </p:grpSpPr>
        <p:sp>
          <p:nvSpPr>
            <p:cNvPr id="17" name="Freeform 17"/>
            <p:cNvSpPr/>
            <p:nvPr/>
          </p:nvSpPr>
          <p:spPr>
            <a:xfrm>
              <a:off x="0" y="0"/>
              <a:ext cx="133350" cy="133350"/>
            </a:xfrm>
            <a:custGeom>
              <a:avLst/>
              <a:gdLst/>
              <a:ahLst/>
              <a:cxnLst/>
              <a:rect l="l" t="t" r="r" b="b"/>
              <a:pathLst>
                <a:path w="133350" h="133350">
                  <a:moveTo>
                    <a:pt x="133350" y="66675"/>
                  </a:moveTo>
                  <a:cubicBezTo>
                    <a:pt x="133350" y="70993"/>
                    <a:pt x="132969" y="75438"/>
                    <a:pt x="132080" y="79629"/>
                  </a:cubicBezTo>
                  <a:cubicBezTo>
                    <a:pt x="131191" y="83820"/>
                    <a:pt x="129921" y="88138"/>
                    <a:pt x="128270" y="92075"/>
                  </a:cubicBezTo>
                  <a:cubicBezTo>
                    <a:pt x="126619" y="96012"/>
                    <a:pt x="124587" y="99949"/>
                    <a:pt x="122047" y="103632"/>
                  </a:cubicBezTo>
                  <a:cubicBezTo>
                    <a:pt x="119507" y="107315"/>
                    <a:pt x="116840" y="110617"/>
                    <a:pt x="113792" y="113792"/>
                  </a:cubicBezTo>
                  <a:cubicBezTo>
                    <a:pt x="110744" y="116967"/>
                    <a:pt x="107315" y="119634"/>
                    <a:pt x="103632" y="122047"/>
                  </a:cubicBezTo>
                  <a:cubicBezTo>
                    <a:pt x="99949" y="124460"/>
                    <a:pt x="96139" y="126492"/>
                    <a:pt x="92075" y="128270"/>
                  </a:cubicBezTo>
                  <a:cubicBezTo>
                    <a:pt x="88011" y="130048"/>
                    <a:pt x="83820" y="131191"/>
                    <a:pt x="79629" y="132080"/>
                  </a:cubicBezTo>
                  <a:cubicBezTo>
                    <a:pt x="75438" y="132969"/>
                    <a:pt x="70993" y="133350"/>
                    <a:pt x="66675" y="133350"/>
                  </a:cubicBezTo>
                  <a:cubicBezTo>
                    <a:pt x="62357" y="133350"/>
                    <a:pt x="57912" y="132969"/>
                    <a:pt x="53721" y="132080"/>
                  </a:cubicBezTo>
                  <a:cubicBezTo>
                    <a:pt x="49530" y="131191"/>
                    <a:pt x="45212" y="129921"/>
                    <a:pt x="41275" y="128270"/>
                  </a:cubicBezTo>
                  <a:cubicBezTo>
                    <a:pt x="37338" y="126619"/>
                    <a:pt x="33401" y="124587"/>
                    <a:pt x="29718" y="122047"/>
                  </a:cubicBezTo>
                  <a:cubicBezTo>
                    <a:pt x="26035" y="119507"/>
                    <a:pt x="22733" y="116840"/>
                    <a:pt x="19558" y="113792"/>
                  </a:cubicBezTo>
                  <a:cubicBezTo>
                    <a:pt x="16383" y="110744"/>
                    <a:pt x="13716" y="107315"/>
                    <a:pt x="11303" y="103632"/>
                  </a:cubicBezTo>
                  <a:cubicBezTo>
                    <a:pt x="8890" y="99949"/>
                    <a:pt x="6731" y="96266"/>
                    <a:pt x="5080" y="92202"/>
                  </a:cubicBezTo>
                  <a:cubicBezTo>
                    <a:pt x="3429" y="88138"/>
                    <a:pt x="2159" y="83947"/>
                    <a:pt x="1270" y="79629"/>
                  </a:cubicBezTo>
                  <a:cubicBezTo>
                    <a:pt x="381" y="75311"/>
                    <a:pt x="0" y="70993"/>
                    <a:pt x="0" y="66675"/>
                  </a:cubicBezTo>
                  <a:cubicBezTo>
                    <a:pt x="0" y="62357"/>
                    <a:pt x="381" y="57912"/>
                    <a:pt x="1270" y="53721"/>
                  </a:cubicBezTo>
                  <a:cubicBezTo>
                    <a:pt x="2159" y="49530"/>
                    <a:pt x="3429" y="45212"/>
                    <a:pt x="5080" y="41275"/>
                  </a:cubicBezTo>
                  <a:cubicBezTo>
                    <a:pt x="6731" y="37338"/>
                    <a:pt x="8763" y="33401"/>
                    <a:pt x="11303" y="29718"/>
                  </a:cubicBezTo>
                  <a:cubicBezTo>
                    <a:pt x="13843" y="26035"/>
                    <a:pt x="16510" y="22733"/>
                    <a:pt x="19558" y="19558"/>
                  </a:cubicBezTo>
                  <a:cubicBezTo>
                    <a:pt x="22606" y="16383"/>
                    <a:pt x="26035" y="13716"/>
                    <a:pt x="29718" y="11303"/>
                  </a:cubicBezTo>
                  <a:cubicBezTo>
                    <a:pt x="33401" y="8890"/>
                    <a:pt x="37211" y="6858"/>
                    <a:pt x="41275" y="5080"/>
                  </a:cubicBezTo>
                  <a:cubicBezTo>
                    <a:pt x="45339" y="3302"/>
                    <a:pt x="49530" y="2159"/>
                    <a:pt x="53721" y="1270"/>
                  </a:cubicBezTo>
                  <a:cubicBezTo>
                    <a:pt x="57912" y="381"/>
                    <a:pt x="62357" y="0"/>
                    <a:pt x="66675" y="0"/>
                  </a:cubicBezTo>
                  <a:cubicBezTo>
                    <a:pt x="70993" y="0"/>
                    <a:pt x="75438" y="381"/>
                    <a:pt x="79629" y="1270"/>
                  </a:cubicBezTo>
                  <a:cubicBezTo>
                    <a:pt x="83820" y="2159"/>
                    <a:pt x="88138" y="3429"/>
                    <a:pt x="92075" y="5080"/>
                  </a:cubicBezTo>
                  <a:cubicBezTo>
                    <a:pt x="96012" y="6731"/>
                    <a:pt x="99949" y="8763"/>
                    <a:pt x="103632" y="11303"/>
                  </a:cubicBezTo>
                  <a:cubicBezTo>
                    <a:pt x="107315" y="13843"/>
                    <a:pt x="110617" y="16510"/>
                    <a:pt x="113792" y="19558"/>
                  </a:cubicBezTo>
                  <a:cubicBezTo>
                    <a:pt x="116967" y="22606"/>
                    <a:pt x="119634" y="26035"/>
                    <a:pt x="122047" y="29718"/>
                  </a:cubicBezTo>
                  <a:cubicBezTo>
                    <a:pt x="124460" y="33401"/>
                    <a:pt x="126492" y="37211"/>
                    <a:pt x="128270" y="41275"/>
                  </a:cubicBezTo>
                  <a:cubicBezTo>
                    <a:pt x="130048" y="45339"/>
                    <a:pt x="131191" y="49530"/>
                    <a:pt x="132080" y="53721"/>
                  </a:cubicBezTo>
                  <a:cubicBezTo>
                    <a:pt x="132969" y="57912"/>
                    <a:pt x="133350" y="62357"/>
                    <a:pt x="133350" y="66675"/>
                  </a:cubicBezTo>
                  <a:close/>
                </a:path>
              </a:pathLst>
            </a:custGeom>
            <a:solidFill>
              <a:srgbClr val="000000"/>
            </a:solidFill>
          </p:spPr>
        </p:sp>
      </p:grpSp>
      <p:grpSp>
        <p:nvGrpSpPr>
          <p:cNvPr id="18" name="Group 18"/>
          <p:cNvGrpSpPr/>
          <p:nvPr/>
        </p:nvGrpSpPr>
        <p:grpSpPr>
          <a:xfrm>
            <a:off x="1787623" y="8403431"/>
            <a:ext cx="133350" cy="133350"/>
            <a:chOff x="0" y="0"/>
            <a:chExt cx="133350" cy="133350"/>
          </a:xfrm>
        </p:grpSpPr>
        <p:sp>
          <p:nvSpPr>
            <p:cNvPr id="19" name="Freeform 19"/>
            <p:cNvSpPr/>
            <p:nvPr/>
          </p:nvSpPr>
          <p:spPr>
            <a:xfrm>
              <a:off x="0" y="0"/>
              <a:ext cx="133350" cy="133350"/>
            </a:xfrm>
            <a:custGeom>
              <a:avLst/>
              <a:gdLst/>
              <a:ahLst/>
              <a:cxnLst/>
              <a:rect l="l" t="t" r="r" b="b"/>
              <a:pathLst>
                <a:path w="133350" h="133350">
                  <a:moveTo>
                    <a:pt x="133350" y="66675"/>
                  </a:moveTo>
                  <a:cubicBezTo>
                    <a:pt x="133350" y="70993"/>
                    <a:pt x="132969" y="75438"/>
                    <a:pt x="132080" y="79629"/>
                  </a:cubicBezTo>
                  <a:cubicBezTo>
                    <a:pt x="131191" y="83820"/>
                    <a:pt x="129921" y="88138"/>
                    <a:pt x="128270" y="92075"/>
                  </a:cubicBezTo>
                  <a:cubicBezTo>
                    <a:pt x="126619" y="96012"/>
                    <a:pt x="124587" y="99949"/>
                    <a:pt x="122047" y="103632"/>
                  </a:cubicBezTo>
                  <a:cubicBezTo>
                    <a:pt x="119507" y="107315"/>
                    <a:pt x="116840" y="110617"/>
                    <a:pt x="113792" y="113792"/>
                  </a:cubicBezTo>
                  <a:cubicBezTo>
                    <a:pt x="110744" y="116967"/>
                    <a:pt x="107315" y="119634"/>
                    <a:pt x="103632" y="122047"/>
                  </a:cubicBezTo>
                  <a:cubicBezTo>
                    <a:pt x="99949" y="124460"/>
                    <a:pt x="96139" y="126492"/>
                    <a:pt x="92075" y="128270"/>
                  </a:cubicBezTo>
                  <a:cubicBezTo>
                    <a:pt x="88011" y="130048"/>
                    <a:pt x="83820" y="131191"/>
                    <a:pt x="79629" y="132080"/>
                  </a:cubicBezTo>
                  <a:cubicBezTo>
                    <a:pt x="75438" y="132969"/>
                    <a:pt x="70993" y="133350"/>
                    <a:pt x="66675" y="133350"/>
                  </a:cubicBezTo>
                  <a:cubicBezTo>
                    <a:pt x="62357" y="133350"/>
                    <a:pt x="57912" y="132969"/>
                    <a:pt x="53721" y="132080"/>
                  </a:cubicBezTo>
                  <a:cubicBezTo>
                    <a:pt x="49530" y="131191"/>
                    <a:pt x="45212" y="129921"/>
                    <a:pt x="41275" y="128270"/>
                  </a:cubicBezTo>
                  <a:cubicBezTo>
                    <a:pt x="37338" y="126619"/>
                    <a:pt x="33401" y="124587"/>
                    <a:pt x="29718" y="122047"/>
                  </a:cubicBezTo>
                  <a:cubicBezTo>
                    <a:pt x="26035" y="119507"/>
                    <a:pt x="22733" y="116840"/>
                    <a:pt x="19558" y="113792"/>
                  </a:cubicBezTo>
                  <a:cubicBezTo>
                    <a:pt x="16383" y="110744"/>
                    <a:pt x="13716" y="107315"/>
                    <a:pt x="11303" y="103632"/>
                  </a:cubicBezTo>
                  <a:cubicBezTo>
                    <a:pt x="8890" y="99949"/>
                    <a:pt x="6731" y="96266"/>
                    <a:pt x="5080" y="92202"/>
                  </a:cubicBezTo>
                  <a:cubicBezTo>
                    <a:pt x="3429" y="88138"/>
                    <a:pt x="2159" y="83947"/>
                    <a:pt x="1270" y="79629"/>
                  </a:cubicBezTo>
                  <a:cubicBezTo>
                    <a:pt x="381" y="75311"/>
                    <a:pt x="0" y="70993"/>
                    <a:pt x="0" y="66675"/>
                  </a:cubicBezTo>
                  <a:cubicBezTo>
                    <a:pt x="0" y="62357"/>
                    <a:pt x="381" y="57912"/>
                    <a:pt x="1270" y="53721"/>
                  </a:cubicBezTo>
                  <a:cubicBezTo>
                    <a:pt x="2159" y="49530"/>
                    <a:pt x="3429" y="45212"/>
                    <a:pt x="5080" y="41275"/>
                  </a:cubicBezTo>
                  <a:cubicBezTo>
                    <a:pt x="6731" y="37338"/>
                    <a:pt x="8763" y="33401"/>
                    <a:pt x="11303" y="29718"/>
                  </a:cubicBezTo>
                  <a:cubicBezTo>
                    <a:pt x="13843" y="26035"/>
                    <a:pt x="16510" y="22733"/>
                    <a:pt x="19558" y="19558"/>
                  </a:cubicBezTo>
                  <a:cubicBezTo>
                    <a:pt x="22606" y="16383"/>
                    <a:pt x="26035" y="13716"/>
                    <a:pt x="29718" y="11303"/>
                  </a:cubicBezTo>
                  <a:cubicBezTo>
                    <a:pt x="33401" y="8890"/>
                    <a:pt x="37211" y="6858"/>
                    <a:pt x="41275" y="5080"/>
                  </a:cubicBezTo>
                  <a:cubicBezTo>
                    <a:pt x="45339" y="3302"/>
                    <a:pt x="49530" y="2159"/>
                    <a:pt x="53721" y="1270"/>
                  </a:cubicBezTo>
                  <a:cubicBezTo>
                    <a:pt x="57912" y="381"/>
                    <a:pt x="62357" y="0"/>
                    <a:pt x="66675" y="0"/>
                  </a:cubicBezTo>
                  <a:cubicBezTo>
                    <a:pt x="70993" y="0"/>
                    <a:pt x="75438" y="381"/>
                    <a:pt x="79629" y="1270"/>
                  </a:cubicBezTo>
                  <a:cubicBezTo>
                    <a:pt x="83820" y="2159"/>
                    <a:pt x="88138" y="3429"/>
                    <a:pt x="92075" y="5080"/>
                  </a:cubicBezTo>
                  <a:cubicBezTo>
                    <a:pt x="96012" y="6731"/>
                    <a:pt x="99949" y="8763"/>
                    <a:pt x="103632" y="11303"/>
                  </a:cubicBezTo>
                  <a:cubicBezTo>
                    <a:pt x="107315" y="13843"/>
                    <a:pt x="110617" y="16510"/>
                    <a:pt x="113792" y="19558"/>
                  </a:cubicBezTo>
                  <a:cubicBezTo>
                    <a:pt x="116967" y="22606"/>
                    <a:pt x="119634" y="26035"/>
                    <a:pt x="122047" y="29718"/>
                  </a:cubicBezTo>
                  <a:cubicBezTo>
                    <a:pt x="124460" y="33401"/>
                    <a:pt x="126492" y="37211"/>
                    <a:pt x="128270" y="41275"/>
                  </a:cubicBezTo>
                  <a:cubicBezTo>
                    <a:pt x="130048" y="45339"/>
                    <a:pt x="131191" y="49530"/>
                    <a:pt x="132080" y="53721"/>
                  </a:cubicBezTo>
                  <a:cubicBezTo>
                    <a:pt x="132969" y="57912"/>
                    <a:pt x="133350" y="62357"/>
                    <a:pt x="133350" y="66675"/>
                  </a:cubicBezTo>
                  <a:close/>
                </a:path>
              </a:pathLst>
            </a:custGeom>
            <a:solidFill>
              <a:srgbClr val="000000"/>
            </a:solidFill>
          </p:spPr>
        </p:sp>
      </p:grpSp>
      <p:grpSp>
        <p:nvGrpSpPr>
          <p:cNvPr id="20" name="Group 20"/>
          <p:cNvGrpSpPr/>
          <p:nvPr/>
        </p:nvGrpSpPr>
        <p:grpSpPr>
          <a:xfrm>
            <a:off x="1787623" y="8927306"/>
            <a:ext cx="133350" cy="133350"/>
            <a:chOff x="0" y="0"/>
            <a:chExt cx="133350" cy="133350"/>
          </a:xfrm>
        </p:grpSpPr>
        <p:sp>
          <p:nvSpPr>
            <p:cNvPr id="21" name="Freeform 21"/>
            <p:cNvSpPr/>
            <p:nvPr/>
          </p:nvSpPr>
          <p:spPr>
            <a:xfrm>
              <a:off x="0" y="0"/>
              <a:ext cx="133350" cy="133350"/>
            </a:xfrm>
            <a:custGeom>
              <a:avLst/>
              <a:gdLst/>
              <a:ahLst/>
              <a:cxnLst/>
              <a:rect l="l" t="t" r="r" b="b"/>
              <a:pathLst>
                <a:path w="133350" h="133350">
                  <a:moveTo>
                    <a:pt x="133350" y="66675"/>
                  </a:moveTo>
                  <a:cubicBezTo>
                    <a:pt x="133350" y="70993"/>
                    <a:pt x="132969" y="75438"/>
                    <a:pt x="132080" y="79629"/>
                  </a:cubicBezTo>
                  <a:cubicBezTo>
                    <a:pt x="131191" y="83820"/>
                    <a:pt x="129921" y="88138"/>
                    <a:pt x="128270" y="92075"/>
                  </a:cubicBezTo>
                  <a:cubicBezTo>
                    <a:pt x="126619" y="96012"/>
                    <a:pt x="124587" y="99949"/>
                    <a:pt x="122047" y="103632"/>
                  </a:cubicBezTo>
                  <a:cubicBezTo>
                    <a:pt x="119507" y="107315"/>
                    <a:pt x="116840" y="110617"/>
                    <a:pt x="113792" y="113792"/>
                  </a:cubicBezTo>
                  <a:cubicBezTo>
                    <a:pt x="110744" y="116967"/>
                    <a:pt x="107315" y="119634"/>
                    <a:pt x="103632" y="122047"/>
                  </a:cubicBezTo>
                  <a:cubicBezTo>
                    <a:pt x="99949" y="124460"/>
                    <a:pt x="96139" y="126492"/>
                    <a:pt x="92075" y="128270"/>
                  </a:cubicBezTo>
                  <a:cubicBezTo>
                    <a:pt x="88011" y="130048"/>
                    <a:pt x="83820" y="131191"/>
                    <a:pt x="79629" y="132080"/>
                  </a:cubicBezTo>
                  <a:cubicBezTo>
                    <a:pt x="75438" y="132969"/>
                    <a:pt x="70993" y="133350"/>
                    <a:pt x="66675" y="133350"/>
                  </a:cubicBezTo>
                  <a:cubicBezTo>
                    <a:pt x="62357" y="133350"/>
                    <a:pt x="57912" y="132969"/>
                    <a:pt x="53721" y="132080"/>
                  </a:cubicBezTo>
                  <a:cubicBezTo>
                    <a:pt x="49530" y="131191"/>
                    <a:pt x="45212" y="129921"/>
                    <a:pt x="41275" y="128270"/>
                  </a:cubicBezTo>
                  <a:cubicBezTo>
                    <a:pt x="37338" y="126619"/>
                    <a:pt x="33401" y="124587"/>
                    <a:pt x="29718" y="122047"/>
                  </a:cubicBezTo>
                  <a:cubicBezTo>
                    <a:pt x="26035" y="119507"/>
                    <a:pt x="22733" y="116840"/>
                    <a:pt x="19558" y="113792"/>
                  </a:cubicBezTo>
                  <a:cubicBezTo>
                    <a:pt x="16383" y="110744"/>
                    <a:pt x="13716" y="107315"/>
                    <a:pt x="11303" y="103632"/>
                  </a:cubicBezTo>
                  <a:cubicBezTo>
                    <a:pt x="8890" y="99949"/>
                    <a:pt x="6731" y="96266"/>
                    <a:pt x="5080" y="92202"/>
                  </a:cubicBezTo>
                  <a:cubicBezTo>
                    <a:pt x="3429" y="88138"/>
                    <a:pt x="2159" y="83947"/>
                    <a:pt x="1270" y="79629"/>
                  </a:cubicBezTo>
                  <a:cubicBezTo>
                    <a:pt x="381" y="75311"/>
                    <a:pt x="0" y="70993"/>
                    <a:pt x="0" y="66675"/>
                  </a:cubicBezTo>
                  <a:cubicBezTo>
                    <a:pt x="0" y="62357"/>
                    <a:pt x="381" y="57912"/>
                    <a:pt x="1270" y="53721"/>
                  </a:cubicBezTo>
                  <a:cubicBezTo>
                    <a:pt x="2159" y="49530"/>
                    <a:pt x="3429" y="45212"/>
                    <a:pt x="5080" y="41275"/>
                  </a:cubicBezTo>
                  <a:cubicBezTo>
                    <a:pt x="6731" y="37338"/>
                    <a:pt x="8763" y="33401"/>
                    <a:pt x="11303" y="29718"/>
                  </a:cubicBezTo>
                  <a:cubicBezTo>
                    <a:pt x="13843" y="26035"/>
                    <a:pt x="16510" y="22733"/>
                    <a:pt x="19558" y="19558"/>
                  </a:cubicBezTo>
                  <a:cubicBezTo>
                    <a:pt x="22606" y="16383"/>
                    <a:pt x="26035" y="13716"/>
                    <a:pt x="29718" y="11303"/>
                  </a:cubicBezTo>
                  <a:cubicBezTo>
                    <a:pt x="33401" y="8890"/>
                    <a:pt x="37211" y="6858"/>
                    <a:pt x="41275" y="5080"/>
                  </a:cubicBezTo>
                  <a:cubicBezTo>
                    <a:pt x="45339" y="3302"/>
                    <a:pt x="49530" y="2159"/>
                    <a:pt x="53721" y="1270"/>
                  </a:cubicBezTo>
                  <a:cubicBezTo>
                    <a:pt x="57912" y="381"/>
                    <a:pt x="62357" y="0"/>
                    <a:pt x="66675" y="0"/>
                  </a:cubicBezTo>
                  <a:cubicBezTo>
                    <a:pt x="70993" y="0"/>
                    <a:pt x="75438" y="381"/>
                    <a:pt x="79629" y="1270"/>
                  </a:cubicBezTo>
                  <a:cubicBezTo>
                    <a:pt x="83820" y="2159"/>
                    <a:pt x="88138" y="3429"/>
                    <a:pt x="92075" y="5080"/>
                  </a:cubicBezTo>
                  <a:cubicBezTo>
                    <a:pt x="96012" y="6731"/>
                    <a:pt x="99949" y="8763"/>
                    <a:pt x="103632" y="11303"/>
                  </a:cubicBezTo>
                  <a:cubicBezTo>
                    <a:pt x="107315" y="13843"/>
                    <a:pt x="110617" y="16510"/>
                    <a:pt x="113792" y="19558"/>
                  </a:cubicBezTo>
                  <a:cubicBezTo>
                    <a:pt x="116967" y="22606"/>
                    <a:pt x="119634" y="26035"/>
                    <a:pt x="122047" y="29718"/>
                  </a:cubicBezTo>
                  <a:cubicBezTo>
                    <a:pt x="124460" y="33401"/>
                    <a:pt x="126492" y="37211"/>
                    <a:pt x="128270" y="41275"/>
                  </a:cubicBezTo>
                  <a:cubicBezTo>
                    <a:pt x="130048" y="45339"/>
                    <a:pt x="131191" y="49530"/>
                    <a:pt x="132080" y="53721"/>
                  </a:cubicBezTo>
                  <a:cubicBezTo>
                    <a:pt x="132969" y="57912"/>
                    <a:pt x="133350" y="62357"/>
                    <a:pt x="133350" y="66675"/>
                  </a:cubicBezTo>
                  <a:close/>
                </a:path>
              </a:pathLst>
            </a:custGeom>
            <a:solidFill>
              <a:srgbClr val="000000"/>
            </a:solidFill>
          </p:spPr>
        </p:sp>
      </p:grpSp>
      <p:sp>
        <p:nvSpPr>
          <p:cNvPr id="22" name="TextBox 22"/>
          <p:cNvSpPr txBox="1"/>
          <p:nvPr/>
        </p:nvSpPr>
        <p:spPr>
          <a:xfrm>
            <a:off x="914400" y="9629775"/>
            <a:ext cx="889197" cy="339090"/>
          </a:xfrm>
          <a:prstGeom prst="rect">
            <a:avLst/>
          </a:prstGeom>
        </p:spPr>
        <p:txBody>
          <a:bodyPr lIns="0" tIns="0" rIns="0" bIns="0" rtlCol="0" anchor="t">
            <a:spAutoFit/>
          </a:bodyPr>
          <a:lstStyle/>
          <a:p>
            <a:pPr algn="l">
              <a:lnSpc>
                <a:spcPts val="2520"/>
              </a:lnSpc>
            </a:pPr>
            <a:r>
              <a:rPr lang="en-US" sz="1800">
                <a:solidFill>
                  <a:srgbClr val="8B8B8B"/>
                </a:solidFill>
                <a:latin typeface="Calibri (MS)"/>
                <a:ea typeface="Calibri (MS)"/>
                <a:cs typeface="Calibri (MS)"/>
                <a:sym typeface="Calibri (MS)"/>
              </a:rPr>
              <a:t>9/6/2025</a:t>
            </a:r>
          </a:p>
        </p:txBody>
      </p:sp>
      <p:sp>
        <p:nvSpPr>
          <p:cNvPr id="23" name="TextBox 23"/>
          <p:cNvSpPr txBox="1"/>
          <p:nvPr/>
        </p:nvSpPr>
        <p:spPr>
          <a:xfrm>
            <a:off x="4337799" y="842715"/>
            <a:ext cx="9668437" cy="777345"/>
          </a:xfrm>
          <a:prstGeom prst="rect">
            <a:avLst/>
          </a:prstGeom>
        </p:spPr>
        <p:txBody>
          <a:bodyPr lIns="0" tIns="0" rIns="0" bIns="0" rtlCol="0" anchor="t">
            <a:spAutoFit/>
          </a:bodyPr>
          <a:lstStyle/>
          <a:p>
            <a:pPr algn="l">
              <a:lnSpc>
                <a:spcPts val="6299"/>
              </a:lnSpc>
            </a:pPr>
            <a:r>
              <a:rPr lang="en-US" sz="4500" b="1">
                <a:solidFill>
                  <a:srgbClr val="000000"/>
                </a:solidFill>
                <a:latin typeface="Times New Roman Bold"/>
                <a:ea typeface="Times New Roman Bold"/>
                <a:cs typeface="Times New Roman Bold"/>
                <a:sym typeface="Times New Roman Bold"/>
              </a:rPr>
              <a:t>DATASET &amp; API IDENTIFICATION</a:t>
            </a:r>
          </a:p>
        </p:txBody>
      </p:sp>
      <p:sp>
        <p:nvSpPr>
          <p:cNvPr id="24" name="TextBox 24"/>
          <p:cNvSpPr txBox="1"/>
          <p:nvPr/>
        </p:nvSpPr>
        <p:spPr>
          <a:xfrm>
            <a:off x="9083773" y="1622479"/>
            <a:ext cx="113328" cy="608762"/>
          </a:xfrm>
          <a:prstGeom prst="rect">
            <a:avLst/>
          </a:prstGeom>
        </p:spPr>
        <p:txBody>
          <a:bodyPr lIns="0" tIns="0" rIns="0" bIns="0" rtlCol="0" anchor="t">
            <a:spAutoFit/>
          </a:bodyPr>
          <a:lstStyle/>
          <a:p>
            <a:pPr algn="l">
              <a:lnSpc>
                <a:spcPts val="4899"/>
              </a:lnSpc>
            </a:pPr>
            <a:r>
              <a:rPr lang="en-US" sz="3499" b="1">
                <a:solidFill>
                  <a:srgbClr val="000000"/>
                </a:solidFill>
                <a:latin typeface="Times New Roman Bold"/>
                <a:ea typeface="Times New Roman Bold"/>
                <a:cs typeface="Times New Roman Bold"/>
                <a:sym typeface="Times New Roman Bold"/>
              </a:rPr>
              <a:t> </a:t>
            </a:r>
          </a:p>
        </p:txBody>
      </p:sp>
      <p:sp>
        <p:nvSpPr>
          <p:cNvPr id="25" name="TextBox 25"/>
          <p:cNvSpPr txBox="1"/>
          <p:nvPr/>
        </p:nvSpPr>
        <p:spPr>
          <a:xfrm>
            <a:off x="1358998" y="6574584"/>
            <a:ext cx="780650" cy="608762"/>
          </a:xfrm>
          <a:prstGeom prst="rect">
            <a:avLst/>
          </a:prstGeom>
        </p:spPr>
        <p:txBody>
          <a:bodyPr lIns="0" tIns="0" rIns="0" bIns="0" rtlCol="0" anchor="t">
            <a:spAutoFit/>
          </a:bodyPr>
          <a:lstStyle/>
          <a:p>
            <a:pPr algn="l">
              <a:lnSpc>
                <a:spcPts val="4899"/>
              </a:lnSpc>
            </a:pPr>
            <a:r>
              <a:rPr lang="en-US" sz="3499" b="1">
                <a:solidFill>
                  <a:srgbClr val="000000"/>
                </a:solidFill>
                <a:latin typeface="Times New Roman Bold"/>
                <a:ea typeface="Times New Roman Bold"/>
                <a:cs typeface="Times New Roman Bold"/>
                <a:sym typeface="Times New Roman Bold"/>
              </a:rPr>
              <a:t>API</a:t>
            </a:r>
          </a:p>
        </p:txBody>
      </p:sp>
      <p:sp>
        <p:nvSpPr>
          <p:cNvPr id="26" name="TextBox 26"/>
          <p:cNvSpPr txBox="1"/>
          <p:nvPr/>
        </p:nvSpPr>
        <p:spPr>
          <a:xfrm>
            <a:off x="1358998" y="2383584"/>
            <a:ext cx="1460144" cy="608762"/>
          </a:xfrm>
          <a:prstGeom prst="rect">
            <a:avLst/>
          </a:prstGeom>
        </p:spPr>
        <p:txBody>
          <a:bodyPr lIns="0" tIns="0" rIns="0" bIns="0" rtlCol="0" anchor="t">
            <a:spAutoFit/>
          </a:bodyPr>
          <a:lstStyle/>
          <a:p>
            <a:pPr algn="l">
              <a:lnSpc>
                <a:spcPts val="4899"/>
              </a:lnSpc>
            </a:pPr>
            <a:r>
              <a:rPr lang="en-US" sz="3499" b="1">
                <a:solidFill>
                  <a:srgbClr val="000000"/>
                </a:solidFill>
                <a:latin typeface="Times New Roman Bold"/>
                <a:ea typeface="Times New Roman Bold"/>
                <a:cs typeface="Times New Roman Bold"/>
                <a:sym typeface="Times New Roman Bold"/>
              </a:rPr>
              <a:t>Dataset</a:t>
            </a:r>
          </a:p>
        </p:txBody>
      </p:sp>
      <p:sp>
        <p:nvSpPr>
          <p:cNvPr id="27" name="TextBox 27"/>
          <p:cNvSpPr txBox="1"/>
          <p:nvPr/>
        </p:nvSpPr>
        <p:spPr>
          <a:xfrm>
            <a:off x="7306170" y="1622479"/>
            <a:ext cx="3613042" cy="608762"/>
          </a:xfrm>
          <a:prstGeom prst="rect">
            <a:avLst/>
          </a:prstGeom>
        </p:spPr>
        <p:txBody>
          <a:bodyPr lIns="0" tIns="0" rIns="0" bIns="0" rtlCol="0" anchor="t">
            <a:spAutoFit/>
          </a:bodyPr>
          <a:lstStyle/>
          <a:p>
            <a:pPr algn="l">
              <a:lnSpc>
                <a:spcPts val="4899"/>
              </a:lnSpc>
            </a:pPr>
            <a:r>
              <a:rPr lang="en-US" sz="3499" b="1">
                <a:solidFill>
                  <a:srgbClr val="000000"/>
                </a:solidFill>
                <a:latin typeface="Times New Roman Bold"/>
                <a:ea typeface="Times New Roman Bold"/>
                <a:cs typeface="Times New Roman Bold"/>
                <a:sym typeface="Times New Roman Bold"/>
              </a:rPr>
              <a:t>Required Features</a:t>
            </a:r>
          </a:p>
        </p:txBody>
      </p:sp>
      <p:sp>
        <p:nvSpPr>
          <p:cNvPr id="28" name="TextBox 28"/>
          <p:cNvSpPr txBox="1"/>
          <p:nvPr/>
        </p:nvSpPr>
        <p:spPr>
          <a:xfrm>
            <a:off x="2790577" y="2374259"/>
            <a:ext cx="125949" cy="608762"/>
          </a:xfrm>
          <a:prstGeom prst="rect">
            <a:avLst/>
          </a:prstGeom>
        </p:spPr>
        <p:txBody>
          <a:bodyPr lIns="0" tIns="0" rIns="0" bIns="0" rtlCol="0" anchor="t">
            <a:spAutoFit/>
          </a:bodyPr>
          <a:lstStyle/>
          <a:p>
            <a:pPr algn="l">
              <a:lnSpc>
                <a:spcPts val="4899"/>
              </a:lnSpc>
            </a:pPr>
            <a:r>
              <a:rPr lang="en-US" sz="3499">
                <a:solidFill>
                  <a:srgbClr val="000000"/>
                </a:solidFill>
                <a:latin typeface="Times New Roman"/>
                <a:ea typeface="Times New Roman"/>
                <a:cs typeface="Times New Roman"/>
                <a:sym typeface="Times New Roman"/>
              </a:rPr>
              <a:t>:</a:t>
            </a:r>
          </a:p>
        </p:txBody>
      </p:sp>
      <p:sp>
        <p:nvSpPr>
          <p:cNvPr id="29" name="TextBox 29"/>
          <p:cNvSpPr txBox="1"/>
          <p:nvPr/>
        </p:nvSpPr>
        <p:spPr>
          <a:xfrm>
            <a:off x="2114455" y="3488684"/>
            <a:ext cx="15722136" cy="2637587"/>
          </a:xfrm>
          <a:prstGeom prst="rect">
            <a:avLst/>
          </a:prstGeom>
        </p:spPr>
        <p:txBody>
          <a:bodyPr lIns="0" tIns="0" rIns="0" bIns="0" rtlCol="0" anchor="t">
            <a:spAutoFit/>
          </a:bodyPr>
          <a:lstStyle/>
          <a:p>
            <a:pPr algn="l">
              <a:lnSpc>
                <a:spcPts val="4125"/>
              </a:lnSpc>
            </a:pPr>
            <a:r>
              <a:rPr lang="en-US" sz="3499">
                <a:solidFill>
                  <a:srgbClr val="000000"/>
                </a:solidFill>
                <a:latin typeface="Times New Roman"/>
                <a:ea typeface="Times New Roman"/>
                <a:cs typeface="Times New Roman"/>
                <a:sym typeface="Times New Roman"/>
              </a:rPr>
              <a:t>Loan/Credit application dataset is used.</a:t>
            </a:r>
          </a:p>
          <a:p>
            <a:pPr algn="l">
              <a:lnSpc>
                <a:spcPts val="4125"/>
              </a:lnSpc>
            </a:pPr>
            <a:r>
              <a:rPr lang="en-US" sz="3499">
                <a:solidFill>
                  <a:srgbClr val="000000"/>
                </a:solidFill>
                <a:latin typeface="Times New Roman"/>
                <a:ea typeface="Times New Roman"/>
                <a:cs typeface="Times New Roman"/>
                <a:sym typeface="Times New Roman"/>
              </a:rPr>
              <a:t>Contains applicant details such as income, age, credit score, loan amount, employment status, debt, and repayment history.</a:t>
            </a:r>
          </a:p>
          <a:p>
            <a:pPr algn="l">
              <a:lnSpc>
                <a:spcPts val="4125"/>
              </a:lnSpc>
            </a:pPr>
            <a:r>
              <a:rPr lang="en-US" sz="3499">
                <a:solidFill>
                  <a:srgbClr val="000000"/>
                </a:solidFill>
                <a:latin typeface="Times New Roman"/>
                <a:ea typeface="Times New Roman"/>
                <a:cs typeface="Times New Roman"/>
                <a:sym typeface="Times New Roman"/>
              </a:rPr>
              <a:t>Used to create and test FQL-based eligibility rules.</a:t>
            </a:r>
          </a:p>
          <a:p>
            <a:pPr algn="l">
              <a:lnSpc>
                <a:spcPts val="4125"/>
              </a:lnSpc>
            </a:pPr>
            <a:r>
              <a:rPr lang="en-US" sz="3499">
                <a:solidFill>
                  <a:srgbClr val="000000"/>
                </a:solidFill>
                <a:latin typeface="Times New Roman"/>
                <a:ea typeface="Times New Roman"/>
                <a:cs typeface="Times New Roman"/>
                <a:sym typeface="Times New Roman"/>
              </a:rPr>
              <a:t>Dataset can be obtained from Kaggle or other public financial datasets.</a:t>
            </a:r>
          </a:p>
        </p:txBody>
      </p:sp>
      <p:sp>
        <p:nvSpPr>
          <p:cNvPr id="30" name="TextBox 30"/>
          <p:cNvSpPr txBox="1"/>
          <p:nvPr/>
        </p:nvSpPr>
        <p:spPr>
          <a:xfrm>
            <a:off x="9513970" y="5928036"/>
            <a:ext cx="113328" cy="608762"/>
          </a:xfrm>
          <a:prstGeom prst="rect">
            <a:avLst/>
          </a:prstGeom>
        </p:spPr>
        <p:txBody>
          <a:bodyPr lIns="0" tIns="0" rIns="0" bIns="0" rtlCol="0" anchor="t">
            <a:spAutoFit/>
          </a:bodyPr>
          <a:lstStyle/>
          <a:p>
            <a:pPr algn="l">
              <a:lnSpc>
                <a:spcPts val="4899"/>
              </a:lnSpc>
            </a:pPr>
            <a:r>
              <a:rPr lang="en-US" sz="3499">
                <a:solidFill>
                  <a:srgbClr val="000000"/>
                </a:solidFill>
                <a:latin typeface="Times New Roman"/>
                <a:ea typeface="Times New Roman"/>
                <a:cs typeface="Times New Roman"/>
                <a:sym typeface="Times New Roman"/>
              </a:rPr>
              <a:t> </a:t>
            </a:r>
          </a:p>
        </p:txBody>
      </p:sp>
      <p:sp>
        <p:nvSpPr>
          <p:cNvPr id="31" name="TextBox 31"/>
          <p:cNvSpPr txBox="1"/>
          <p:nvPr/>
        </p:nvSpPr>
        <p:spPr>
          <a:xfrm>
            <a:off x="2124418" y="6565259"/>
            <a:ext cx="125949" cy="608762"/>
          </a:xfrm>
          <a:prstGeom prst="rect">
            <a:avLst/>
          </a:prstGeom>
        </p:spPr>
        <p:txBody>
          <a:bodyPr lIns="0" tIns="0" rIns="0" bIns="0" rtlCol="0" anchor="t">
            <a:spAutoFit/>
          </a:bodyPr>
          <a:lstStyle/>
          <a:p>
            <a:pPr algn="l">
              <a:lnSpc>
                <a:spcPts val="4899"/>
              </a:lnSpc>
            </a:pPr>
            <a:r>
              <a:rPr lang="en-US" sz="3499">
                <a:solidFill>
                  <a:srgbClr val="000000"/>
                </a:solidFill>
                <a:latin typeface="Times New Roman"/>
                <a:ea typeface="Times New Roman"/>
                <a:cs typeface="Times New Roman"/>
                <a:sym typeface="Times New Roman"/>
              </a:rPr>
              <a:t>:</a:t>
            </a:r>
          </a:p>
        </p:txBody>
      </p:sp>
      <p:sp>
        <p:nvSpPr>
          <p:cNvPr id="32" name="TextBox 32"/>
          <p:cNvSpPr txBox="1"/>
          <p:nvPr/>
        </p:nvSpPr>
        <p:spPr>
          <a:xfrm>
            <a:off x="2114455" y="7155809"/>
            <a:ext cx="14325086" cy="2113712"/>
          </a:xfrm>
          <a:prstGeom prst="rect">
            <a:avLst/>
          </a:prstGeom>
        </p:spPr>
        <p:txBody>
          <a:bodyPr lIns="0" tIns="0" rIns="0" bIns="0" rtlCol="0" anchor="t">
            <a:spAutoFit/>
          </a:bodyPr>
          <a:lstStyle/>
          <a:p>
            <a:pPr algn="l">
              <a:lnSpc>
                <a:spcPts val="4125"/>
              </a:lnSpc>
            </a:pPr>
            <a:r>
              <a:rPr lang="en-US" sz="3499">
                <a:solidFill>
                  <a:srgbClr val="000000"/>
                </a:solidFill>
                <a:latin typeface="Times New Roman"/>
                <a:ea typeface="Times New Roman"/>
                <a:cs typeface="Times New Roman"/>
                <a:sym typeface="Times New Roman"/>
              </a:rPr>
              <a:t>A Loan Application API provides live applicant data.</a:t>
            </a:r>
          </a:p>
          <a:p>
            <a:pPr algn="l">
              <a:lnSpc>
                <a:spcPts val="4125"/>
              </a:lnSpc>
            </a:pPr>
            <a:r>
              <a:rPr lang="en-US" sz="3499">
                <a:solidFill>
                  <a:srgbClr val="000000"/>
                </a:solidFill>
                <a:latin typeface="Times New Roman"/>
                <a:ea typeface="Times New Roman"/>
                <a:cs typeface="Times New Roman"/>
                <a:sym typeface="Times New Roman"/>
              </a:rPr>
              <a:t>API sends income, credit score, loan amount, and debt to the reasoning engine. FQL rules process the received data.</a:t>
            </a:r>
          </a:p>
          <a:p>
            <a:pPr algn="l">
              <a:lnSpc>
                <a:spcPts val="4125"/>
              </a:lnSpc>
            </a:pPr>
            <a:r>
              <a:rPr lang="en-US" sz="3499">
                <a:solidFill>
                  <a:srgbClr val="000000"/>
                </a:solidFill>
                <a:latin typeface="Times New Roman"/>
                <a:ea typeface="Times New Roman"/>
                <a:cs typeface="Times New Roman"/>
                <a:sym typeface="Times New Roman"/>
              </a:rPr>
              <a:t>The system returns the final loan eligibility status and reasoning.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47775" y="321469"/>
            <a:ext cx="1598295" cy="1585912"/>
            <a:chOff x="0" y="0"/>
            <a:chExt cx="2131060" cy="2114550"/>
          </a:xfrm>
        </p:grpSpPr>
        <p:sp>
          <p:nvSpPr>
            <p:cNvPr id="3" name="Freeform 3"/>
            <p:cNvSpPr/>
            <p:nvPr/>
          </p:nvSpPr>
          <p:spPr>
            <a:xfrm>
              <a:off x="0" y="0"/>
              <a:ext cx="2131060" cy="2114550"/>
            </a:xfrm>
            <a:custGeom>
              <a:avLst/>
              <a:gdLst/>
              <a:ahLst/>
              <a:cxnLst/>
              <a:rect l="l" t="t" r="r" b="b"/>
              <a:pathLst>
                <a:path w="2131060" h="2114550">
                  <a:moveTo>
                    <a:pt x="0" y="0"/>
                  </a:moveTo>
                  <a:lnTo>
                    <a:pt x="2131060" y="0"/>
                  </a:lnTo>
                  <a:lnTo>
                    <a:pt x="2131060" y="2114550"/>
                  </a:lnTo>
                  <a:lnTo>
                    <a:pt x="0" y="2114550"/>
                  </a:lnTo>
                  <a:lnTo>
                    <a:pt x="0" y="0"/>
                  </a:lnTo>
                  <a:close/>
                </a:path>
              </a:pathLst>
            </a:custGeom>
            <a:blipFill>
              <a:blip r:embed="rId2"/>
              <a:stretch>
                <a:fillRect/>
              </a:stretch>
            </a:blipFill>
          </p:spPr>
        </p:sp>
      </p:grpSp>
      <p:grpSp>
        <p:nvGrpSpPr>
          <p:cNvPr id="4" name="Group 4"/>
          <p:cNvGrpSpPr/>
          <p:nvPr/>
        </p:nvGrpSpPr>
        <p:grpSpPr>
          <a:xfrm>
            <a:off x="15085219" y="500062"/>
            <a:ext cx="1826990" cy="1771650"/>
            <a:chOff x="0" y="0"/>
            <a:chExt cx="2435987" cy="2362200"/>
          </a:xfrm>
        </p:grpSpPr>
        <p:sp>
          <p:nvSpPr>
            <p:cNvPr id="5" name="Freeform 5" descr="KRCE Tiruchirappalli : Admission 2024, Courses, Fees, Placement, Cut Off"/>
            <p:cNvSpPr/>
            <p:nvPr/>
          </p:nvSpPr>
          <p:spPr>
            <a:xfrm>
              <a:off x="0" y="0"/>
              <a:ext cx="2435987" cy="2362200"/>
            </a:xfrm>
            <a:custGeom>
              <a:avLst/>
              <a:gdLst/>
              <a:ahLst/>
              <a:cxnLst/>
              <a:rect l="l" t="t" r="r" b="b"/>
              <a:pathLst>
                <a:path w="2435987" h="2362200">
                  <a:moveTo>
                    <a:pt x="0" y="0"/>
                  </a:moveTo>
                  <a:lnTo>
                    <a:pt x="2435987" y="0"/>
                  </a:lnTo>
                  <a:lnTo>
                    <a:pt x="2435987" y="2362200"/>
                  </a:lnTo>
                  <a:lnTo>
                    <a:pt x="0" y="2362200"/>
                  </a:lnTo>
                  <a:lnTo>
                    <a:pt x="0" y="0"/>
                  </a:lnTo>
                  <a:close/>
                </a:path>
              </a:pathLst>
            </a:custGeom>
            <a:blipFill>
              <a:blip r:embed="rId3"/>
              <a:stretch>
                <a:fillRect r="-1"/>
              </a:stretch>
            </a:blipFill>
          </p:spPr>
        </p:sp>
      </p:grpSp>
      <p:sp>
        <p:nvSpPr>
          <p:cNvPr id="6" name="TextBox 6"/>
          <p:cNvSpPr txBox="1"/>
          <p:nvPr/>
        </p:nvSpPr>
        <p:spPr>
          <a:xfrm>
            <a:off x="914400" y="9629775"/>
            <a:ext cx="889197" cy="339090"/>
          </a:xfrm>
          <a:prstGeom prst="rect">
            <a:avLst/>
          </a:prstGeom>
        </p:spPr>
        <p:txBody>
          <a:bodyPr lIns="0" tIns="0" rIns="0" bIns="0" rtlCol="0" anchor="t">
            <a:spAutoFit/>
          </a:bodyPr>
          <a:lstStyle/>
          <a:p>
            <a:pPr algn="l">
              <a:lnSpc>
                <a:spcPts val="2520"/>
              </a:lnSpc>
            </a:pPr>
            <a:r>
              <a:rPr lang="en-US" sz="1800">
                <a:solidFill>
                  <a:srgbClr val="8B8B8B"/>
                </a:solidFill>
                <a:latin typeface="Calibri (MS)"/>
                <a:ea typeface="Calibri (MS)"/>
                <a:cs typeface="Calibri (MS)"/>
                <a:sym typeface="Calibri (MS)"/>
              </a:rPr>
              <a:t>9/6/2025</a:t>
            </a:r>
          </a:p>
        </p:txBody>
      </p:sp>
      <p:sp>
        <p:nvSpPr>
          <p:cNvPr id="7" name="TextBox 7"/>
          <p:cNvSpPr txBox="1"/>
          <p:nvPr/>
        </p:nvSpPr>
        <p:spPr>
          <a:xfrm>
            <a:off x="762000" y="2568575"/>
            <a:ext cx="14528404" cy="6870727"/>
          </a:xfrm>
          <a:prstGeom prst="rect">
            <a:avLst/>
          </a:prstGeom>
        </p:spPr>
        <p:txBody>
          <a:bodyPr wrap="square" lIns="0" tIns="0" rIns="0" bIns="0" rtlCol="0" anchor="t">
            <a:spAutoFit/>
          </a:bodyPr>
          <a:lstStyle/>
          <a:p>
            <a:pPr algn="l">
              <a:lnSpc>
                <a:spcPts val="4900"/>
              </a:lnSpc>
              <a:spcBef>
                <a:spcPct val="0"/>
              </a:spcBef>
            </a:pPr>
            <a:r>
              <a:rPr lang="en-US" sz="3500" dirty="0">
                <a:solidFill>
                  <a:srgbClr val="000000"/>
                </a:solidFill>
                <a:latin typeface="Times New Roman" panose="02020603050405020304" pitchFamily="18" charset="0"/>
                <a:ea typeface="Calibri (MS)"/>
                <a:cs typeface="Times New Roman" panose="02020603050405020304" pitchFamily="18" charset="0"/>
                <a:sym typeface="Calibri (MS)"/>
              </a:rPr>
              <a:t>1.</a:t>
            </a:r>
            <a:r>
              <a:rPr lang="en-US" sz="3500" dirty="0">
                <a:solidFill>
                  <a:srgbClr val="000000"/>
                </a:solidFill>
                <a:latin typeface="Calibri (MS)"/>
                <a:ea typeface="Calibri (MS)"/>
                <a:cs typeface="Calibri (MS)"/>
                <a:sym typeface="Calibri (MS)"/>
              </a:rPr>
              <a:t> </a:t>
            </a:r>
            <a:r>
              <a:rPr lang="en-US" sz="3500" dirty="0">
                <a:solidFill>
                  <a:srgbClr val="000000"/>
                </a:solidFill>
                <a:latin typeface="Times New Roman" panose="02020603050405020304" pitchFamily="18" charset="0"/>
                <a:ea typeface="Calibri (MS)"/>
                <a:cs typeface="Times New Roman" panose="02020603050405020304" pitchFamily="18" charset="0"/>
                <a:sym typeface="Calibri (MS)"/>
              </a:rPr>
              <a:t>User/Application Data Module</a:t>
            </a:r>
          </a:p>
          <a:p>
            <a:pPr algn="l">
              <a:lnSpc>
                <a:spcPts val="4900"/>
              </a:lnSpc>
              <a:spcBef>
                <a:spcPct val="0"/>
              </a:spcBef>
            </a:pPr>
            <a:r>
              <a:rPr lang="en-US" sz="3500" dirty="0">
                <a:solidFill>
                  <a:srgbClr val="000000"/>
                </a:solidFill>
                <a:latin typeface="Times New Roman" panose="02020603050405020304" pitchFamily="18" charset="0"/>
                <a:ea typeface="Calibri (MS)"/>
                <a:cs typeface="Times New Roman" panose="02020603050405020304" pitchFamily="18" charset="0"/>
                <a:sym typeface="Calibri (MS)"/>
              </a:rPr>
              <a:t>      Collects applicant details such as income, age, employment, expenses, and </a:t>
            </a:r>
          </a:p>
          <a:p>
            <a:pPr algn="l">
              <a:lnSpc>
                <a:spcPts val="4900"/>
              </a:lnSpc>
              <a:spcBef>
                <a:spcPct val="0"/>
              </a:spcBef>
            </a:pPr>
            <a:r>
              <a:rPr lang="en-US" sz="3500" dirty="0">
                <a:solidFill>
                  <a:srgbClr val="000000"/>
                </a:solidFill>
                <a:latin typeface="Times New Roman" panose="02020603050405020304" pitchFamily="18" charset="0"/>
                <a:ea typeface="Calibri (MS)"/>
                <a:cs typeface="Times New Roman" panose="02020603050405020304" pitchFamily="18" charset="0"/>
                <a:sym typeface="Calibri (MS)"/>
              </a:rPr>
              <a:t>      loan requirements.</a:t>
            </a:r>
          </a:p>
          <a:p>
            <a:pPr algn="l">
              <a:lnSpc>
                <a:spcPts val="4900"/>
              </a:lnSpc>
              <a:spcBef>
                <a:spcPct val="0"/>
              </a:spcBef>
            </a:pPr>
            <a:r>
              <a:rPr lang="en-US" sz="3500" dirty="0">
                <a:solidFill>
                  <a:srgbClr val="000000"/>
                </a:solidFill>
                <a:latin typeface="Times New Roman" panose="02020603050405020304" pitchFamily="18" charset="0"/>
                <a:ea typeface="Calibri (MS)"/>
                <a:cs typeface="Times New Roman" panose="02020603050405020304" pitchFamily="18" charset="0"/>
                <a:sym typeface="Calibri (MS)"/>
              </a:rPr>
              <a:t>2. Financial Data Analysis Module</a:t>
            </a:r>
          </a:p>
          <a:p>
            <a:pPr algn="l">
              <a:lnSpc>
                <a:spcPts val="4900"/>
              </a:lnSpc>
              <a:spcBef>
                <a:spcPct val="0"/>
              </a:spcBef>
            </a:pPr>
            <a:r>
              <a:rPr lang="en-US" sz="3500" dirty="0">
                <a:solidFill>
                  <a:srgbClr val="000000"/>
                </a:solidFill>
                <a:latin typeface="Times New Roman" panose="02020603050405020304" pitchFamily="18" charset="0"/>
                <a:ea typeface="Calibri (MS)"/>
                <a:cs typeface="Times New Roman" panose="02020603050405020304" pitchFamily="18" charset="0"/>
                <a:sym typeface="Calibri (MS)"/>
              </a:rPr>
              <a:t>     Analyzes income, existing EMI, expenses, debt level, and</a:t>
            </a:r>
          </a:p>
          <a:p>
            <a:pPr algn="l">
              <a:lnSpc>
                <a:spcPts val="4900"/>
              </a:lnSpc>
              <a:spcBef>
                <a:spcPct val="0"/>
              </a:spcBef>
            </a:pPr>
            <a:r>
              <a:rPr lang="en-US" sz="3500" dirty="0">
                <a:solidFill>
                  <a:srgbClr val="000000"/>
                </a:solidFill>
                <a:latin typeface="Times New Roman" panose="02020603050405020304" pitchFamily="18" charset="0"/>
                <a:ea typeface="Calibri (MS)"/>
                <a:cs typeface="Times New Roman" panose="02020603050405020304" pitchFamily="18" charset="0"/>
                <a:sym typeface="Calibri (MS)"/>
              </a:rPr>
              <a:t>      repayment capacity.</a:t>
            </a:r>
          </a:p>
          <a:p>
            <a:pPr algn="l">
              <a:lnSpc>
                <a:spcPts val="4900"/>
              </a:lnSpc>
              <a:spcBef>
                <a:spcPct val="0"/>
              </a:spcBef>
            </a:pPr>
            <a:r>
              <a:rPr lang="en-US" sz="3500" dirty="0">
                <a:solidFill>
                  <a:srgbClr val="000000"/>
                </a:solidFill>
                <a:latin typeface="Times New Roman" panose="02020603050405020304" pitchFamily="18" charset="0"/>
                <a:ea typeface="Calibri (MS)"/>
                <a:cs typeface="Times New Roman" panose="02020603050405020304" pitchFamily="18" charset="0"/>
                <a:sym typeface="Calibri (MS)"/>
              </a:rPr>
              <a:t>3. Credit Score Evaluation Module</a:t>
            </a:r>
          </a:p>
          <a:p>
            <a:pPr algn="l">
              <a:lnSpc>
                <a:spcPts val="4900"/>
              </a:lnSpc>
              <a:spcBef>
                <a:spcPct val="0"/>
              </a:spcBef>
            </a:pPr>
            <a:r>
              <a:rPr lang="en-US" sz="3500" dirty="0">
                <a:solidFill>
                  <a:srgbClr val="000000"/>
                </a:solidFill>
                <a:latin typeface="Times New Roman" panose="02020603050405020304" pitchFamily="18" charset="0"/>
                <a:ea typeface="Calibri (MS)"/>
                <a:cs typeface="Times New Roman" panose="02020603050405020304" pitchFamily="18" charset="0"/>
                <a:sym typeface="Calibri (MS)"/>
              </a:rPr>
              <a:t>     Evaluates the applicant’s credit score and credit history.</a:t>
            </a:r>
          </a:p>
          <a:p>
            <a:pPr algn="l">
              <a:lnSpc>
                <a:spcPts val="4900"/>
              </a:lnSpc>
              <a:spcBef>
                <a:spcPct val="0"/>
              </a:spcBef>
            </a:pPr>
            <a:r>
              <a:rPr lang="en-US" sz="3500" dirty="0">
                <a:solidFill>
                  <a:srgbClr val="000000"/>
                </a:solidFill>
                <a:latin typeface="Times New Roman" panose="02020603050405020304" pitchFamily="18" charset="0"/>
                <a:ea typeface="Calibri (MS)"/>
                <a:cs typeface="Times New Roman" panose="02020603050405020304" pitchFamily="18" charset="0"/>
                <a:sym typeface="Calibri (MS)"/>
              </a:rPr>
              <a:t>4. FQL Rule Inference Module</a:t>
            </a:r>
          </a:p>
          <a:p>
            <a:pPr algn="l">
              <a:lnSpc>
                <a:spcPts val="4900"/>
              </a:lnSpc>
              <a:spcBef>
                <a:spcPct val="0"/>
              </a:spcBef>
            </a:pPr>
            <a:r>
              <a:rPr lang="en-US" sz="3500" dirty="0">
                <a:solidFill>
                  <a:srgbClr val="000000"/>
                </a:solidFill>
                <a:latin typeface="Times New Roman" panose="02020603050405020304" pitchFamily="18" charset="0"/>
                <a:ea typeface="Calibri (MS)"/>
                <a:cs typeface="Times New Roman" panose="02020603050405020304" pitchFamily="18" charset="0"/>
                <a:sym typeface="Calibri (MS)"/>
              </a:rPr>
              <a:t>     Applies FQL-based rules to analyze the collected financial data and generate</a:t>
            </a:r>
          </a:p>
          <a:p>
            <a:pPr algn="l">
              <a:lnSpc>
                <a:spcPts val="4900"/>
              </a:lnSpc>
              <a:spcBef>
                <a:spcPct val="0"/>
              </a:spcBef>
            </a:pPr>
            <a:r>
              <a:rPr lang="en-US" sz="3500" dirty="0">
                <a:solidFill>
                  <a:srgbClr val="000000"/>
                </a:solidFill>
                <a:latin typeface="Times New Roman" panose="02020603050405020304" pitchFamily="18" charset="0"/>
                <a:ea typeface="Calibri (MS)"/>
                <a:cs typeface="Times New Roman" panose="02020603050405020304" pitchFamily="18" charset="0"/>
                <a:sym typeface="Calibri (MS)"/>
              </a:rPr>
              <a:t>     eligibility results</a:t>
            </a:r>
            <a:r>
              <a:rPr lang="en-US" sz="3500" dirty="0">
                <a:solidFill>
                  <a:srgbClr val="000000"/>
                </a:solidFill>
                <a:latin typeface="Calibri (MS)"/>
                <a:ea typeface="Calibri (MS)"/>
                <a:cs typeface="Calibri (MS)"/>
                <a:sym typeface="Calibri (MS)"/>
              </a:rPr>
              <a:t>.</a:t>
            </a:r>
          </a:p>
        </p:txBody>
      </p:sp>
      <p:sp>
        <p:nvSpPr>
          <p:cNvPr id="8" name="TextBox 8"/>
          <p:cNvSpPr txBox="1"/>
          <p:nvPr/>
        </p:nvSpPr>
        <p:spPr>
          <a:xfrm>
            <a:off x="6378178" y="818197"/>
            <a:ext cx="4518422" cy="658835"/>
          </a:xfrm>
          <a:prstGeom prst="rect">
            <a:avLst/>
          </a:prstGeom>
        </p:spPr>
        <p:txBody>
          <a:bodyPr wrap="square" lIns="0" tIns="0" rIns="0" bIns="0" rtlCol="0" anchor="t">
            <a:spAutoFit/>
          </a:bodyPr>
          <a:lstStyle/>
          <a:p>
            <a:pPr algn="ctr">
              <a:lnSpc>
                <a:spcPts val="5599"/>
              </a:lnSpc>
              <a:spcBef>
                <a:spcPct val="0"/>
              </a:spcBef>
            </a:pPr>
            <a:r>
              <a:rPr lang="en-US" sz="3999" b="1" dirty="0">
                <a:solidFill>
                  <a:srgbClr val="000000"/>
                </a:solidFill>
                <a:latin typeface="Times New Roman" panose="02020603050405020304" pitchFamily="18" charset="0"/>
                <a:ea typeface="Calibri (MS)"/>
                <a:cs typeface="Times New Roman" panose="02020603050405020304" pitchFamily="18" charset="0"/>
                <a:sym typeface="Calibri (MS)"/>
              </a:rPr>
              <a:t>MODULES  USED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2568575"/>
            <a:ext cx="15507257" cy="6245226"/>
          </a:xfrm>
          <a:prstGeom prst="rect">
            <a:avLst/>
          </a:prstGeom>
        </p:spPr>
        <p:txBody>
          <a:bodyPr lIns="0" tIns="0" rIns="0" bIns="0" rtlCol="0" anchor="t">
            <a:spAutoFit/>
          </a:bodyPr>
          <a:lstStyle/>
          <a:p>
            <a:pPr algn="l">
              <a:lnSpc>
                <a:spcPts val="4900"/>
              </a:lnSpc>
              <a:spcBef>
                <a:spcPct val="0"/>
              </a:spcBef>
            </a:pPr>
            <a:r>
              <a:rPr lang="en-US" sz="3500" dirty="0">
                <a:solidFill>
                  <a:srgbClr val="000000"/>
                </a:solidFill>
                <a:latin typeface="Times New Roman" panose="02020603050405020304" pitchFamily="18" charset="0"/>
                <a:ea typeface="Calibri (MS)"/>
                <a:cs typeface="Times New Roman" panose="02020603050405020304" pitchFamily="18" charset="0"/>
                <a:sym typeface="Calibri (MS)"/>
              </a:rPr>
              <a:t>5.</a:t>
            </a:r>
            <a:r>
              <a:rPr lang="en-US" sz="3500" dirty="0">
                <a:solidFill>
                  <a:srgbClr val="000000"/>
                </a:solidFill>
                <a:latin typeface="Calibri (MS)"/>
                <a:ea typeface="Calibri (MS)"/>
                <a:cs typeface="Calibri (MS)"/>
                <a:sym typeface="Calibri (MS)"/>
              </a:rPr>
              <a:t> </a:t>
            </a:r>
            <a:r>
              <a:rPr lang="en-US" sz="3500" dirty="0">
                <a:solidFill>
                  <a:srgbClr val="000000"/>
                </a:solidFill>
                <a:latin typeface="Times New Roman" panose="02020603050405020304" pitchFamily="18" charset="0"/>
                <a:ea typeface="Calibri (MS)"/>
                <a:cs typeface="Times New Roman" panose="02020603050405020304" pitchFamily="18" charset="0"/>
                <a:sym typeface="Calibri (MS)"/>
              </a:rPr>
              <a:t>Risk Assessment Module</a:t>
            </a:r>
          </a:p>
          <a:p>
            <a:pPr algn="l">
              <a:lnSpc>
                <a:spcPts val="4900"/>
              </a:lnSpc>
              <a:spcBef>
                <a:spcPct val="0"/>
              </a:spcBef>
            </a:pPr>
            <a:r>
              <a:rPr lang="en-US" sz="3500" dirty="0">
                <a:solidFill>
                  <a:srgbClr val="000000"/>
                </a:solidFill>
                <a:latin typeface="Times New Roman" panose="02020603050405020304" pitchFamily="18" charset="0"/>
                <a:ea typeface="Calibri (MS)"/>
                <a:cs typeface="Times New Roman" panose="02020603050405020304" pitchFamily="18" charset="0"/>
                <a:sym typeface="Calibri (MS)"/>
              </a:rPr>
              <a:t>     Classifies the applicant into Low, Medium, or High Risk categories.</a:t>
            </a:r>
          </a:p>
          <a:p>
            <a:pPr algn="l">
              <a:lnSpc>
                <a:spcPts val="4900"/>
              </a:lnSpc>
              <a:spcBef>
                <a:spcPct val="0"/>
              </a:spcBef>
            </a:pPr>
            <a:r>
              <a:rPr lang="en-US" sz="3500" dirty="0">
                <a:solidFill>
                  <a:srgbClr val="000000"/>
                </a:solidFill>
                <a:latin typeface="Times New Roman" panose="02020603050405020304" pitchFamily="18" charset="0"/>
                <a:ea typeface="Calibri (MS)"/>
                <a:cs typeface="Times New Roman" panose="02020603050405020304" pitchFamily="18" charset="0"/>
                <a:sym typeface="Calibri (MS)"/>
              </a:rPr>
              <a:t>6. Future Stability Prediction Module</a:t>
            </a:r>
          </a:p>
          <a:p>
            <a:pPr algn="l">
              <a:lnSpc>
                <a:spcPts val="4900"/>
              </a:lnSpc>
              <a:spcBef>
                <a:spcPct val="0"/>
              </a:spcBef>
            </a:pPr>
            <a:r>
              <a:rPr lang="en-US" sz="3500" dirty="0">
                <a:solidFill>
                  <a:srgbClr val="000000"/>
                </a:solidFill>
                <a:latin typeface="Times New Roman" panose="02020603050405020304" pitchFamily="18" charset="0"/>
                <a:ea typeface="Calibri (MS)"/>
                <a:cs typeface="Times New Roman" panose="02020603050405020304" pitchFamily="18" charset="0"/>
                <a:sym typeface="Calibri (MS)"/>
              </a:rPr>
              <a:t>     Evaluates possible future income changes and estimates future repayment stability.</a:t>
            </a:r>
          </a:p>
          <a:p>
            <a:pPr algn="l">
              <a:lnSpc>
                <a:spcPts val="4900"/>
              </a:lnSpc>
              <a:spcBef>
                <a:spcPct val="0"/>
              </a:spcBef>
            </a:pPr>
            <a:r>
              <a:rPr lang="en-US" sz="3500" dirty="0">
                <a:solidFill>
                  <a:srgbClr val="000000"/>
                </a:solidFill>
                <a:latin typeface="Times New Roman" panose="02020603050405020304" pitchFamily="18" charset="0"/>
                <a:ea typeface="Calibri (MS)"/>
                <a:cs typeface="Times New Roman" panose="02020603050405020304" pitchFamily="18" charset="0"/>
                <a:sym typeface="Calibri (MS)"/>
              </a:rPr>
              <a:t>7. Eligibility Decision Module</a:t>
            </a:r>
          </a:p>
          <a:p>
            <a:pPr algn="l">
              <a:lnSpc>
                <a:spcPts val="4900"/>
              </a:lnSpc>
              <a:spcBef>
                <a:spcPct val="0"/>
              </a:spcBef>
            </a:pPr>
            <a:r>
              <a:rPr lang="en-US" sz="3500" dirty="0">
                <a:solidFill>
                  <a:srgbClr val="000000"/>
                </a:solidFill>
                <a:latin typeface="Times New Roman" panose="02020603050405020304" pitchFamily="18" charset="0"/>
                <a:ea typeface="Calibri (MS)"/>
                <a:cs typeface="Times New Roman" panose="02020603050405020304" pitchFamily="18" charset="0"/>
                <a:sym typeface="Calibri (MS)"/>
              </a:rPr>
              <a:t>    Generates the final Eligible, Not Eligible, or Further Review decision based on the </a:t>
            </a:r>
          </a:p>
          <a:p>
            <a:pPr algn="l">
              <a:lnSpc>
                <a:spcPts val="4900"/>
              </a:lnSpc>
              <a:spcBef>
                <a:spcPct val="0"/>
              </a:spcBef>
            </a:pPr>
            <a:r>
              <a:rPr lang="en-US" sz="3500" dirty="0">
                <a:solidFill>
                  <a:srgbClr val="000000"/>
                </a:solidFill>
                <a:latin typeface="Times New Roman" panose="02020603050405020304" pitchFamily="18" charset="0"/>
                <a:ea typeface="Calibri (MS)"/>
                <a:cs typeface="Times New Roman" panose="02020603050405020304" pitchFamily="18" charset="0"/>
                <a:sym typeface="Calibri (MS)"/>
              </a:rPr>
              <a:t>    rule results.</a:t>
            </a:r>
          </a:p>
          <a:p>
            <a:pPr algn="l">
              <a:lnSpc>
                <a:spcPts val="4900"/>
              </a:lnSpc>
              <a:spcBef>
                <a:spcPct val="0"/>
              </a:spcBef>
            </a:pPr>
            <a:r>
              <a:rPr lang="en-US" sz="3500" dirty="0">
                <a:solidFill>
                  <a:srgbClr val="000000"/>
                </a:solidFill>
                <a:latin typeface="Times New Roman" panose="02020603050405020304" pitchFamily="18" charset="0"/>
                <a:ea typeface="Calibri (MS)"/>
                <a:cs typeface="Times New Roman" panose="02020603050405020304" pitchFamily="18" charset="0"/>
                <a:sym typeface="Calibri (MS)"/>
              </a:rPr>
              <a:t>8. Dashboard &amp; Report Module</a:t>
            </a:r>
          </a:p>
          <a:p>
            <a:pPr algn="l">
              <a:lnSpc>
                <a:spcPts val="4900"/>
              </a:lnSpc>
              <a:spcBef>
                <a:spcPct val="0"/>
              </a:spcBef>
            </a:pPr>
            <a:r>
              <a:rPr lang="en-US" sz="3500" dirty="0">
                <a:solidFill>
                  <a:srgbClr val="000000"/>
                </a:solidFill>
                <a:latin typeface="Times New Roman" panose="02020603050405020304" pitchFamily="18" charset="0"/>
                <a:ea typeface="Calibri (MS)"/>
                <a:cs typeface="Times New Roman" panose="02020603050405020304" pitchFamily="18" charset="0"/>
                <a:sym typeface="Calibri (MS)"/>
              </a:rPr>
              <a:t>     Displays applicant information, risk level, eligibility result, and reasoning in a </a:t>
            </a:r>
          </a:p>
          <a:p>
            <a:pPr algn="l">
              <a:lnSpc>
                <a:spcPts val="4900"/>
              </a:lnSpc>
              <a:spcBef>
                <a:spcPct val="0"/>
              </a:spcBef>
            </a:pPr>
            <a:r>
              <a:rPr lang="en-US" sz="3500" dirty="0">
                <a:solidFill>
                  <a:srgbClr val="000000"/>
                </a:solidFill>
                <a:latin typeface="Times New Roman" panose="02020603050405020304" pitchFamily="18" charset="0"/>
                <a:ea typeface="Calibri (MS)"/>
                <a:cs typeface="Times New Roman" panose="02020603050405020304" pitchFamily="18" charset="0"/>
                <a:sym typeface="Calibri (MS)"/>
              </a:rPr>
              <a:t>     Simple dashboard.</a:t>
            </a:r>
          </a:p>
        </p:txBody>
      </p:sp>
      <p:grpSp>
        <p:nvGrpSpPr>
          <p:cNvPr id="3" name="Group 3"/>
          <p:cNvGrpSpPr/>
          <p:nvPr/>
        </p:nvGrpSpPr>
        <p:grpSpPr>
          <a:xfrm>
            <a:off x="1247775" y="321469"/>
            <a:ext cx="1598295" cy="1585912"/>
            <a:chOff x="0" y="0"/>
            <a:chExt cx="2131060" cy="2114550"/>
          </a:xfrm>
        </p:grpSpPr>
        <p:sp>
          <p:nvSpPr>
            <p:cNvPr id="4" name="Freeform 4"/>
            <p:cNvSpPr/>
            <p:nvPr/>
          </p:nvSpPr>
          <p:spPr>
            <a:xfrm>
              <a:off x="0" y="0"/>
              <a:ext cx="2131060" cy="2114550"/>
            </a:xfrm>
            <a:custGeom>
              <a:avLst/>
              <a:gdLst/>
              <a:ahLst/>
              <a:cxnLst/>
              <a:rect l="l" t="t" r="r" b="b"/>
              <a:pathLst>
                <a:path w="2131060" h="2114550">
                  <a:moveTo>
                    <a:pt x="0" y="0"/>
                  </a:moveTo>
                  <a:lnTo>
                    <a:pt x="2131060" y="0"/>
                  </a:lnTo>
                  <a:lnTo>
                    <a:pt x="2131060" y="2114550"/>
                  </a:lnTo>
                  <a:lnTo>
                    <a:pt x="0" y="2114550"/>
                  </a:lnTo>
                  <a:lnTo>
                    <a:pt x="0" y="0"/>
                  </a:lnTo>
                  <a:close/>
                </a:path>
              </a:pathLst>
            </a:custGeom>
            <a:blipFill>
              <a:blip r:embed="rId2"/>
              <a:stretch>
                <a:fillRect/>
              </a:stretch>
            </a:blipFill>
          </p:spPr>
        </p:sp>
      </p:grpSp>
      <p:grpSp>
        <p:nvGrpSpPr>
          <p:cNvPr id="5" name="Group 5"/>
          <p:cNvGrpSpPr/>
          <p:nvPr/>
        </p:nvGrpSpPr>
        <p:grpSpPr>
          <a:xfrm>
            <a:off x="15085219" y="500062"/>
            <a:ext cx="1826990" cy="1771650"/>
            <a:chOff x="0" y="0"/>
            <a:chExt cx="2435987" cy="2362200"/>
          </a:xfrm>
        </p:grpSpPr>
        <p:sp>
          <p:nvSpPr>
            <p:cNvPr id="6" name="Freeform 6" descr="KRCE Tiruchirappalli : Admission 2024, Courses, Fees, Placement, Cut Off"/>
            <p:cNvSpPr/>
            <p:nvPr/>
          </p:nvSpPr>
          <p:spPr>
            <a:xfrm>
              <a:off x="0" y="0"/>
              <a:ext cx="2435987" cy="2362200"/>
            </a:xfrm>
            <a:custGeom>
              <a:avLst/>
              <a:gdLst/>
              <a:ahLst/>
              <a:cxnLst/>
              <a:rect l="l" t="t" r="r" b="b"/>
              <a:pathLst>
                <a:path w="2435987" h="2362200">
                  <a:moveTo>
                    <a:pt x="0" y="0"/>
                  </a:moveTo>
                  <a:lnTo>
                    <a:pt x="2435987" y="0"/>
                  </a:lnTo>
                  <a:lnTo>
                    <a:pt x="2435987" y="2362200"/>
                  </a:lnTo>
                  <a:lnTo>
                    <a:pt x="0" y="2362200"/>
                  </a:lnTo>
                  <a:lnTo>
                    <a:pt x="0" y="0"/>
                  </a:lnTo>
                  <a:close/>
                </a:path>
              </a:pathLst>
            </a:custGeom>
            <a:blipFill>
              <a:blip r:embed="rId3"/>
              <a:stretch>
                <a:fillRect r="-1"/>
              </a:stretch>
            </a:blipFill>
          </p:spPr>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47775" y="321469"/>
            <a:ext cx="1598295" cy="1585912"/>
            <a:chOff x="0" y="0"/>
            <a:chExt cx="2131060" cy="2114550"/>
          </a:xfrm>
        </p:grpSpPr>
        <p:sp>
          <p:nvSpPr>
            <p:cNvPr id="3" name="Freeform 3"/>
            <p:cNvSpPr/>
            <p:nvPr/>
          </p:nvSpPr>
          <p:spPr>
            <a:xfrm>
              <a:off x="0" y="0"/>
              <a:ext cx="2131060" cy="2114550"/>
            </a:xfrm>
            <a:custGeom>
              <a:avLst/>
              <a:gdLst/>
              <a:ahLst/>
              <a:cxnLst/>
              <a:rect l="l" t="t" r="r" b="b"/>
              <a:pathLst>
                <a:path w="2131060" h="2114550">
                  <a:moveTo>
                    <a:pt x="0" y="0"/>
                  </a:moveTo>
                  <a:lnTo>
                    <a:pt x="2131060" y="0"/>
                  </a:lnTo>
                  <a:lnTo>
                    <a:pt x="2131060" y="2114550"/>
                  </a:lnTo>
                  <a:lnTo>
                    <a:pt x="0" y="2114550"/>
                  </a:lnTo>
                  <a:lnTo>
                    <a:pt x="0" y="0"/>
                  </a:lnTo>
                  <a:close/>
                </a:path>
              </a:pathLst>
            </a:custGeom>
            <a:blipFill>
              <a:blip r:embed="rId2"/>
              <a:stretch>
                <a:fillRect/>
              </a:stretch>
            </a:blipFill>
          </p:spPr>
        </p:sp>
      </p:grpSp>
      <p:grpSp>
        <p:nvGrpSpPr>
          <p:cNvPr id="4" name="Group 4"/>
          <p:cNvGrpSpPr/>
          <p:nvPr/>
        </p:nvGrpSpPr>
        <p:grpSpPr>
          <a:xfrm>
            <a:off x="15085219" y="500062"/>
            <a:ext cx="1826990" cy="1771650"/>
            <a:chOff x="0" y="0"/>
            <a:chExt cx="2435987" cy="2362200"/>
          </a:xfrm>
        </p:grpSpPr>
        <p:sp>
          <p:nvSpPr>
            <p:cNvPr id="5" name="Freeform 5" descr="KRCE Tiruchirappalli : Admission 2024, Courses, Fees, Placement, Cut Off"/>
            <p:cNvSpPr/>
            <p:nvPr/>
          </p:nvSpPr>
          <p:spPr>
            <a:xfrm>
              <a:off x="0" y="0"/>
              <a:ext cx="2435987" cy="2362200"/>
            </a:xfrm>
            <a:custGeom>
              <a:avLst/>
              <a:gdLst/>
              <a:ahLst/>
              <a:cxnLst/>
              <a:rect l="l" t="t" r="r" b="b"/>
              <a:pathLst>
                <a:path w="2435987" h="2362200">
                  <a:moveTo>
                    <a:pt x="0" y="0"/>
                  </a:moveTo>
                  <a:lnTo>
                    <a:pt x="2435987" y="0"/>
                  </a:lnTo>
                  <a:lnTo>
                    <a:pt x="2435987" y="2362200"/>
                  </a:lnTo>
                  <a:lnTo>
                    <a:pt x="0" y="2362200"/>
                  </a:lnTo>
                  <a:lnTo>
                    <a:pt x="0" y="0"/>
                  </a:lnTo>
                  <a:close/>
                </a:path>
              </a:pathLst>
            </a:custGeom>
            <a:blipFill>
              <a:blip r:embed="rId3"/>
              <a:stretch>
                <a:fillRect r="-1"/>
              </a:stretch>
            </a:blipFill>
          </p:spPr>
        </p:sp>
      </p:grpSp>
      <p:pic>
        <p:nvPicPr>
          <p:cNvPr id="7" name="Picture 6">
            <a:extLst>
              <a:ext uri="{FF2B5EF4-FFF2-40B4-BE49-F238E27FC236}">
                <a16:creationId xmlns:a16="http://schemas.microsoft.com/office/drawing/2014/main" id="{7DC34B5F-3B0B-EB02-9F63-9B552509269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76400" y="2781300"/>
            <a:ext cx="14630400" cy="7005638"/>
          </a:xfrm>
          <a:prstGeom prst="rect">
            <a:avLst/>
          </a:prstGeom>
        </p:spPr>
      </p:pic>
      <p:sp>
        <p:nvSpPr>
          <p:cNvPr id="11" name="TextBox 10">
            <a:extLst>
              <a:ext uri="{FF2B5EF4-FFF2-40B4-BE49-F238E27FC236}">
                <a16:creationId xmlns:a16="http://schemas.microsoft.com/office/drawing/2014/main" id="{29ECE6C7-69A2-70A6-3CD8-5D29186D9E2C}"/>
              </a:ext>
            </a:extLst>
          </p:cNvPr>
          <p:cNvSpPr txBox="1"/>
          <p:nvPr/>
        </p:nvSpPr>
        <p:spPr>
          <a:xfrm>
            <a:off x="5715000" y="760482"/>
            <a:ext cx="9144000" cy="707886"/>
          </a:xfrm>
          <a:prstGeom prst="rect">
            <a:avLst/>
          </a:prstGeom>
          <a:noFill/>
        </p:spPr>
        <p:txBody>
          <a:bodyPr wrap="square">
            <a:spAutoFit/>
          </a:bodyPr>
          <a:lstStyle/>
          <a:p>
            <a:r>
              <a:rPr lang="en-IN" sz="4000" b="1" dirty="0">
                <a:effectLst/>
                <a:latin typeface="Times New Roman" panose="02020603050405020304" pitchFamily="18" charset="0"/>
                <a:cs typeface="Times New Roman" panose="02020603050405020304" pitchFamily="18" charset="0"/>
              </a:rPr>
              <a:t>OUTPUT SCREENSHOTS</a:t>
            </a:r>
            <a:endParaRPr lang="en-IN" sz="4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47775" y="321469"/>
            <a:ext cx="1598295" cy="1585912"/>
            <a:chOff x="0" y="0"/>
            <a:chExt cx="2131060" cy="2114550"/>
          </a:xfrm>
        </p:grpSpPr>
        <p:sp>
          <p:nvSpPr>
            <p:cNvPr id="3" name="Freeform 3"/>
            <p:cNvSpPr/>
            <p:nvPr/>
          </p:nvSpPr>
          <p:spPr>
            <a:xfrm>
              <a:off x="0" y="0"/>
              <a:ext cx="2131060" cy="2114550"/>
            </a:xfrm>
            <a:custGeom>
              <a:avLst/>
              <a:gdLst/>
              <a:ahLst/>
              <a:cxnLst/>
              <a:rect l="l" t="t" r="r" b="b"/>
              <a:pathLst>
                <a:path w="2131060" h="2114550">
                  <a:moveTo>
                    <a:pt x="0" y="0"/>
                  </a:moveTo>
                  <a:lnTo>
                    <a:pt x="2131060" y="0"/>
                  </a:lnTo>
                  <a:lnTo>
                    <a:pt x="2131060" y="2114550"/>
                  </a:lnTo>
                  <a:lnTo>
                    <a:pt x="0" y="2114550"/>
                  </a:lnTo>
                  <a:lnTo>
                    <a:pt x="0" y="0"/>
                  </a:lnTo>
                  <a:close/>
                </a:path>
              </a:pathLst>
            </a:custGeom>
            <a:blipFill>
              <a:blip r:embed="rId2"/>
              <a:stretch>
                <a:fillRect/>
              </a:stretch>
            </a:blipFill>
          </p:spPr>
        </p:sp>
      </p:grpSp>
      <p:grpSp>
        <p:nvGrpSpPr>
          <p:cNvPr id="4" name="Group 4"/>
          <p:cNvGrpSpPr/>
          <p:nvPr/>
        </p:nvGrpSpPr>
        <p:grpSpPr>
          <a:xfrm>
            <a:off x="15085219" y="500062"/>
            <a:ext cx="1826990" cy="1771650"/>
            <a:chOff x="0" y="0"/>
            <a:chExt cx="2435987" cy="2362200"/>
          </a:xfrm>
        </p:grpSpPr>
        <p:sp>
          <p:nvSpPr>
            <p:cNvPr id="5" name="Freeform 5" descr="KRCE Tiruchirappalli : Admission 2024, Courses, Fees, Placement, Cut Off"/>
            <p:cNvSpPr/>
            <p:nvPr/>
          </p:nvSpPr>
          <p:spPr>
            <a:xfrm>
              <a:off x="0" y="0"/>
              <a:ext cx="2435987" cy="2362200"/>
            </a:xfrm>
            <a:custGeom>
              <a:avLst/>
              <a:gdLst/>
              <a:ahLst/>
              <a:cxnLst/>
              <a:rect l="l" t="t" r="r" b="b"/>
              <a:pathLst>
                <a:path w="2435987" h="2362200">
                  <a:moveTo>
                    <a:pt x="0" y="0"/>
                  </a:moveTo>
                  <a:lnTo>
                    <a:pt x="2435987" y="0"/>
                  </a:lnTo>
                  <a:lnTo>
                    <a:pt x="2435987" y="2362200"/>
                  </a:lnTo>
                  <a:lnTo>
                    <a:pt x="0" y="2362200"/>
                  </a:lnTo>
                  <a:lnTo>
                    <a:pt x="0" y="0"/>
                  </a:lnTo>
                  <a:close/>
                </a:path>
              </a:pathLst>
            </a:custGeom>
            <a:blipFill>
              <a:blip r:embed="rId3"/>
              <a:stretch>
                <a:fillRect r="-1"/>
              </a:stretch>
            </a:blipFill>
          </p:spPr>
        </p:sp>
      </p:grpSp>
      <p:pic>
        <p:nvPicPr>
          <p:cNvPr id="7" name="Picture 6">
            <a:extLst>
              <a:ext uri="{FF2B5EF4-FFF2-40B4-BE49-F238E27FC236}">
                <a16:creationId xmlns:a16="http://schemas.microsoft.com/office/drawing/2014/main" id="{AA2B91F6-135E-019A-3BE2-96B983453A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13000" y="2476500"/>
            <a:ext cx="12496800" cy="561642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B2229B1F-2EAD-9866-5838-D823F5CBE63E}"/>
              </a:ext>
            </a:extLst>
          </p:cNvPr>
          <p:cNvGrpSpPr/>
          <p:nvPr/>
        </p:nvGrpSpPr>
        <p:grpSpPr>
          <a:xfrm>
            <a:off x="1247775" y="321469"/>
            <a:ext cx="1598295" cy="1585912"/>
            <a:chOff x="0" y="0"/>
            <a:chExt cx="2131060" cy="2114550"/>
          </a:xfrm>
        </p:grpSpPr>
        <p:sp>
          <p:nvSpPr>
            <p:cNvPr id="3" name="Freeform 3">
              <a:extLst>
                <a:ext uri="{FF2B5EF4-FFF2-40B4-BE49-F238E27FC236}">
                  <a16:creationId xmlns:a16="http://schemas.microsoft.com/office/drawing/2014/main" id="{5EB9F32B-F86D-E7EB-D087-6F4F3E20AE74}"/>
                </a:ext>
              </a:extLst>
            </p:cNvPr>
            <p:cNvSpPr/>
            <p:nvPr/>
          </p:nvSpPr>
          <p:spPr>
            <a:xfrm>
              <a:off x="0" y="0"/>
              <a:ext cx="2131060" cy="2114550"/>
            </a:xfrm>
            <a:custGeom>
              <a:avLst/>
              <a:gdLst/>
              <a:ahLst/>
              <a:cxnLst/>
              <a:rect l="l" t="t" r="r" b="b"/>
              <a:pathLst>
                <a:path w="2131060" h="2114550">
                  <a:moveTo>
                    <a:pt x="0" y="0"/>
                  </a:moveTo>
                  <a:lnTo>
                    <a:pt x="2131060" y="0"/>
                  </a:lnTo>
                  <a:lnTo>
                    <a:pt x="2131060" y="2114550"/>
                  </a:lnTo>
                  <a:lnTo>
                    <a:pt x="0" y="2114550"/>
                  </a:lnTo>
                  <a:lnTo>
                    <a:pt x="0" y="0"/>
                  </a:lnTo>
                  <a:close/>
                </a:path>
              </a:pathLst>
            </a:custGeom>
            <a:blipFill>
              <a:blip r:embed="rId2"/>
              <a:stretch>
                <a:fillRect/>
              </a:stretch>
            </a:blipFill>
          </p:spPr>
        </p:sp>
      </p:grpSp>
      <p:grpSp>
        <p:nvGrpSpPr>
          <p:cNvPr id="4" name="Group 4">
            <a:extLst>
              <a:ext uri="{FF2B5EF4-FFF2-40B4-BE49-F238E27FC236}">
                <a16:creationId xmlns:a16="http://schemas.microsoft.com/office/drawing/2014/main" id="{71217B30-164B-712C-6663-C5E0E538CFEC}"/>
              </a:ext>
            </a:extLst>
          </p:cNvPr>
          <p:cNvGrpSpPr/>
          <p:nvPr/>
        </p:nvGrpSpPr>
        <p:grpSpPr>
          <a:xfrm>
            <a:off x="15085219" y="500062"/>
            <a:ext cx="1826990" cy="1771650"/>
            <a:chOff x="0" y="0"/>
            <a:chExt cx="2435987" cy="2362200"/>
          </a:xfrm>
        </p:grpSpPr>
        <p:sp>
          <p:nvSpPr>
            <p:cNvPr id="5" name="Freeform 5" descr="KRCE Tiruchirappalli : Admission 2024, Courses, Fees, Placement, Cut Off">
              <a:extLst>
                <a:ext uri="{FF2B5EF4-FFF2-40B4-BE49-F238E27FC236}">
                  <a16:creationId xmlns:a16="http://schemas.microsoft.com/office/drawing/2014/main" id="{946EA9B1-C02B-AB63-A06D-F9F859FECB1A}"/>
                </a:ext>
              </a:extLst>
            </p:cNvPr>
            <p:cNvSpPr/>
            <p:nvPr/>
          </p:nvSpPr>
          <p:spPr>
            <a:xfrm>
              <a:off x="0" y="0"/>
              <a:ext cx="2435987" cy="2362200"/>
            </a:xfrm>
            <a:custGeom>
              <a:avLst/>
              <a:gdLst/>
              <a:ahLst/>
              <a:cxnLst/>
              <a:rect l="l" t="t" r="r" b="b"/>
              <a:pathLst>
                <a:path w="2435987" h="2362200">
                  <a:moveTo>
                    <a:pt x="0" y="0"/>
                  </a:moveTo>
                  <a:lnTo>
                    <a:pt x="2435987" y="0"/>
                  </a:lnTo>
                  <a:lnTo>
                    <a:pt x="2435987" y="2362200"/>
                  </a:lnTo>
                  <a:lnTo>
                    <a:pt x="0" y="2362200"/>
                  </a:lnTo>
                  <a:lnTo>
                    <a:pt x="0" y="0"/>
                  </a:lnTo>
                  <a:close/>
                </a:path>
              </a:pathLst>
            </a:custGeom>
            <a:blipFill>
              <a:blip r:embed="rId3"/>
              <a:stretch>
                <a:fillRect r="-1"/>
              </a:stretch>
            </a:blipFill>
          </p:spPr>
        </p:sp>
      </p:grpSp>
      <p:pic>
        <p:nvPicPr>
          <p:cNvPr id="7" name="Picture 6">
            <a:extLst>
              <a:ext uri="{FF2B5EF4-FFF2-40B4-BE49-F238E27FC236}">
                <a16:creationId xmlns:a16="http://schemas.microsoft.com/office/drawing/2014/main" id="{C4087EC9-9EF4-5C21-03DD-4A7A3E6F9D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05400" y="1114425"/>
            <a:ext cx="6221893" cy="3917232"/>
          </a:xfrm>
          <a:prstGeom prst="rect">
            <a:avLst/>
          </a:prstGeom>
        </p:spPr>
      </p:pic>
      <p:pic>
        <p:nvPicPr>
          <p:cNvPr id="9" name="Picture 8">
            <a:extLst>
              <a:ext uri="{FF2B5EF4-FFF2-40B4-BE49-F238E27FC236}">
                <a16:creationId xmlns:a16="http://schemas.microsoft.com/office/drawing/2014/main" id="{C3F785BA-432C-3128-CD42-789834844A6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67000" y="5676900"/>
            <a:ext cx="11415716" cy="2743345"/>
          </a:xfrm>
          <a:prstGeom prst="rect">
            <a:avLst/>
          </a:prstGeom>
        </p:spPr>
      </p:pic>
    </p:spTree>
    <p:extLst>
      <p:ext uri="{BB962C8B-B14F-4D97-AF65-F5344CB8AC3E}">
        <p14:creationId xmlns:p14="http://schemas.microsoft.com/office/powerpoint/2010/main" val="10375905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47775" y="321469"/>
            <a:ext cx="1598295" cy="1585912"/>
            <a:chOff x="0" y="0"/>
            <a:chExt cx="2131060" cy="2114550"/>
          </a:xfrm>
        </p:grpSpPr>
        <p:sp>
          <p:nvSpPr>
            <p:cNvPr id="3" name="Freeform 3"/>
            <p:cNvSpPr/>
            <p:nvPr/>
          </p:nvSpPr>
          <p:spPr>
            <a:xfrm>
              <a:off x="0" y="0"/>
              <a:ext cx="2131060" cy="2114550"/>
            </a:xfrm>
            <a:custGeom>
              <a:avLst/>
              <a:gdLst/>
              <a:ahLst/>
              <a:cxnLst/>
              <a:rect l="l" t="t" r="r" b="b"/>
              <a:pathLst>
                <a:path w="2131060" h="2114550">
                  <a:moveTo>
                    <a:pt x="0" y="0"/>
                  </a:moveTo>
                  <a:lnTo>
                    <a:pt x="2131060" y="0"/>
                  </a:lnTo>
                  <a:lnTo>
                    <a:pt x="2131060" y="2114550"/>
                  </a:lnTo>
                  <a:lnTo>
                    <a:pt x="0" y="2114550"/>
                  </a:lnTo>
                  <a:lnTo>
                    <a:pt x="0" y="0"/>
                  </a:lnTo>
                  <a:close/>
                </a:path>
              </a:pathLst>
            </a:custGeom>
            <a:blipFill>
              <a:blip r:embed="rId2"/>
              <a:stretch>
                <a:fillRect/>
              </a:stretch>
            </a:blipFill>
          </p:spPr>
        </p:sp>
      </p:grpSp>
      <p:grpSp>
        <p:nvGrpSpPr>
          <p:cNvPr id="4" name="Group 4"/>
          <p:cNvGrpSpPr/>
          <p:nvPr/>
        </p:nvGrpSpPr>
        <p:grpSpPr>
          <a:xfrm>
            <a:off x="15085219" y="500062"/>
            <a:ext cx="1826990" cy="1771650"/>
            <a:chOff x="0" y="0"/>
            <a:chExt cx="2435987" cy="2362200"/>
          </a:xfrm>
        </p:grpSpPr>
        <p:sp>
          <p:nvSpPr>
            <p:cNvPr id="5" name="Freeform 5" descr="KRCE Tiruchirappalli : Admission 2024, Courses, Fees, Placement, Cut Off"/>
            <p:cNvSpPr/>
            <p:nvPr/>
          </p:nvSpPr>
          <p:spPr>
            <a:xfrm>
              <a:off x="0" y="0"/>
              <a:ext cx="2435987" cy="2362200"/>
            </a:xfrm>
            <a:custGeom>
              <a:avLst/>
              <a:gdLst/>
              <a:ahLst/>
              <a:cxnLst/>
              <a:rect l="l" t="t" r="r" b="b"/>
              <a:pathLst>
                <a:path w="2435987" h="2362200">
                  <a:moveTo>
                    <a:pt x="0" y="0"/>
                  </a:moveTo>
                  <a:lnTo>
                    <a:pt x="2435987" y="0"/>
                  </a:lnTo>
                  <a:lnTo>
                    <a:pt x="2435987" y="2362200"/>
                  </a:lnTo>
                  <a:lnTo>
                    <a:pt x="0" y="2362200"/>
                  </a:lnTo>
                  <a:lnTo>
                    <a:pt x="0" y="0"/>
                  </a:lnTo>
                  <a:close/>
                </a:path>
              </a:pathLst>
            </a:custGeom>
            <a:blipFill>
              <a:blip r:embed="rId3"/>
              <a:stretch>
                <a:fillRect r="-1"/>
              </a:stretch>
            </a:blipFill>
          </p:spPr>
        </p:sp>
      </p:grpSp>
      <p:sp>
        <p:nvSpPr>
          <p:cNvPr id="6" name="TextBox 6"/>
          <p:cNvSpPr txBox="1"/>
          <p:nvPr/>
        </p:nvSpPr>
        <p:spPr>
          <a:xfrm>
            <a:off x="694216" y="2128838"/>
            <a:ext cx="16899569" cy="5626100"/>
          </a:xfrm>
          <a:prstGeom prst="rect">
            <a:avLst/>
          </a:prstGeom>
        </p:spPr>
        <p:txBody>
          <a:bodyPr lIns="0" tIns="0" rIns="0" bIns="0" rtlCol="0" anchor="t">
            <a:spAutoFit/>
          </a:bodyPr>
          <a:lstStyle/>
          <a:p>
            <a:pPr algn="l">
              <a:lnSpc>
                <a:spcPts val="4900"/>
              </a:lnSpc>
              <a:spcBef>
                <a:spcPct val="0"/>
              </a:spcBef>
            </a:pPr>
            <a:endParaRPr dirty="0"/>
          </a:p>
          <a:p>
            <a:pPr algn="l">
              <a:lnSpc>
                <a:spcPts val="4900"/>
              </a:lnSpc>
              <a:spcBef>
                <a:spcPct val="0"/>
              </a:spcBef>
            </a:pPr>
            <a:r>
              <a:rPr lang="en-US" sz="3500" dirty="0">
                <a:solidFill>
                  <a:srgbClr val="000000"/>
                </a:solidFill>
                <a:latin typeface="Times New Roman" panose="02020603050405020304" pitchFamily="18" charset="0"/>
                <a:ea typeface="Calibri (MS)"/>
                <a:cs typeface="Times New Roman" panose="02020603050405020304" pitchFamily="18" charset="0"/>
                <a:sym typeface="Calibri (MS)"/>
              </a:rPr>
              <a:t>The Loan/Credit Eligibility Reasoning Engine Using FQL-Based Rule Inference on Live Application Data provides an intelligent and flexible approach for evaluating loan eligibility. The system analyzes important financial factors such as income, credit score, expenses, existing EMI, and debt level using FQL-based rules. It also considers future financial stability under possible changes in income and repayment capacity. The system provides Low, Medium, or High Risk classification along with an explainable eligibility decision. Overall, the proposed system helps improve accuracy, transparency, and flexibility in loan and credit assessment.</a:t>
            </a:r>
          </a:p>
        </p:txBody>
      </p:sp>
      <p:sp>
        <p:nvSpPr>
          <p:cNvPr id="7" name="TextBox 7"/>
          <p:cNvSpPr txBox="1"/>
          <p:nvPr/>
        </p:nvSpPr>
        <p:spPr>
          <a:xfrm>
            <a:off x="7146210" y="866775"/>
            <a:ext cx="3445590" cy="658835"/>
          </a:xfrm>
          <a:prstGeom prst="rect">
            <a:avLst/>
          </a:prstGeom>
        </p:spPr>
        <p:txBody>
          <a:bodyPr wrap="square" lIns="0" tIns="0" rIns="0" bIns="0" rtlCol="0" anchor="t">
            <a:spAutoFit/>
          </a:bodyPr>
          <a:lstStyle/>
          <a:p>
            <a:pPr algn="ctr">
              <a:lnSpc>
                <a:spcPts val="5599"/>
              </a:lnSpc>
              <a:spcBef>
                <a:spcPct val="0"/>
              </a:spcBef>
            </a:pPr>
            <a:r>
              <a:rPr lang="en-US" sz="3999" b="1" dirty="0">
                <a:solidFill>
                  <a:srgbClr val="000000"/>
                </a:solidFill>
                <a:latin typeface="Times New Roman" panose="02020603050405020304" pitchFamily="18" charset="0"/>
                <a:ea typeface="Calibri (MS)"/>
                <a:cs typeface="Times New Roman" panose="02020603050405020304" pitchFamily="18" charset="0"/>
                <a:sym typeface="Calibri (MS)"/>
              </a:rPr>
              <a:t>CONCLUSION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sp>
        <p:nvSpPr>
          <p:cNvPr id="4" name="TextBox 4"/>
          <p:cNvSpPr txBox="1"/>
          <p:nvPr/>
        </p:nvSpPr>
        <p:spPr>
          <a:xfrm>
            <a:off x="914400" y="9629775"/>
            <a:ext cx="889197" cy="339090"/>
          </a:xfrm>
          <a:prstGeom prst="rect">
            <a:avLst/>
          </a:prstGeom>
        </p:spPr>
        <p:txBody>
          <a:bodyPr lIns="0" tIns="0" rIns="0" bIns="0" rtlCol="0" anchor="t">
            <a:spAutoFit/>
          </a:bodyPr>
          <a:lstStyle/>
          <a:p>
            <a:pPr algn="l">
              <a:lnSpc>
                <a:spcPts val="2520"/>
              </a:lnSpc>
            </a:pPr>
            <a:r>
              <a:rPr lang="en-US" sz="1800">
                <a:solidFill>
                  <a:srgbClr val="8B8B8B"/>
                </a:solidFill>
                <a:latin typeface="Calibri (MS)"/>
                <a:ea typeface="Calibri (MS)"/>
                <a:cs typeface="Calibri (MS)"/>
                <a:sym typeface="Calibri (MS)"/>
              </a:rPr>
              <a:t>9/6/2025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TotalTime>
  <Words>1057</Words>
  <Application>Microsoft Office PowerPoint</Application>
  <PresentationFormat>Custom</PresentationFormat>
  <Paragraphs>137</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Calibri (MS)</vt:lpstr>
      <vt:lpstr>Calibri</vt:lpstr>
      <vt:lpstr>Times New Roman Bold</vt: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DOC-20260805-WA0019..pdf_20260812_181141_0000.pdf</dc:title>
  <dc:creator>D.pradeepa</dc:creator>
  <cp:lastModifiedBy>pradeepa D</cp:lastModifiedBy>
  <cp:revision>3</cp:revision>
  <dcterms:created xsi:type="dcterms:W3CDTF">2006-08-16T00:00:00Z</dcterms:created>
  <dcterms:modified xsi:type="dcterms:W3CDTF">2026-09-24T18:29:32Z</dcterms:modified>
  <dc:identifier>DAHWGmYutGE</dc:identifier>
</cp:coreProperties>
</file>